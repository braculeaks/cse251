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3AE009-4301-420B-9E7F-BC9633DB772A}">
  <a:tblStyle styleId="{443AE009-4301-420B-9E7F-BC9633DB772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673842682f9b8ee3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h673842682f9b8ee3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673842682f9b8ee3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h673842682f9b8ee3_3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673842682f9b8ee3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h673842682f9b8ee3_3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673842682f9b8ee3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h673842682f9b8ee3_3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673842682f9b8ee3_3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h673842682f9b8ee3_3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673842682f9b8ee3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h673842682f9b8ee3_3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673842682f9b8ee3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h673842682f9b8ee3_3_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673842682f9b8ee3_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h673842682f9b8ee3_3_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673842682f9b8ee3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h673842682f9b8ee3_3_1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673842682f9b8ee3_3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h673842682f9b8ee3_3_1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673842682f9b8ee3_3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h673842682f9b8ee3_3_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673842682f9b8ee3_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h673842682f9b8ee3_3_1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673842682f9b8ee3_3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h673842682f9b8ee3_3_1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673842682f9b8ee3_3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h673842682f9b8ee3_3_1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h673842682f9b8ee3_3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h673842682f9b8ee3_3_1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673842682f9b8ee3_3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h673842682f9b8ee3_3_1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h673842682f9b8ee3_3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h673842682f9b8ee3_3_2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h673842682f9b8ee3_3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h673842682f9b8ee3_3_2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673842682f9b8ee3_3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h673842682f9b8ee3_3_2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673842682f9b8ee3_3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h673842682f9b8ee3_3_2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h673842682f9b8ee3_3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h673842682f9b8ee3_3_2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h673842682f9b8ee3_3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h673842682f9b8ee3_3_2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h673842682f9b8ee3_14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h673842682f9b8ee3_14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h673842682f9b8ee3_14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h673842682f9b8ee3_14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673842682f9b8ee3_14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h673842682f9b8ee3_14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h673842682f9b8ee3_14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h673842682f9b8ee3_14_1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h673842682f9b8ee3_14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h673842682f9b8ee3_14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h673842682f9b8ee3_14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h673842682f9b8ee3_14_1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673842682f9b8ee3_14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h673842682f9b8ee3_14_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673842682f9b8ee3_14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h673842682f9b8ee3_14_1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h673842682f9b8ee3_14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h673842682f9b8ee3_14_1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h673842682f9b8ee3_14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h673842682f9b8ee3_14_1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673842682f9b8ee3_14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h673842682f9b8ee3_14_1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h673842682f9b8ee3_14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h673842682f9b8ee3_14_1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h673842682f9b8ee3_14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h673842682f9b8ee3_14_1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h673842682f9b8ee3_14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h673842682f9b8ee3_14_1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h673842682f9b8ee3_14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h673842682f9b8ee3_14_1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h673842682f9b8ee3_14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h673842682f9b8ee3_14_2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h673842682f9b8ee3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h673842682f9b8ee3_1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h673842682f9b8ee3_1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h673842682f9b8ee3_16_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h673842682f9b8ee3_1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h673842682f9b8ee3_16_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h673842682f9b8ee3_16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h673842682f9b8ee3_16_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h673842682f9b8ee3_16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h673842682f9b8ee3_16_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h673842682f9b8ee3_16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h673842682f9b8ee3_16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h673842682f9b8ee3_16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h673842682f9b8ee3_16_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h673842682f9b8ee3_16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h673842682f9b8ee3_16_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h673842682f9b8ee3_16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h673842682f9b8ee3_16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h673842682f9b8ee3_16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h673842682f9b8ee3_16_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h673842682f9b8ee3_16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h673842682f9b8ee3_16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h673842682f9b8ee3_16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h673842682f9b8ee3_16_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4" name="Google Shape;134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6" name="Google Shape;146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3" name="Google Shape;153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9" name="Google Shape;159;p3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1" name="Google Shape;161;p3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jpg"/><Relationship Id="rId5" Type="http://schemas.openxmlformats.org/officeDocument/2006/relationships/image" Target="../media/image19.jpg"/><Relationship Id="rId6" Type="http://schemas.openxmlformats.org/officeDocument/2006/relationships/image" Target="../media/image24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11" Type="http://schemas.openxmlformats.org/officeDocument/2006/relationships/image" Target="../media/image18.png"/><Relationship Id="rId10" Type="http://schemas.openxmlformats.org/officeDocument/2006/relationships/image" Target="../media/image31.png"/><Relationship Id="rId9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10" Type="http://schemas.openxmlformats.org/officeDocument/2006/relationships/image" Target="../media/image18.png"/><Relationship Id="rId9" Type="http://schemas.openxmlformats.org/officeDocument/2006/relationships/image" Target="../media/image31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Relationship Id="rId4" Type="http://schemas.openxmlformats.org/officeDocument/2006/relationships/image" Target="../media/image46.png"/><Relationship Id="rId5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Relationship Id="rId4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8.png"/><Relationship Id="rId4" Type="http://schemas.openxmlformats.org/officeDocument/2006/relationships/image" Target="../media/image38.png"/><Relationship Id="rId9" Type="http://schemas.openxmlformats.org/officeDocument/2006/relationships/image" Target="../media/image36.png"/><Relationship Id="rId5" Type="http://schemas.openxmlformats.org/officeDocument/2006/relationships/image" Target="../media/image43.png"/><Relationship Id="rId6" Type="http://schemas.openxmlformats.org/officeDocument/2006/relationships/image" Target="../media/image37.png"/><Relationship Id="rId7" Type="http://schemas.openxmlformats.org/officeDocument/2006/relationships/image" Target="../media/image52.png"/><Relationship Id="rId8" Type="http://schemas.openxmlformats.org/officeDocument/2006/relationships/image" Target="../media/image4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Relationship Id="rId4" Type="http://schemas.openxmlformats.org/officeDocument/2006/relationships/image" Target="../media/image7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11" Type="http://schemas.openxmlformats.org/officeDocument/2006/relationships/image" Target="../media/image47.png"/><Relationship Id="rId10" Type="http://schemas.openxmlformats.org/officeDocument/2006/relationships/image" Target="../media/image6.png"/><Relationship Id="rId12" Type="http://schemas.openxmlformats.org/officeDocument/2006/relationships/image" Target="../media/image50.png"/><Relationship Id="rId9" Type="http://schemas.openxmlformats.org/officeDocument/2006/relationships/image" Target="../media/image48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51.png"/><Relationship Id="rId8" Type="http://schemas.openxmlformats.org/officeDocument/2006/relationships/image" Target="../media/image7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Relationship Id="rId4" Type="http://schemas.openxmlformats.org/officeDocument/2006/relationships/image" Target="../media/image68.png"/><Relationship Id="rId5" Type="http://schemas.openxmlformats.org/officeDocument/2006/relationships/image" Target="../media/image60.png"/><Relationship Id="rId6" Type="http://schemas.openxmlformats.org/officeDocument/2006/relationships/image" Target="../media/image53.png"/><Relationship Id="rId7" Type="http://schemas.openxmlformats.org/officeDocument/2006/relationships/image" Target="../media/image55.png"/><Relationship Id="rId8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6.png"/><Relationship Id="rId4" Type="http://schemas.openxmlformats.org/officeDocument/2006/relationships/image" Target="../media/image7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6.png"/><Relationship Id="rId4" Type="http://schemas.openxmlformats.org/officeDocument/2006/relationships/image" Target="../media/image67.png"/><Relationship Id="rId5" Type="http://schemas.openxmlformats.org/officeDocument/2006/relationships/image" Target="../media/image83.png"/><Relationship Id="rId6" Type="http://schemas.openxmlformats.org/officeDocument/2006/relationships/image" Target="../media/image9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1.png"/><Relationship Id="rId4" Type="http://schemas.openxmlformats.org/officeDocument/2006/relationships/image" Target="../media/image65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76.png"/><Relationship Id="rId8" Type="http://schemas.openxmlformats.org/officeDocument/2006/relationships/image" Target="../media/image6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6.png"/><Relationship Id="rId4" Type="http://schemas.openxmlformats.org/officeDocument/2006/relationships/image" Target="../media/image76.png"/><Relationship Id="rId5" Type="http://schemas.openxmlformats.org/officeDocument/2006/relationships/image" Target="../media/image80.png"/><Relationship Id="rId6" Type="http://schemas.openxmlformats.org/officeDocument/2006/relationships/image" Target="../media/image74.png"/><Relationship Id="rId7" Type="http://schemas.openxmlformats.org/officeDocument/2006/relationships/image" Target="../media/image9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3.png"/><Relationship Id="rId4" Type="http://schemas.openxmlformats.org/officeDocument/2006/relationships/image" Target="../media/image6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Relationship Id="rId4" Type="http://schemas.openxmlformats.org/officeDocument/2006/relationships/image" Target="../media/image89.png"/><Relationship Id="rId5" Type="http://schemas.openxmlformats.org/officeDocument/2006/relationships/image" Target="../media/image9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4.png"/><Relationship Id="rId4" Type="http://schemas.openxmlformats.org/officeDocument/2006/relationships/image" Target="../media/image92.png"/><Relationship Id="rId10" Type="http://schemas.openxmlformats.org/officeDocument/2006/relationships/image" Target="../media/image87.png"/><Relationship Id="rId9" Type="http://schemas.openxmlformats.org/officeDocument/2006/relationships/image" Target="../media/image79.png"/><Relationship Id="rId5" Type="http://schemas.openxmlformats.org/officeDocument/2006/relationships/image" Target="../media/image81.png"/><Relationship Id="rId6" Type="http://schemas.openxmlformats.org/officeDocument/2006/relationships/image" Target="../media/image84.png"/><Relationship Id="rId7" Type="http://schemas.openxmlformats.org/officeDocument/2006/relationships/image" Target="../media/image95.png"/><Relationship Id="rId8" Type="http://schemas.openxmlformats.org/officeDocument/2006/relationships/image" Target="../media/image8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7.png"/><Relationship Id="rId4" Type="http://schemas.openxmlformats.org/officeDocument/2006/relationships/image" Target="../media/image92.png"/><Relationship Id="rId10" Type="http://schemas.openxmlformats.org/officeDocument/2006/relationships/image" Target="../media/image98.png"/><Relationship Id="rId9" Type="http://schemas.openxmlformats.org/officeDocument/2006/relationships/image" Target="../media/image100.png"/><Relationship Id="rId5" Type="http://schemas.openxmlformats.org/officeDocument/2006/relationships/image" Target="../media/image81.png"/><Relationship Id="rId6" Type="http://schemas.openxmlformats.org/officeDocument/2006/relationships/image" Target="../media/image123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1.png"/><Relationship Id="rId4" Type="http://schemas.openxmlformats.org/officeDocument/2006/relationships/image" Target="../media/image6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7.png"/><Relationship Id="rId4" Type="http://schemas.openxmlformats.org/officeDocument/2006/relationships/image" Target="../media/image92.png"/><Relationship Id="rId10" Type="http://schemas.openxmlformats.org/officeDocument/2006/relationships/image" Target="../media/image98.png"/><Relationship Id="rId9" Type="http://schemas.openxmlformats.org/officeDocument/2006/relationships/image" Target="../media/image100.png"/><Relationship Id="rId5" Type="http://schemas.openxmlformats.org/officeDocument/2006/relationships/image" Target="../media/image81.png"/><Relationship Id="rId6" Type="http://schemas.openxmlformats.org/officeDocument/2006/relationships/image" Target="../media/image123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4.png"/><Relationship Id="rId4" Type="http://schemas.openxmlformats.org/officeDocument/2006/relationships/image" Target="../media/image92.png"/><Relationship Id="rId10" Type="http://schemas.openxmlformats.org/officeDocument/2006/relationships/image" Target="../media/image87.png"/><Relationship Id="rId9" Type="http://schemas.openxmlformats.org/officeDocument/2006/relationships/image" Target="../media/image79.png"/><Relationship Id="rId5" Type="http://schemas.openxmlformats.org/officeDocument/2006/relationships/image" Target="../media/image81.png"/><Relationship Id="rId6" Type="http://schemas.openxmlformats.org/officeDocument/2006/relationships/image" Target="../media/image84.png"/><Relationship Id="rId7" Type="http://schemas.openxmlformats.org/officeDocument/2006/relationships/image" Target="../media/image95.png"/><Relationship Id="rId8" Type="http://schemas.openxmlformats.org/officeDocument/2006/relationships/image" Target="../media/image8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7.png"/><Relationship Id="rId4" Type="http://schemas.openxmlformats.org/officeDocument/2006/relationships/image" Target="../media/image127.png"/><Relationship Id="rId9" Type="http://schemas.openxmlformats.org/officeDocument/2006/relationships/image" Target="../media/image116.png"/><Relationship Id="rId5" Type="http://schemas.openxmlformats.org/officeDocument/2006/relationships/image" Target="../media/image115.png"/><Relationship Id="rId6" Type="http://schemas.openxmlformats.org/officeDocument/2006/relationships/image" Target="../media/image129.png"/><Relationship Id="rId7" Type="http://schemas.openxmlformats.org/officeDocument/2006/relationships/image" Target="../media/image119.png"/><Relationship Id="rId8" Type="http://schemas.openxmlformats.org/officeDocument/2006/relationships/image" Target="../media/image13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4.png"/><Relationship Id="rId4" Type="http://schemas.openxmlformats.org/officeDocument/2006/relationships/image" Target="../media/image141.png"/></Relationships>
</file>

<file path=ppt/slides/_rels/slide4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1.png"/><Relationship Id="rId10" Type="http://schemas.openxmlformats.org/officeDocument/2006/relationships/image" Target="../media/image130.png"/><Relationship Id="rId13" Type="http://schemas.openxmlformats.org/officeDocument/2006/relationships/image" Target="../media/image128.png"/><Relationship Id="rId12" Type="http://schemas.openxmlformats.org/officeDocument/2006/relationships/image" Target="../media/image136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32.png"/><Relationship Id="rId4" Type="http://schemas.openxmlformats.org/officeDocument/2006/relationships/image" Target="../media/image122.png"/><Relationship Id="rId9" Type="http://schemas.openxmlformats.org/officeDocument/2006/relationships/image" Target="../media/image121.png"/><Relationship Id="rId15" Type="http://schemas.openxmlformats.org/officeDocument/2006/relationships/image" Target="../media/image126.png"/><Relationship Id="rId14" Type="http://schemas.openxmlformats.org/officeDocument/2006/relationships/image" Target="../media/image135.png"/><Relationship Id="rId17" Type="http://schemas.openxmlformats.org/officeDocument/2006/relationships/image" Target="../media/image133.png"/><Relationship Id="rId16" Type="http://schemas.openxmlformats.org/officeDocument/2006/relationships/image" Target="../media/image140.png"/><Relationship Id="rId5" Type="http://schemas.openxmlformats.org/officeDocument/2006/relationships/image" Target="../media/image146.png"/><Relationship Id="rId6" Type="http://schemas.openxmlformats.org/officeDocument/2006/relationships/image" Target="../media/image125.png"/><Relationship Id="rId7" Type="http://schemas.openxmlformats.org/officeDocument/2006/relationships/image" Target="../media/image149.png"/><Relationship Id="rId8" Type="http://schemas.openxmlformats.org/officeDocument/2006/relationships/image" Target="../media/image11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42.png"/><Relationship Id="rId4" Type="http://schemas.openxmlformats.org/officeDocument/2006/relationships/image" Target="../media/image139.png"/><Relationship Id="rId9" Type="http://schemas.openxmlformats.org/officeDocument/2006/relationships/image" Target="../media/image151.png"/><Relationship Id="rId5" Type="http://schemas.openxmlformats.org/officeDocument/2006/relationships/image" Target="../media/image150.png"/><Relationship Id="rId6" Type="http://schemas.openxmlformats.org/officeDocument/2006/relationships/image" Target="../media/image134.png"/><Relationship Id="rId7" Type="http://schemas.openxmlformats.org/officeDocument/2006/relationships/image" Target="../media/image137.png"/><Relationship Id="rId8" Type="http://schemas.openxmlformats.org/officeDocument/2006/relationships/image" Target="../media/image15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53.png"/><Relationship Id="rId4" Type="http://schemas.openxmlformats.org/officeDocument/2006/relationships/image" Target="../media/image147.png"/><Relationship Id="rId5" Type="http://schemas.openxmlformats.org/officeDocument/2006/relationships/image" Target="../media/image148.png"/><Relationship Id="rId6" Type="http://schemas.openxmlformats.org/officeDocument/2006/relationships/image" Target="../media/image1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52.png"/><Relationship Id="rId4" Type="http://schemas.openxmlformats.org/officeDocument/2006/relationships/image" Target="../media/image14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/>
              <a:t>Lecture 3</a:t>
            </a:r>
            <a:endParaRPr/>
          </a:p>
        </p:txBody>
      </p:sp>
      <p:sp>
        <p:nvSpPr>
          <p:cNvPr id="205" name="Google Shape;205;p37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Introduction to OpAmp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211" name="Google Shape;211;p3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Last class: alternative representation, KCL, KVL, nodal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Today: </a:t>
            </a:r>
            <a:r>
              <a:rPr b="1" lang="en"/>
              <a:t>review</a:t>
            </a:r>
            <a:r>
              <a:rPr lang="en"/>
              <a:t> of dependent source, introduction to amplifiers, operational amplifiers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Dependent Source</a:t>
            </a:r>
            <a:endParaRPr/>
          </a:p>
        </p:txBody>
      </p:sp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Active sources – either voltage of current source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Difference: voltage (or current) controlled by the voltage/current in a different branch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Technically non-linear devices – because in real life, dependent sources are made using non-linear electronic devices (e.g. MOSFET)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However, analysis are similar to linear circuits (CSE250), hence we will start with this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Major Difference</a:t>
            </a:r>
            <a:endParaRPr/>
          </a:p>
        </p:txBody>
      </p:sp>
      <p:pic>
        <p:nvPicPr>
          <p:cNvPr descr="A picture containing text, clock&#10;&#10;Description automatically generated" id="223" name="Google Shape;223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323" y="1915676"/>
            <a:ext cx="360045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0"/>
          <p:cNvSpPr txBox="1"/>
          <p:nvPr/>
        </p:nvSpPr>
        <p:spPr>
          <a:xfrm>
            <a:off x="533323" y="1373188"/>
            <a:ext cx="2488711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Independent devices: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0"/>
          <p:cNvSpPr txBox="1"/>
          <p:nvPr/>
        </p:nvSpPr>
        <p:spPr>
          <a:xfrm>
            <a:off x="960375" y="4326701"/>
            <a:ext cx="190417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terminals, 1 port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226" name="Google Shape;226;p40"/>
          <p:cNvPicPr preferRelativeResize="0"/>
          <p:nvPr/>
        </p:nvPicPr>
        <p:blipFill rotWithShape="1">
          <a:blip r:embed="rId4">
            <a:alphaModFix/>
          </a:blip>
          <a:srcRect b="25071" l="0" r="0" t="0"/>
          <a:stretch/>
        </p:blipFill>
        <p:spPr>
          <a:xfrm>
            <a:off x="4238393" y="2198662"/>
            <a:ext cx="4711148" cy="169145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0"/>
          <p:cNvSpPr txBox="1"/>
          <p:nvPr/>
        </p:nvSpPr>
        <p:spPr>
          <a:xfrm>
            <a:off x="5641880" y="4326700"/>
            <a:ext cx="190417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terminals, 2 port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0"/>
          <p:cNvSpPr txBox="1"/>
          <p:nvPr/>
        </p:nvSpPr>
        <p:spPr>
          <a:xfrm>
            <a:off x="4133773" y="1373188"/>
            <a:ext cx="2303564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Dependent devices: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Example 1</a:t>
            </a:r>
            <a:endParaRPr/>
          </a:p>
        </p:txBody>
      </p:sp>
      <p:pic>
        <p:nvPicPr>
          <p:cNvPr id="234" name="Google Shape;23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528406"/>
            <a:ext cx="358140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1"/>
          <p:cNvSpPr txBox="1"/>
          <p:nvPr/>
        </p:nvSpPr>
        <p:spPr>
          <a:xfrm>
            <a:off x="4822727" y="1989935"/>
            <a:ext cx="821379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1"/>
          <p:cNvSpPr txBox="1"/>
          <p:nvPr/>
        </p:nvSpPr>
        <p:spPr>
          <a:xfrm>
            <a:off x="4822726" y="2622836"/>
            <a:ext cx="1758318" cy="3924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0949" l="-5404" r="-4862" t="-1190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Example 2</a:t>
            </a:r>
            <a:endParaRPr/>
          </a:p>
        </p:txBody>
      </p:sp>
      <p:pic>
        <p:nvPicPr>
          <p:cNvPr id="242" name="Google Shape;242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413" y="1109663"/>
            <a:ext cx="396240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2"/>
          <p:cNvSpPr txBox="1"/>
          <p:nvPr/>
        </p:nvSpPr>
        <p:spPr>
          <a:xfrm>
            <a:off x="705654" y="3875885"/>
            <a:ext cx="821379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244" name="Google Shape;24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6991" y="841114"/>
            <a:ext cx="3817901" cy="192204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2"/>
          <p:cNvSpPr txBox="1"/>
          <p:nvPr/>
        </p:nvSpPr>
        <p:spPr>
          <a:xfrm>
            <a:off x="4843171" y="3298523"/>
            <a:ext cx="3363325" cy="91198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2824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2"/>
          <p:cNvSpPr txBox="1"/>
          <p:nvPr/>
        </p:nvSpPr>
        <p:spPr>
          <a:xfrm>
            <a:off x="628650" y="4608135"/>
            <a:ext cx="4402551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Application of dependent sources: amplifiers!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Amplifier</a:t>
            </a:r>
            <a:endParaRPr/>
          </a:p>
        </p:txBody>
      </p:sp>
      <p:sp>
        <p:nvSpPr>
          <p:cNvPr id="252" name="Google Shape;252;p4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43" r="0" t="-1742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 </a:t>
            </a:r>
            <a:endParaRPr/>
          </a:p>
        </p:txBody>
      </p:sp>
      <p:pic>
        <p:nvPicPr>
          <p:cNvPr id="253" name="Google Shape;25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2887508"/>
            <a:ext cx="4316974" cy="1846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0211" y="2887508"/>
            <a:ext cx="3162301" cy="2255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Transfer Characteristics of Amplifiers</a:t>
            </a:r>
            <a:endParaRPr/>
          </a:p>
        </p:txBody>
      </p:sp>
      <p:sp>
        <p:nvSpPr>
          <p:cNvPr id="260" name="Google Shape;260;p4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39" r="0" t="-1739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 </a:t>
            </a:r>
            <a:endParaRPr/>
          </a:p>
        </p:txBody>
      </p:sp>
      <p:pic>
        <p:nvPicPr>
          <p:cNvPr descr="Opamp - Operational Amplifier" id="261" name="Google Shape;26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250" y="3039666"/>
            <a:ext cx="2353972" cy="210383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4"/>
          <p:cNvSpPr txBox="1"/>
          <p:nvPr/>
        </p:nvSpPr>
        <p:spPr>
          <a:xfrm>
            <a:off x="3752555" y="3661652"/>
            <a:ext cx="656759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4"/>
          <p:cNvSpPr txBox="1"/>
          <p:nvPr/>
        </p:nvSpPr>
        <p:spPr>
          <a:xfrm>
            <a:off x="3219311" y="2920659"/>
            <a:ext cx="453039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44"/>
          <p:cNvGrpSpPr/>
          <p:nvPr/>
        </p:nvGrpSpPr>
        <p:grpSpPr>
          <a:xfrm>
            <a:off x="4766614" y="3151640"/>
            <a:ext cx="2362052" cy="1896610"/>
            <a:chOff x="4526685" y="3964062"/>
            <a:chExt cx="3149402" cy="2528813"/>
          </a:xfrm>
        </p:grpSpPr>
        <p:pic>
          <p:nvPicPr>
            <p:cNvPr descr="What is Distortion in Amplifier? Definition, types of distortion in  amplifier - Electronics Coach" id="265" name="Google Shape;265;p4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26685" y="5427804"/>
              <a:ext cx="3149402" cy="10650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ntroduction to Ideal Op-Amp Circuit Characteristics" id="266" name="Google Shape;266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26685" y="3964062"/>
              <a:ext cx="3138629" cy="13962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Operational Amplifiers</a:t>
            </a:r>
            <a:endParaRPr/>
          </a:p>
        </p:txBody>
      </p:sp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An operational amplifier, or </a:t>
            </a:r>
            <a:r>
              <a:rPr b="1" lang="en"/>
              <a:t>op-amp</a:t>
            </a:r>
            <a:r>
              <a:rPr lang="en"/>
              <a:t> for short, is a versatile and powerful integrated circuit that is widely used in a variety of electronic applications. 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An Op-Amp is designed so that it performs some mathematical operations when external components, such as resistors and capacitors, are connected to its terminals. 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The op amp is an electronic device consisting of a complex arrangement of resistors, transistors, capacitors, and diodes. A full discussion of what is inside the op amp is beyond the scope of this course. </a:t>
            </a:r>
            <a:r>
              <a:rPr lang="en">
                <a:highlight>
                  <a:srgbClr val="FFFFCC"/>
                </a:highlight>
              </a:rPr>
              <a:t>For now, it will suffice to treat the op amp as a circuit building block and simply study what takes place at its terminals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Terminals and Circuit Symbol</a:t>
            </a:r>
            <a:endParaRPr/>
          </a:p>
        </p:txBody>
      </p:sp>
      <p:sp>
        <p:nvSpPr>
          <p:cNvPr id="278" name="Google Shape;278;p4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Op-amps are </a:t>
            </a:r>
            <a:r>
              <a:rPr b="1" lang="en"/>
              <a:t>differential amplifiers</a:t>
            </a:r>
            <a:r>
              <a:rPr lang="en"/>
              <a:t> – meaning it amplifies the voltage difference between two terminals. Therefore, it has two inputs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Since this is an amplifier, there are two terminals for </a:t>
            </a:r>
            <a:r>
              <a:rPr b="1" lang="en"/>
              <a:t>power supply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Diagram&#10;&#10;Description automatically generated" id="279" name="Google Shape;27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3903"/>
            <a:ext cx="5200422" cy="2195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280" name="Google Shape;28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872" y="3117651"/>
            <a:ext cx="3001924" cy="1732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5603" y="3254773"/>
            <a:ext cx="1334089" cy="137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Equivalent Circuit</a:t>
            </a:r>
            <a:endParaRPr/>
          </a:p>
        </p:txBody>
      </p:sp>
      <p:pic>
        <p:nvPicPr>
          <p:cNvPr descr="Diagram, schematic&#10;&#10;Description automatically generated" id="287" name="Google Shape;287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2435" y="2027840"/>
            <a:ext cx="2262872" cy="177522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7"/>
          <p:cNvSpPr txBox="1"/>
          <p:nvPr/>
        </p:nvSpPr>
        <p:spPr>
          <a:xfrm>
            <a:off x="628650" y="1268016"/>
            <a:ext cx="7886700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op amp is an amplifier, the internal circuit can be modeled using a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controlled voltage source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(VCVS)! (actual circuit is complicated)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antenna&#10;&#10;Description automatically generated" id="289" name="Google Shape;289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63" y="2009842"/>
            <a:ext cx="2262872" cy="179321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7"/>
          <p:cNvSpPr txBox="1"/>
          <p:nvPr/>
        </p:nvSpPr>
        <p:spPr>
          <a:xfrm>
            <a:off x="5330123" y="1816928"/>
            <a:ext cx="3114314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6664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7"/>
          <p:cNvSpPr txBox="1"/>
          <p:nvPr/>
        </p:nvSpPr>
        <p:spPr>
          <a:xfrm>
            <a:off x="5330123" y="2112268"/>
            <a:ext cx="3375107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2902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7"/>
          <p:cNvSpPr txBox="1"/>
          <p:nvPr/>
        </p:nvSpPr>
        <p:spPr>
          <a:xfrm>
            <a:off x="5330123" y="2509352"/>
            <a:ext cx="3088826" cy="48474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9613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7"/>
          <p:cNvSpPr txBox="1"/>
          <p:nvPr/>
        </p:nvSpPr>
        <p:spPr>
          <a:xfrm>
            <a:off x="5330122" y="3010166"/>
            <a:ext cx="1620155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2902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7"/>
          <p:cNvSpPr txBox="1"/>
          <p:nvPr/>
        </p:nvSpPr>
        <p:spPr>
          <a:xfrm>
            <a:off x="628650" y="3947009"/>
            <a:ext cx="8029143" cy="96949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921" l="-710" r="0" t="-294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7"/>
          <p:cNvSpPr/>
          <p:nvPr/>
        </p:nvSpPr>
        <p:spPr>
          <a:xfrm>
            <a:off x="5305526" y="1798931"/>
            <a:ext cx="3399704" cy="2076553"/>
          </a:xfrm>
          <a:prstGeom prst="roundRect">
            <a:avLst>
              <a:gd fmla="val 5895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7"/>
          <p:cNvSpPr txBox="1"/>
          <p:nvPr/>
        </p:nvSpPr>
        <p:spPr>
          <a:xfrm>
            <a:off x="5330123" y="3268114"/>
            <a:ext cx="1760435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724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7"/>
          <p:cNvSpPr txBox="1"/>
          <p:nvPr/>
        </p:nvSpPr>
        <p:spPr>
          <a:xfrm>
            <a:off x="5330123" y="3526062"/>
            <a:ext cx="1904368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6664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Equivalent Circuit</a:t>
            </a:r>
            <a:endParaRPr/>
          </a:p>
        </p:txBody>
      </p:sp>
      <p:pic>
        <p:nvPicPr>
          <p:cNvPr descr="Diagram, schematic&#10;&#10;Description automatically generated" id="303" name="Google Shape;303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027840"/>
            <a:ext cx="2262872" cy="177522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8"/>
          <p:cNvSpPr txBox="1"/>
          <p:nvPr/>
        </p:nvSpPr>
        <p:spPr>
          <a:xfrm>
            <a:off x="628650" y="1268016"/>
            <a:ext cx="7886700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op amp is an amplifier, the internal circuit can be modeled using a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controlled voltage source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(VCVS)! (actual circuit is complicated)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8"/>
          <p:cNvSpPr txBox="1"/>
          <p:nvPr/>
        </p:nvSpPr>
        <p:spPr>
          <a:xfrm>
            <a:off x="2996339" y="1816928"/>
            <a:ext cx="3114314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664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8"/>
          <p:cNvSpPr txBox="1"/>
          <p:nvPr/>
        </p:nvSpPr>
        <p:spPr>
          <a:xfrm>
            <a:off x="2996339" y="2112268"/>
            <a:ext cx="3375107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2902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8"/>
          <p:cNvSpPr txBox="1"/>
          <p:nvPr/>
        </p:nvSpPr>
        <p:spPr>
          <a:xfrm>
            <a:off x="2996339" y="2509352"/>
            <a:ext cx="3088826" cy="48474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9613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8"/>
          <p:cNvSpPr txBox="1"/>
          <p:nvPr/>
        </p:nvSpPr>
        <p:spPr>
          <a:xfrm>
            <a:off x="2996337" y="3010166"/>
            <a:ext cx="162015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2902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8"/>
          <p:cNvSpPr txBox="1"/>
          <p:nvPr/>
        </p:nvSpPr>
        <p:spPr>
          <a:xfrm>
            <a:off x="628650" y="3947009"/>
            <a:ext cx="8029143" cy="96949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921" l="-710" r="0" t="-294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8"/>
          <p:cNvSpPr/>
          <p:nvPr/>
        </p:nvSpPr>
        <p:spPr>
          <a:xfrm>
            <a:off x="2971741" y="1798931"/>
            <a:ext cx="3399704" cy="2076553"/>
          </a:xfrm>
          <a:prstGeom prst="roundRect">
            <a:avLst>
              <a:gd fmla="val 5895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8"/>
          <p:cNvSpPr txBox="1"/>
          <p:nvPr/>
        </p:nvSpPr>
        <p:spPr>
          <a:xfrm>
            <a:off x="2996339" y="3268114"/>
            <a:ext cx="1760435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724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8"/>
          <p:cNvSpPr txBox="1"/>
          <p:nvPr/>
        </p:nvSpPr>
        <p:spPr>
          <a:xfrm>
            <a:off x="2996338" y="3526062"/>
            <a:ext cx="1904368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6664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3" name="Google Shape;313;p48"/>
          <p:cNvGraphicFramePr/>
          <p:nvPr/>
        </p:nvGraphicFramePr>
        <p:xfrm>
          <a:off x="6555177" y="21954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{443AE009-4301-420B-9E7F-BC9633DB772A}</a:tableStyleId>
              </a:tblPr>
              <a:tblGrid>
                <a:gridCol w="935175"/>
                <a:gridCol w="150517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Parameter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Typical Range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Practical Limitation - Saturation</a:t>
            </a:r>
            <a:endParaRPr/>
          </a:p>
        </p:txBody>
      </p:sp>
      <p:sp>
        <p:nvSpPr>
          <p:cNvPr id="319" name="Google Shape;319;p49"/>
          <p:cNvSpPr txBox="1"/>
          <p:nvPr>
            <p:ph idx="1" type="body"/>
          </p:nvPr>
        </p:nvSpPr>
        <p:spPr>
          <a:xfrm>
            <a:off x="628650" y="1369219"/>
            <a:ext cx="7997429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32" r="-236" t="-1742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 </a:t>
            </a:r>
            <a:endParaRPr/>
          </a:p>
        </p:txBody>
      </p:sp>
      <p:pic>
        <p:nvPicPr>
          <p:cNvPr descr="Diagram&#10;&#10;Description automatically generated" id="320" name="Google Shape;32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1447" y="2571750"/>
            <a:ext cx="3153966" cy="247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Example 3</a:t>
            </a:r>
            <a:endParaRPr/>
          </a:p>
        </p:txBody>
      </p:sp>
      <p:sp>
        <p:nvSpPr>
          <p:cNvPr id="326" name="Google Shape;326;p50"/>
          <p:cNvSpPr txBox="1"/>
          <p:nvPr>
            <p:ph idx="1" type="body"/>
          </p:nvPr>
        </p:nvSpPr>
        <p:spPr>
          <a:xfrm>
            <a:off x="628650" y="1369219"/>
            <a:ext cx="1707356" cy="47386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58" l="-4997" r="0" t="-1568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 </a:t>
            </a:r>
            <a:endParaRPr/>
          </a:p>
        </p:txBody>
      </p:sp>
      <p:pic>
        <p:nvPicPr>
          <p:cNvPr id="327" name="Google Shape;327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2060972"/>
            <a:ext cx="301942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50"/>
          <p:cNvSpPr txBox="1"/>
          <p:nvPr/>
        </p:nvSpPr>
        <p:spPr>
          <a:xfrm>
            <a:off x="3841416" y="2225501"/>
            <a:ext cx="100051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0"/>
          <p:cNvSpPr txBox="1"/>
          <p:nvPr/>
        </p:nvSpPr>
        <p:spPr>
          <a:xfrm>
            <a:off x="3841416" y="2571750"/>
            <a:ext cx="4914759" cy="118037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7200" l="-1546" r="-385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334" name="Google Shape;33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386" y="1944290"/>
            <a:ext cx="3252030" cy="238482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Example 4</a:t>
            </a:r>
            <a:endParaRPr/>
          </a:p>
        </p:txBody>
      </p:sp>
      <p:sp>
        <p:nvSpPr>
          <p:cNvPr id="336" name="Google Shape;336;p51"/>
          <p:cNvSpPr txBox="1"/>
          <p:nvPr>
            <p:ph idx="1" type="body"/>
          </p:nvPr>
        </p:nvSpPr>
        <p:spPr>
          <a:xfrm>
            <a:off x="628650" y="1369219"/>
            <a:ext cx="1707356" cy="4738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58" l="-4997" r="0" t="-1568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 </a:t>
            </a:r>
            <a:endParaRPr/>
          </a:p>
        </p:txBody>
      </p:sp>
      <p:sp>
        <p:nvSpPr>
          <p:cNvPr id="337" name="Google Shape;337;p51"/>
          <p:cNvSpPr txBox="1"/>
          <p:nvPr/>
        </p:nvSpPr>
        <p:spPr>
          <a:xfrm>
            <a:off x="3740606" y="1268025"/>
            <a:ext cx="5403375" cy="2839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r>
              <a:rPr b="1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v</a:t>
            </a:r>
            <a:r>
              <a:rPr b="1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1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0.5 mV - 1 mV = -0.5 mV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➙ v</a:t>
            </a:r>
            <a:r>
              <a:rPr b="1" baseline="-25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Av</a:t>
            </a:r>
            <a:r>
              <a:rPr b="1" baseline="-25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(2x10</a:t>
            </a:r>
            <a:r>
              <a:rPr b="1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)x(-0.5x10</a:t>
            </a:r>
            <a:r>
              <a:rPr b="1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-100V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However, the output must be limited within the range of -V</a:t>
            </a:r>
            <a:r>
              <a:rPr b="1" baseline="-25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+V</a:t>
            </a:r>
            <a:r>
              <a:rPr b="1" baseline="-25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Therefore, the highest output voltage can be -15V.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∴ v</a:t>
            </a:r>
            <a:r>
              <a:rPr b="1" baseline="-25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-15V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Solving Circuit with Op-Amp</a:t>
            </a:r>
            <a:endParaRPr/>
          </a:p>
        </p:txBody>
      </p:sp>
      <p:sp>
        <p:nvSpPr>
          <p:cNvPr id="343" name="Google Shape;343;p5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Don’t be scared! Circuit solving with op-amp is exactly same as the circuits you solved in CSE250</a:t>
            </a:r>
            <a:br>
              <a:rPr lang="en"/>
            </a:br>
            <a:r>
              <a:rPr lang="en"/>
              <a:t> 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Step 1: replace with equivalent circuit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Step 2: solve using KCL &amp; KVL, or nodal analysis (linear)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In most cases, the power supply voltages are not mentioned. </a:t>
            </a:r>
            <a:r>
              <a:rPr b="1" lang="en"/>
              <a:t>Hence, we will assume the output is within the linear range in this case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Example 5</a:t>
            </a:r>
            <a:endParaRPr/>
          </a:p>
        </p:txBody>
      </p:sp>
      <p:pic>
        <p:nvPicPr>
          <p:cNvPr id="349" name="Google Shape;349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683" y="2376478"/>
            <a:ext cx="3539700" cy="2310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3"/>
          <p:cNvSpPr txBox="1"/>
          <p:nvPr/>
        </p:nvSpPr>
        <p:spPr>
          <a:xfrm>
            <a:off x="628650" y="1268016"/>
            <a:ext cx="6034441" cy="3462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8946" l="-1260" r="0" t="-5262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3"/>
          <p:cNvSpPr txBox="1"/>
          <p:nvPr/>
        </p:nvSpPr>
        <p:spPr>
          <a:xfrm>
            <a:off x="4696564" y="1753239"/>
            <a:ext cx="3818786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br>
              <a:rPr b="1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1: replace using equivalent circuit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1622" y="2376488"/>
            <a:ext cx="4148662" cy="2706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Example 5</a:t>
            </a:r>
            <a:endParaRPr/>
          </a:p>
        </p:txBody>
      </p:sp>
      <p:sp>
        <p:nvSpPr>
          <p:cNvPr id="358" name="Google Shape;358;p54"/>
          <p:cNvSpPr txBox="1"/>
          <p:nvPr/>
        </p:nvSpPr>
        <p:spPr>
          <a:xfrm>
            <a:off x="324589" y="1378192"/>
            <a:ext cx="3706448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2: Solve using KCL &amp; KVL or </a:t>
            </a:r>
            <a:r>
              <a:rPr b="0" i="0" lang="en" sz="1800" u="none" cap="none" strike="noStrike">
                <a:solidFill>
                  <a:srgbClr val="FF0000"/>
                </a:solidFill>
                <a:highlight>
                  <a:srgbClr val="FFFFCC"/>
                </a:highlight>
                <a:latin typeface="Calibri"/>
                <a:ea typeface="Calibri"/>
                <a:cs typeface="Calibri"/>
                <a:sym typeface="Calibri"/>
              </a:rPr>
              <a:t>nodal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24438"/>
            <a:ext cx="5240636" cy="341906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4"/>
          <p:cNvSpPr txBox="1"/>
          <p:nvPr/>
        </p:nvSpPr>
        <p:spPr>
          <a:xfrm>
            <a:off x="5240644" y="0"/>
            <a:ext cx="3885525" cy="17547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Applying KCL we get,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i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i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i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➙ (2-v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)/(1k) = (v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)/(200k)+(v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)/(2k)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➙ (2-v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)/(1k) = (v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-0)/(200k)+(v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)/(2k)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➙ (2-v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)/(1k) = 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/(200k)+(v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)/(2k)........(i)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54"/>
          <p:cNvCxnSpPr/>
          <p:nvPr/>
        </p:nvCxnSpPr>
        <p:spPr>
          <a:xfrm>
            <a:off x="643631" y="2960794"/>
            <a:ext cx="55935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2" name="Google Shape;362;p54"/>
          <p:cNvSpPr txBox="1"/>
          <p:nvPr/>
        </p:nvSpPr>
        <p:spPr>
          <a:xfrm>
            <a:off x="856706" y="2960794"/>
            <a:ext cx="403425" cy="3694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54"/>
          <p:cNvCxnSpPr/>
          <p:nvPr/>
        </p:nvCxnSpPr>
        <p:spPr>
          <a:xfrm>
            <a:off x="2624006" y="2974238"/>
            <a:ext cx="0" cy="49522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" name="Google Shape;364;p54"/>
          <p:cNvSpPr txBox="1"/>
          <p:nvPr/>
        </p:nvSpPr>
        <p:spPr>
          <a:xfrm>
            <a:off x="2624006" y="3037125"/>
            <a:ext cx="403425" cy="3694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4"/>
          <p:cNvSpPr txBox="1"/>
          <p:nvPr/>
        </p:nvSpPr>
        <p:spPr>
          <a:xfrm>
            <a:off x="5240644" y="1754775"/>
            <a:ext cx="3885525" cy="21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Again, from the figure,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i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0.1k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i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➙ (v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Av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)/(0.1k) = (v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)/(2k)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➙ (v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(2x10</a:t>
            </a:r>
            <a:r>
              <a:rPr b="0" baseline="30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)x(v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))/(0.1k) = (v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)/(2k)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➙ (v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(2x10</a:t>
            </a:r>
            <a:r>
              <a:rPr b="0" baseline="30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)x(0-v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))/(0.1k) = (v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)/(2k)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➙ (v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(2x10</a:t>
            </a:r>
            <a:r>
              <a:rPr b="0" baseline="30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)x(-v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))/(0.1k) = (v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)/(2k)...(ii)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4"/>
          <p:cNvSpPr txBox="1"/>
          <p:nvPr/>
        </p:nvSpPr>
        <p:spPr>
          <a:xfrm>
            <a:off x="5240644" y="3855825"/>
            <a:ext cx="3885525" cy="7157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get v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v</a:t>
            </a:r>
            <a:r>
              <a:rPr b="0" baseline="-2500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solving equation (i) and (ii)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Example 5</a:t>
            </a:r>
            <a:endParaRPr/>
          </a:p>
        </p:txBody>
      </p:sp>
      <p:sp>
        <p:nvSpPr>
          <p:cNvPr id="372" name="Google Shape;372;p55"/>
          <p:cNvSpPr txBox="1"/>
          <p:nvPr/>
        </p:nvSpPr>
        <p:spPr>
          <a:xfrm>
            <a:off x="324589" y="1378192"/>
            <a:ext cx="3706448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2: Solve using </a:t>
            </a:r>
            <a:r>
              <a:rPr b="0" i="0" lang="en" sz="1800" u="none" cap="none" strike="noStrike">
                <a:solidFill>
                  <a:srgbClr val="FF0000"/>
                </a:solidFill>
                <a:highlight>
                  <a:srgbClr val="FFFFCC"/>
                </a:highlight>
                <a:latin typeface="Calibri"/>
                <a:ea typeface="Calibri"/>
                <a:cs typeface="Calibri"/>
                <a:sym typeface="Calibri"/>
              </a:rPr>
              <a:t>KCL &amp; KVL </a:t>
            </a:r>
            <a:r>
              <a:rPr b="0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nodal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3041"/>
            <a:ext cx="4890251" cy="319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Example 6</a:t>
            </a:r>
            <a:endParaRPr/>
          </a:p>
        </p:txBody>
      </p:sp>
      <p:pic>
        <p:nvPicPr>
          <p:cNvPr id="379" name="Google Shape;379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916" y="1744266"/>
            <a:ext cx="4481992" cy="326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56"/>
          <p:cNvSpPr txBox="1"/>
          <p:nvPr/>
        </p:nvSpPr>
        <p:spPr>
          <a:xfrm>
            <a:off x="628650" y="1268016"/>
            <a:ext cx="6034441" cy="3462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8946" l="-1260" r="0" t="-5262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7"/>
          <p:cNvPicPr preferRelativeResize="0"/>
          <p:nvPr/>
        </p:nvPicPr>
        <p:blipFill rotWithShape="1">
          <a:blip r:embed="rId3">
            <a:alphaModFix/>
          </a:blip>
          <a:srcRect b="8029" l="0" r="0" t="9537"/>
          <a:stretch/>
        </p:blipFill>
        <p:spPr>
          <a:xfrm>
            <a:off x="3768328" y="3177268"/>
            <a:ext cx="3111103" cy="180569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The Ideal Op-Amp</a:t>
            </a:r>
            <a:endParaRPr/>
          </a:p>
        </p:txBody>
      </p:sp>
      <p:sp>
        <p:nvSpPr>
          <p:cNvPr id="387" name="Google Shape;387;p57"/>
          <p:cNvSpPr txBox="1"/>
          <p:nvPr>
            <p:ph idx="1" type="body"/>
          </p:nvPr>
        </p:nvSpPr>
        <p:spPr>
          <a:xfrm>
            <a:off x="628650" y="1208678"/>
            <a:ext cx="7886700" cy="326350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8255" l="-3859" r="0" t="-1452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 </a:t>
            </a:r>
            <a:endParaRPr/>
          </a:p>
        </p:txBody>
      </p:sp>
      <p:cxnSp>
        <p:nvCxnSpPr>
          <p:cNvPr id="388" name="Google Shape;388;p57"/>
          <p:cNvCxnSpPr/>
          <p:nvPr/>
        </p:nvCxnSpPr>
        <p:spPr>
          <a:xfrm>
            <a:off x="7598415" y="2925559"/>
            <a:ext cx="0" cy="1979971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lg" w="lg" type="stealth"/>
            <a:tailEnd len="sm" w="sm" type="none"/>
          </a:ln>
        </p:spPr>
      </p:cxnSp>
      <p:cxnSp>
        <p:nvCxnSpPr>
          <p:cNvPr id="389" name="Google Shape;389;p57"/>
          <p:cNvCxnSpPr/>
          <p:nvPr/>
        </p:nvCxnSpPr>
        <p:spPr>
          <a:xfrm rot="10800000">
            <a:off x="6879431" y="4002684"/>
            <a:ext cx="2053713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lg" w="lg" type="stealth"/>
            <a:tailEnd len="sm" w="sm" type="none"/>
          </a:ln>
        </p:spPr>
      </p:cxnSp>
      <p:cxnSp>
        <p:nvCxnSpPr>
          <p:cNvPr id="390" name="Google Shape;390;p57"/>
          <p:cNvCxnSpPr/>
          <p:nvPr/>
        </p:nvCxnSpPr>
        <p:spPr>
          <a:xfrm flipH="1">
            <a:off x="6707148" y="3598948"/>
            <a:ext cx="1782450" cy="807525"/>
          </a:xfrm>
          <a:prstGeom prst="bentConnector3">
            <a:avLst>
              <a:gd fmla="val 50000" name="adj1"/>
            </a:avLst>
          </a:prstGeom>
          <a:noFill/>
          <a:ln cap="rnd" cmpd="sng" w="444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57"/>
          <p:cNvSpPr txBox="1"/>
          <p:nvPr/>
        </p:nvSpPr>
        <p:spPr>
          <a:xfrm>
            <a:off x="8693855" y="4066053"/>
            <a:ext cx="361975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7"/>
          <p:cNvSpPr txBox="1"/>
          <p:nvPr/>
        </p:nvSpPr>
        <p:spPr>
          <a:xfrm>
            <a:off x="7598415" y="2744675"/>
            <a:ext cx="346297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7"/>
          <p:cNvSpPr txBox="1"/>
          <p:nvPr/>
        </p:nvSpPr>
        <p:spPr>
          <a:xfrm>
            <a:off x="6940809" y="4702436"/>
            <a:ext cx="1548789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VTC of ideal op amp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7"/>
          <p:cNvSpPr txBox="1"/>
          <p:nvPr/>
        </p:nvSpPr>
        <p:spPr>
          <a:xfrm>
            <a:off x="7626326" y="4237808"/>
            <a:ext cx="36197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7252844" y="3437048"/>
            <a:ext cx="361975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7"/>
          <p:cNvSpPr txBox="1"/>
          <p:nvPr/>
        </p:nvSpPr>
        <p:spPr>
          <a:xfrm>
            <a:off x="734263" y="4563936"/>
            <a:ext cx="3054971" cy="30008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4998" l="-1556" r="0" t="-9372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Application - Comparator</a:t>
            </a:r>
            <a:endParaRPr/>
          </a:p>
        </p:txBody>
      </p:sp>
      <p:sp>
        <p:nvSpPr>
          <p:cNvPr id="402" name="Google Shape;402;p5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43" r="0" t="-1742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 </a:t>
            </a:r>
            <a:endParaRPr/>
          </a:p>
        </p:txBody>
      </p:sp>
      <p:pic>
        <p:nvPicPr>
          <p:cNvPr descr="Diagram&#10;&#10;Description automatically generated" id="403" name="Google Shape;40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172" y="3240958"/>
            <a:ext cx="8769655" cy="1902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br>
              <a:rPr lang="en"/>
            </a:br>
            <a:r>
              <a:rPr lang="en"/>
              <a:t>Lecture 4</a:t>
            </a:r>
            <a:endParaRPr/>
          </a:p>
        </p:txBody>
      </p:sp>
      <p:sp>
        <p:nvSpPr>
          <p:cNvPr id="409" name="Google Shape;409;p59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Op Amp – Part 2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Review – </a:t>
            </a:r>
            <a:r>
              <a:rPr b="1" lang="en" u="sng"/>
              <a:t>Op</a:t>
            </a:r>
            <a:r>
              <a:rPr lang="en"/>
              <a:t>erational </a:t>
            </a:r>
            <a:r>
              <a:rPr b="1" lang="en" u="sng"/>
              <a:t>Amp</a:t>
            </a:r>
            <a:r>
              <a:rPr lang="en"/>
              <a:t>lifier</a:t>
            </a:r>
            <a:endParaRPr/>
          </a:p>
        </p:txBody>
      </p:sp>
      <p:pic>
        <p:nvPicPr>
          <p:cNvPr descr="A picture containing text, antenna&#10;&#10;Description automatically generated" id="415" name="Google Shape;41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919" y="1145074"/>
            <a:ext cx="2709865" cy="214744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60"/>
          <p:cNvSpPr txBox="1"/>
          <p:nvPr/>
        </p:nvSpPr>
        <p:spPr>
          <a:xfrm>
            <a:off x="5393815" y="1431166"/>
            <a:ext cx="3114314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667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17" name="Google Shape;417;p60"/>
          <p:cNvSpPr txBox="1"/>
          <p:nvPr/>
        </p:nvSpPr>
        <p:spPr>
          <a:xfrm>
            <a:off x="5393815" y="1726505"/>
            <a:ext cx="3375106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6667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18" name="Google Shape;418;p60"/>
          <p:cNvSpPr txBox="1"/>
          <p:nvPr/>
        </p:nvSpPr>
        <p:spPr>
          <a:xfrm>
            <a:off x="5393815" y="2123589"/>
            <a:ext cx="3088826" cy="48474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7547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19" name="Google Shape;419;p60"/>
          <p:cNvSpPr txBox="1"/>
          <p:nvPr/>
        </p:nvSpPr>
        <p:spPr>
          <a:xfrm>
            <a:off x="5393813" y="2624404"/>
            <a:ext cx="162015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6667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20" name="Google Shape;420;p60"/>
          <p:cNvSpPr/>
          <p:nvPr/>
        </p:nvSpPr>
        <p:spPr>
          <a:xfrm>
            <a:off x="5369217" y="1413168"/>
            <a:ext cx="3399704" cy="2076553"/>
          </a:xfrm>
          <a:prstGeom prst="roundRect">
            <a:avLst>
              <a:gd fmla="val 5895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60"/>
          <p:cNvSpPr txBox="1"/>
          <p:nvPr/>
        </p:nvSpPr>
        <p:spPr>
          <a:xfrm>
            <a:off x="5393815" y="2882351"/>
            <a:ext cx="1760434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6667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22" name="Google Shape;422;p60"/>
          <p:cNvSpPr txBox="1"/>
          <p:nvPr/>
        </p:nvSpPr>
        <p:spPr>
          <a:xfrm>
            <a:off x="5393814" y="3140300"/>
            <a:ext cx="1904368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6667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pic>
        <p:nvPicPr>
          <p:cNvPr descr="Diagram, schematic&#10;&#10;Description automatically generated" id="423" name="Google Shape;423;p6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46244" y="3159350"/>
            <a:ext cx="2328540" cy="1826738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60"/>
          <p:cNvSpPr txBox="1"/>
          <p:nvPr/>
        </p:nvSpPr>
        <p:spPr>
          <a:xfrm>
            <a:off x="5191884" y="3744685"/>
            <a:ext cx="3492687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6667" l="-1359" r="0" t="-66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25" name="Google Shape;425;p60"/>
          <p:cNvSpPr txBox="1"/>
          <p:nvPr/>
        </p:nvSpPr>
        <p:spPr>
          <a:xfrm>
            <a:off x="5011669" y="4341674"/>
            <a:ext cx="4114800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7242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Review – Ideal Op Amp</a:t>
            </a:r>
            <a:endParaRPr/>
          </a:p>
        </p:txBody>
      </p:sp>
      <p:sp>
        <p:nvSpPr>
          <p:cNvPr id="431" name="Google Shape;431;p6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03" r="0" t="-1453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 </a:t>
            </a:r>
            <a:endParaRPr/>
          </a:p>
        </p:txBody>
      </p:sp>
      <p:pic>
        <p:nvPicPr>
          <p:cNvPr id="432" name="Google Shape;432;p61"/>
          <p:cNvPicPr preferRelativeResize="0"/>
          <p:nvPr/>
        </p:nvPicPr>
        <p:blipFill rotWithShape="1">
          <a:blip r:embed="rId4">
            <a:alphaModFix/>
          </a:blip>
          <a:srcRect b="8029" l="0" r="0" t="9537"/>
          <a:stretch/>
        </p:blipFill>
        <p:spPr>
          <a:xfrm>
            <a:off x="431326" y="3152177"/>
            <a:ext cx="3111103" cy="18056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3" name="Google Shape;433;p61"/>
          <p:cNvCxnSpPr/>
          <p:nvPr/>
        </p:nvCxnSpPr>
        <p:spPr>
          <a:xfrm>
            <a:off x="4261413" y="2900468"/>
            <a:ext cx="0" cy="1979971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lg" w="lg" type="stealth"/>
            <a:tailEnd len="sm" w="sm" type="none"/>
          </a:ln>
        </p:spPr>
      </p:cxnSp>
      <p:cxnSp>
        <p:nvCxnSpPr>
          <p:cNvPr id="434" name="Google Shape;434;p61"/>
          <p:cNvCxnSpPr/>
          <p:nvPr/>
        </p:nvCxnSpPr>
        <p:spPr>
          <a:xfrm rot="10800000">
            <a:off x="3542429" y="3977594"/>
            <a:ext cx="2053713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lg" w="lg" type="stealth"/>
            <a:tailEnd len="sm" w="sm" type="none"/>
          </a:ln>
        </p:spPr>
      </p:cxnSp>
      <p:cxnSp>
        <p:nvCxnSpPr>
          <p:cNvPr id="435" name="Google Shape;435;p61"/>
          <p:cNvCxnSpPr/>
          <p:nvPr/>
        </p:nvCxnSpPr>
        <p:spPr>
          <a:xfrm flipH="1">
            <a:off x="3370146" y="3573857"/>
            <a:ext cx="1782450" cy="807525"/>
          </a:xfrm>
          <a:prstGeom prst="bentConnector3">
            <a:avLst>
              <a:gd fmla="val 50000" name="adj1"/>
            </a:avLst>
          </a:prstGeom>
          <a:noFill/>
          <a:ln cap="rnd" cmpd="sng" w="444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61"/>
          <p:cNvSpPr txBox="1"/>
          <p:nvPr/>
        </p:nvSpPr>
        <p:spPr>
          <a:xfrm>
            <a:off x="5356852" y="4040963"/>
            <a:ext cx="361975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37" name="Google Shape;437;p61"/>
          <p:cNvSpPr txBox="1"/>
          <p:nvPr/>
        </p:nvSpPr>
        <p:spPr>
          <a:xfrm>
            <a:off x="3603807" y="4677345"/>
            <a:ext cx="1548789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VTC of ideal op amp</a:t>
            </a:r>
            <a:endParaRPr sz="1100"/>
          </a:p>
        </p:txBody>
      </p:sp>
      <p:sp>
        <p:nvSpPr>
          <p:cNvPr id="438" name="Google Shape;438;p61"/>
          <p:cNvSpPr txBox="1"/>
          <p:nvPr/>
        </p:nvSpPr>
        <p:spPr>
          <a:xfrm>
            <a:off x="4289324" y="4212717"/>
            <a:ext cx="361975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39" name="Google Shape;439;p61"/>
          <p:cNvSpPr txBox="1"/>
          <p:nvPr/>
        </p:nvSpPr>
        <p:spPr>
          <a:xfrm>
            <a:off x="3915842" y="3411958"/>
            <a:ext cx="36197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40" name="Google Shape;440;p61"/>
          <p:cNvSpPr txBox="1"/>
          <p:nvPr/>
        </p:nvSpPr>
        <p:spPr>
          <a:xfrm>
            <a:off x="5072412" y="3788700"/>
            <a:ext cx="4574787" cy="53264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77184" l="0" r="0" t="-19122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Application of Ideal Op Amp - Comparator</a:t>
            </a:r>
            <a:endParaRPr/>
          </a:p>
        </p:txBody>
      </p:sp>
      <p:sp>
        <p:nvSpPr>
          <p:cNvPr id="446" name="Google Shape;446;p6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44" r="0" t="-174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 </a:t>
            </a:r>
            <a:endParaRPr/>
          </a:p>
        </p:txBody>
      </p:sp>
      <p:pic>
        <p:nvPicPr>
          <p:cNvPr descr="Diagram&#10;&#10;Description automatically generated" id="447" name="Google Shape;44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172" y="3240958"/>
            <a:ext cx="8769655" cy="1902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Comparator Application – Automatic AC</a:t>
            </a:r>
            <a:endParaRPr/>
          </a:p>
        </p:txBody>
      </p:sp>
      <p:pic>
        <p:nvPicPr>
          <p:cNvPr descr="Diagram&#10;&#10;Description automatically generated" id="453" name="Google Shape;453;p6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63" y="1505228"/>
            <a:ext cx="6657975" cy="35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63"/>
          <p:cNvSpPr/>
          <p:nvPr/>
        </p:nvSpPr>
        <p:spPr>
          <a:xfrm>
            <a:off x="1746679" y="2177143"/>
            <a:ext cx="6218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 b="1"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63"/>
          <p:cNvSpPr/>
          <p:nvPr/>
        </p:nvSpPr>
        <p:spPr>
          <a:xfrm>
            <a:off x="3936666" y="4048806"/>
            <a:ext cx="6218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 b="1"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Smoke Detector</a:t>
            </a:r>
            <a:endParaRPr/>
          </a:p>
        </p:txBody>
      </p:sp>
      <p:pic>
        <p:nvPicPr>
          <p:cNvPr descr="Diagram&#10;&#10;Description automatically generated" id="461" name="Google Shape;461;p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9540" y="1268016"/>
            <a:ext cx="6839879" cy="3886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Introducing Negative Feedback</a:t>
            </a:r>
            <a:endParaRPr/>
          </a:p>
        </p:txBody>
      </p:sp>
      <p:sp>
        <p:nvSpPr>
          <p:cNvPr id="467" name="Google Shape;467;p6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The gain (A) of an ideal op amp is infinity, practically extremely large. 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The power supply (+Vs and –Vs) limits the op amp's output.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We require a method to have a finite gain. That is what negative feedback does.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Negative feedback: feeding back </a:t>
            </a:r>
            <a:r>
              <a:rPr b="1" lang="en" sz="1800">
                <a:solidFill>
                  <a:srgbClr val="FF0000"/>
                </a:solidFill>
              </a:rPr>
              <a:t>a portion </a:t>
            </a:r>
            <a:r>
              <a:rPr lang="en" sz="1800"/>
              <a:t>of </a:t>
            </a:r>
            <a:r>
              <a:rPr b="1" i="1" lang="en" sz="1800" u="sng"/>
              <a:t>output</a:t>
            </a:r>
            <a:r>
              <a:rPr lang="en" sz="1800"/>
              <a:t> to inverting </a:t>
            </a:r>
            <a:r>
              <a:rPr b="1" i="1" lang="en" sz="1800" u="sng"/>
              <a:t>input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Idea – the output will become stable due to a self-correcting mechanism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A picture containing text, clock&#10;&#10;Description automatically generated" id="468" name="Google Shape;46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124" y="3504856"/>
            <a:ext cx="2689883" cy="150483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5"/>
          <p:cNvSpPr txBox="1"/>
          <p:nvPr/>
        </p:nvSpPr>
        <p:spPr>
          <a:xfrm>
            <a:off x="2992360" y="3323002"/>
            <a:ext cx="3863510" cy="36370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7692" l="-737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70" name="Google Shape;470;p65"/>
          <p:cNvSpPr txBox="1"/>
          <p:nvPr/>
        </p:nvSpPr>
        <p:spPr>
          <a:xfrm>
            <a:off x="2992361" y="3787911"/>
            <a:ext cx="5851698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7" l="-487" r="0" t="-66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71" name="Google Shape;471;p65"/>
          <p:cNvSpPr txBox="1"/>
          <p:nvPr/>
        </p:nvSpPr>
        <p:spPr>
          <a:xfrm>
            <a:off x="2992360" y="4118771"/>
            <a:ext cx="5784372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7" l="-493" r="0" t="-66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Negative Feedback – Numerical Example</a:t>
            </a:r>
            <a:endParaRPr/>
          </a:p>
        </p:txBody>
      </p:sp>
      <p:pic>
        <p:nvPicPr>
          <p:cNvPr descr="Diagram&#10;&#10;Description automatically generated" id="477" name="Google Shape;477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26982"/>
          <a:stretch/>
        </p:blipFill>
        <p:spPr>
          <a:xfrm>
            <a:off x="628650" y="1493828"/>
            <a:ext cx="7477225" cy="2963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Negative Feedback – Derivation of Gain</a:t>
            </a:r>
            <a:endParaRPr/>
          </a:p>
        </p:txBody>
      </p:sp>
      <p:sp>
        <p:nvSpPr>
          <p:cNvPr id="483" name="Google Shape;483;p67"/>
          <p:cNvSpPr txBox="1"/>
          <p:nvPr/>
        </p:nvSpPr>
        <p:spPr>
          <a:xfrm>
            <a:off x="3836798" y="1135808"/>
            <a:ext cx="1470403" cy="25663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52" l="-7051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84" name="Google Shape;484;p67"/>
          <p:cNvSpPr txBox="1"/>
          <p:nvPr/>
        </p:nvSpPr>
        <p:spPr>
          <a:xfrm>
            <a:off x="6087944" y="1135808"/>
            <a:ext cx="1431449" cy="26986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7947" r="-6623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85" name="Google Shape;485;p67"/>
          <p:cNvSpPr/>
          <p:nvPr/>
        </p:nvSpPr>
        <p:spPr>
          <a:xfrm>
            <a:off x="172669" y="4007692"/>
            <a:ext cx="4000250" cy="90024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0418" l="-1900" r="-238" t="-208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pic>
        <p:nvPicPr>
          <p:cNvPr descr="A picture containing text, clock&#10;&#10;Description automatically generated" id="486" name="Google Shape;486;p67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2669" y="1376958"/>
            <a:ext cx="3081976" cy="1724183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7"/>
          <p:cNvSpPr/>
          <p:nvPr/>
        </p:nvSpPr>
        <p:spPr>
          <a:xfrm>
            <a:off x="5406033" y="1376958"/>
            <a:ext cx="567928" cy="2191346"/>
          </a:xfrm>
          <a:custGeom>
            <a:rect b="b" l="l" r="r" t="t"/>
            <a:pathLst>
              <a:path extrusionOk="0" h="2921794" w="757237">
                <a:moveTo>
                  <a:pt x="0" y="2921794"/>
                </a:moveTo>
                <a:lnTo>
                  <a:pt x="407194" y="2921794"/>
                </a:lnTo>
                <a:lnTo>
                  <a:pt x="407194" y="0"/>
                </a:lnTo>
                <a:lnTo>
                  <a:pt x="757237" y="0"/>
                </a:lnTo>
              </a:path>
            </a:pathLst>
          </a:custGeom>
          <a:noFill/>
          <a:ln cap="rnd" cmpd="sng" w="25400">
            <a:solidFill>
              <a:srgbClr val="31538F"/>
            </a:solidFill>
            <a:prstDash val="solid"/>
            <a:round/>
            <a:headEnd len="sm" w="sm" type="none"/>
            <a:tailEnd len="lg" w="lg" type="stealth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67"/>
          <p:cNvSpPr txBox="1"/>
          <p:nvPr/>
        </p:nvSpPr>
        <p:spPr>
          <a:xfrm>
            <a:off x="4571999" y="4003947"/>
            <a:ext cx="1896032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get 1/k of output to input? Voltage dividers!</a:t>
            </a:r>
            <a:endParaRPr sz="1100"/>
          </a:p>
        </p:txBody>
      </p:sp>
      <p:pic>
        <p:nvPicPr>
          <p:cNvPr id="489" name="Google Shape;489;p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8031" y="3765607"/>
            <a:ext cx="2503300" cy="86772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7"/>
          <p:cNvSpPr txBox="1"/>
          <p:nvPr/>
        </p:nvSpPr>
        <p:spPr>
          <a:xfrm>
            <a:off x="6468031" y="4542531"/>
            <a:ext cx="2284856" cy="46714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600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Inverting Amplifier</a:t>
            </a:r>
            <a:endParaRPr/>
          </a:p>
        </p:txBody>
      </p:sp>
      <p:pic>
        <p:nvPicPr>
          <p:cNvPr descr="A picture containing text, clock&#10;&#10;Description automatically generated" id="496" name="Google Shape;49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26" y="2038194"/>
            <a:ext cx="1863311" cy="104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0758" y="2388109"/>
            <a:ext cx="2566930" cy="889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0910" y="2094227"/>
            <a:ext cx="2767220" cy="98638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8"/>
          <p:cNvSpPr txBox="1"/>
          <p:nvPr/>
        </p:nvSpPr>
        <p:spPr>
          <a:xfrm>
            <a:off x="2163481" y="2362425"/>
            <a:ext cx="644648" cy="6924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4412" r="-5882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00" name="Google Shape;500;p68"/>
          <p:cNvSpPr txBox="1"/>
          <p:nvPr/>
        </p:nvSpPr>
        <p:spPr>
          <a:xfrm>
            <a:off x="4993764" y="2388109"/>
            <a:ext cx="644647" cy="69249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6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644351"/>
            <a:ext cx="8042652" cy="4499149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6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Inverting Amplifier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Solving Circuit with Ideal Op Amp + NF</a:t>
            </a:r>
            <a:endParaRPr/>
          </a:p>
        </p:txBody>
      </p:sp>
      <p:sp>
        <p:nvSpPr>
          <p:cNvPr id="512" name="Google Shape;512;p7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44" r="0" t="-174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 </a:t>
            </a:r>
            <a:endParaRPr/>
          </a:p>
        </p:txBody>
      </p:sp>
      <p:pic>
        <p:nvPicPr>
          <p:cNvPr id="513" name="Google Shape;513;p70"/>
          <p:cNvPicPr preferRelativeResize="0"/>
          <p:nvPr/>
        </p:nvPicPr>
        <p:blipFill rotWithShape="1">
          <a:blip r:embed="rId4">
            <a:alphaModFix/>
          </a:blip>
          <a:srcRect b="8029" l="0" r="0" t="9537"/>
          <a:stretch/>
        </p:blipFill>
        <p:spPr>
          <a:xfrm>
            <a:off x="431325" y="3562080"/>
            <a:ext cx="2404864" cy="139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Example – Inverting Amplifier</a:t>
            </a:r>
            <a:endParaRPr/>
          </a:p>
        </p:txBody>
      </p:sp>
      <p:pic>
        <p:nvPicPr>
          <p:cNvPr id="519" name="Google Shape;519;p7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696075"/>
            <a:ext cx="3518561" cy="2296983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71"/>
          <p:cNvSpPr txBox="1"/>
          <p:nvPr/>
        </p:nvSpPr>
        <p:spPr>
          <a:xfrm>
            <a:off x="720671" y="1790054"/>
            <a:ext cx="2870449" cy="3924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1708" l="-3311" r="0" t="-1463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pic>
        <p:nvPicPr>
          <p:cNvPr descr="Diagram&#10;&#10;Description automatically generated" id="521" name="Google Shape;521;p71"/>
          <p:cNvPicPr preferRelativeResize="0"/>
          <p:nvPr/>
        </p:nvPicPr>
        <p:blipFill rotWithShape="1">
          <a:blip r:embed="rId5">
            <a:alphaModFix/>
          </a:blip>
          <a:srcRect b="17533" l="0" r="0" t="0"/>
          <a:stretch/>
        </p:blipFill>
        <p:spPr>
          <a:xfrm>
            <a:off x="4996791" y="2571750"/>
            <a:ext cx="3662887" cy="2296983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71"/>
          <p:cNvSpPr/>
          <p:nvPr/>
        </p:nvSpPr>
        <p:spPr>
          <a:xfrm>
            <a:off x="3106058" y="3150031"/>
            <a:ext cx="392685" cy="2673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Example – Inverting Amplifier</a:t>
            </a:r>
            <a:endParaRPr/>
          </a:p>
        </p:txBody>
      </p:sp>
      <p:pic>
        <p:nvPicPr>
          <p:cNvPr descr="Diagram&#10;&#10;Description automatically generated" id="528" name="Google Shape;528;p72"/>
          <p:cNvPicPr preferRelativeResize="0"/>
          <p:nvPr/>
        </p:nvPicPr>
        <p:blipFill rotWithShape="1">
          <a:blip r:embed="rId3">
            <a:alphaModFix/>
          </a:blip>
          <a:srcRect b="17533" l="0" r="0" t="13318"/>
          <a:stretch/>
        </p:blipFill>
        <p:spPr>
          <a:xfrm>
            <a:off x="586028" y="1221522"/>
            <a:ext cx="3985973" cy="209594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72"/>
          <p:cNvSpPr/>
          <p:nvPr/>
        </p:nvSpPr>
        <p:spPr>
          <a:xfrm>
            <a:off x="3106058" y="3150031"/>
            <a:ext cx="392685" cy="2673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72"/>
          <p:cNvSpPr txBox="1"/>
          <p:nvPr/>
        </p:nvSpPr>
        <p:spPr>
          <a:xfrm>
            <a:off x="368674" y="3472021"/>
            <a:ext cx="4829015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7" l="-787" r="0" t="-66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31" name="Google Shape;531;p72"/>
          <p:cNvSpPr txBox="1"/>
          <p:nvPr/>
        </p:nvSpPr>
        <p:spPr>
          <a:xfrm>
            <a:off x="368674" y="3204675"/>
            <a:ext cx="3105899" cy="4847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223" r="0" t="-384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32" name="Google Shape;532;p72"/>
          <p:cNvSpPr txBox="1"/>
          <p:nvPr/>
        </p:nvSpPr>
        <p:spPr>
          <a:xfrm>
            <a:off x="368674" y="3739861"/>
            <a:ext cx="3523080" cy="36423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2500" l="-1079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33" name="Google Shape;533;p72"/>
          <p:cNvSpPr txBox="1"/>
          <p:nvPr/>
        </p:nvSpPr>
        <p:spPr>
          <a:xfrm>
            <a:off x="368674" y="4154533"/>
            <a:ext cx="2458750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3333" l="-1544" r="0" t="-1000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34" name="Google Shape;534;p72"/>
          <p:cNvSpPr txBox="1"/>
          <p:nvPr/>
        </p:nvSpPr>
        <p:spPr>
          <a:xfrm>
            <a:off x="368674" y="4481969"/>
            <a:ext cx="3489128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667" l="-1087" r="0" t="-66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35" name="Google Shape;535;p72"/>
          <p:cNvSpPr txBox="1"/>
          <p:nvPr/>
        </p:nvSpPr>
        <p:spPr>
          <a:xfrm>
            <a:off x="368674" y="4758968"/>
            <a:ext cx="5566331" cy="34721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158" l="-683" r="-512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36" name="Google Shape;536;p72"/>
          <p:cNvSpPr txBox="1"/>
          <p:nvPr/>
        </p:nvSpPr>
        <p:spPr>
          <a:xfrm>
            <a:off x="6140518" y="3617684"/>
            <a:ext cx="2634809" cy="36433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7500" l="-1439" r="-1078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General</a:t>
            </a:r>
            <a:endParaRPr/>
          </a:p>
        </p:txBody>
      </p:sp>
      <p:pic>
        <p:nvPicPr>
          <p:cNvPr descr="Diagram&#10;&#10;Description automatically generated" id="542" name="Google Shape;542;p7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9567" l="0" r="0" t="15174"/>
          <a:stretch/>
        </p:blipFill>
        <p:spPr>
          <a:xfrm>
            <a:off x="480689" y="1057759"/>
            <a:ext cx="4486275" cy="2051276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73"/>
          <p:cNvSpPr/>
          <p:nvPr/>
        </p:nvSpPr>
        <p:spPr>
          <a:xfrm>
            <a:off x="3106058" y="3150031"/>
            <a:ext cx="392685" cy="2673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73"/>
          <p:cNvSpPr txBox="1"/>
          <p:nvPr/>
        </p:nvSpPr>
        <p:spPr>
          <a:xfrm>
            <a:off x="368674" y="3472021"/>
            <a:ext cx="4829015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7" l="-787" r="0" t="-66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45" name="Google Shape;545;p73"/>
          <p:cNvSpPr txBox="1"/>
          <p:nvPr/>
        </p:nvSpPr>
        <p:spPr>
          <a:xfrm>
            <a:off x="368674" y="3204675"/>
            <a:ext cx="3105899" cy="4847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223" r="0" t="-384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46" name="Google Shape;546;p73"/>
          <p:cNvSpPr txBox="1"/>
          <p:nvPr/>
        </p:nvSpPr>
        <p:spPr>
          <a:xfrm>
            <a:off x="368674" y="3739861"/>
            <a:ext cx="3385302" cy="38885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381" l="-112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47" name="Google Shape;547;p73"/>
          <p:cNvSpPr txBox="1"/>
          <p:nvPr/>
        </p:nvSpPr>
        <p:spPr>
          <a:xfrm>
            <a:off x="368674" y="4154533"/>
            <a:ext cx="2458750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3333" l="-1544" r="0" t="-1000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48" name="Google Shape;548;p73"/>
          <p:cNvSpPr txBox="1"/>
          <p:nvPr/>
        </p:nvSpPr>
        <p:spPr>
          <a:xfrm>
            <a:off x="368674" y="4481969"/>
            <a:ext cx="3606901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667" l="-1053" r="0" t="-66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49" name="Google Shape;549;p73"/>
          <p:cNvSpPr txBox="1"/>
          <p:nvPr/>
        </p:nvSpPr>
        <p:spPr>
          <a:xfrm>
            <a:off x="368674" y="4758968"/>
            <a:ext cx="5994526" cy="38885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381" l="-634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50" name="Google Shape;550;p73"/>
          <p:cNvSpPr txBox="1"/>
          <p:nvPr/>
        </p:nvSpPr>
        <p:spPr>
          <a:xfrm>
            <a:off x="6236126" y="3150031"/>
            <a:ext cx="1723789" cy="708656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3947" l="-7692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556" name="Google Shape;556;p7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932" y="1380842"/>
            <a:ext cx="5824339" cy="326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br>
              <a:rPr lang="en" sz="1100"/>
            </a:br>
            <a:r>
              <a:rPr lang="en" sz="1100"/>
              <a:t>Lecture 5</a:t>
            </a:r>
            <a:endParaRPr sz="1100"/>
          </a:p>
        </p:txBody>
      </p:sp>
      <p:sp>
        <p:nvSpPr>
          <p:cNvPr id="562" name="Google Shape;562;p7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100"/>
              <a:t>Op Amp – Part 3</a:t>
            </a:r>
            <a:endParaRPr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100"/>
              <a:t>Solving Circuit with Ideal Op Amp + NF</a:t>
            </a:r>
            <a:endParaRPr sz="1100"/>
          </a:p>
        </p:txBody>
      </p:sp>
      <p:sp>
        <p:nvSpPr>
          <p:cNvPr id="568" name="Google Shape;568;p7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12" r="0" t="-1961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1100"/>
              <a:t> </a:t>
            </a:r>
            <a:endParaRPr sz="1100"/>
          </a:p>
        </p:txBody>
      </p:sp>
      <p:pic>
        <p:nvPicPr>
          <p:cNvPr id="569" name="Google Shape;569;p76"/>
          <p:cNvPicPr preferRelativeResize="0"/>
          <p:nvPr/>
        </p:nvPicPr>
        <p:blipFill rotWithShape="1">
          <a:blip r:embed="rId4">
            <a:alphaModFix/>
          </a:blip>
          <a:srcRect b="8029" l="0" r="0" t="9537"/>
          <a:stretch/>
        </p:blipFill>
        <p:spPr>
          <a:xfrm>
            <a:off x="431325" y="3562080"/>
            <a:ext cx="2404864" cy="139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100"/>
              <a:t>Review – Inverting Amplifier</a:t>
            </a:r>
            <a:endParaRPr sz="1100"/>
          </a:p>
        </p:txBody>
      </p:sp>
      <p:pic>
        <p:nvPicPr>
          <p:cNvPr descr="Diagram&#10;&#10;Description automatically generated" id="575" name="Google Shape;575;p7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9567" l="0" r="0" t="15174"/>
          <a:stretch/>
        </p:blipFill>
        <p:spPr>
          <a:xfrm>
            <a:off x="480689" y="1057759"/>
            <a:ext cx="4486275" cy="2051276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77"/>
          <p:cNvSpPr/>
          <p:nvPr/>
        </p:nvSpPr>
        <p:spPr>
          <a:xfrm>
            <a:off x="3106058" y="3150031"/>
            <a:ext cx="392685" cy="2673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77"/>
          <p:cNvSpPr txBox="1"/>
          <p:nvPr/>
        </p:nvSpPr>
        <p:spPr>
          <a:xfrm>
            <a:off x="368674" y="3472021"/>
            <a:ext cx="4829015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7" l="-787" r="0" t="-66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78" name="Google Shape;578;p77"/>
          <p:cNvSpPr txBox="1"/>
          <p:nvPr/>
        </p:nvSpPr>
        <p:spPr>
          <a:xfrm>
            <a:off x="368674" y="3204675"/>
            <a:ext cx="3105899" cy="4847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223" r="0" t="-384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79" name="Google Shape;579;p77"/>
          <p:cNvSpPr txBox="1"/>
          <p:nvPr/>
        </p:nvSpPr>
        <p:spPr>
          <a:xfrm>
            <a:off x="368674" y="3739861"/>
            <a:ext cx="3385302" cy="38885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381" l="-112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80" name="Google Shape;580;p77"/>
          <p:cNvSpPr txBox="1"/>
          <p:nvPr/>
        </p:nvSpPr>
        <p:spPr>
          <a:xfrm>
            <a:off x="368674" y="4154533"/>
            <a:ext cx="2458750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3333" l="-1544" r="0" t="-1000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81" name="Google Shape;581;p77"/>
          <p:cNvSpPr txBox="1"/>
          <p:nvPr/>
        </p:nvSpPr>
        <p:spPr>
          <a:xfrm>
            <a:off x="368674" y="4481969"/>
            <a:ext cx="3606901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667" l="-1053" r="0" t="-66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82" name="Google Shape;582;p77"/>
          <p:cNvSpPr txBox="1"/>
          <p:nvPr/>
        </p:nvSpPr>
        <p:spPr>
          <a:xfrm>
            <a:off x="368674" y="4758968"/>
            <a:ext cx="5994526" cy="38885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381" l="-634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83" name="Google Shape;583;p77"/>
          <p:cNvSpPr txBox="1"/>
          <p:nvPr/>
        </p:nvSpPr>
        <p:spPr>
          <a:xfrm>
            <a:off x="6236126" y="3150031"/>
            <a:ext cx="1723789" cy="708656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3947" l="-7692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100"/>
              <a:t>Example – Inverting Amplifier</a:t>
            </a:r>
            <a:endParaRPr sz="1100"/>
          </a:p>
        </p:txBody>
      </p:sp>
      <p:pic>
        <p:nvPicPr>
          <p:cNvPr descr="Diagram&#10;&#10;Description automatically generated" id="589" name="Google Shape;589;p78"/>
          <p:cNvPicPr preferRelativeResize="0"/>
          <p:nvPr/>
        </p:nvPicPr>
        <p:blipFill rotWithShape="1">
          <a:blip r:embed="rId3">
            <a:alphaModFix/>
          </a:blip>
          <a:srcRect b="17533" l="0" r="0" t="13318"/>
          <a:stretch/>
        </p:blipFill>
        <p:spPr>
          <a:xfrm>
            <a:off x="586028" y="1221522"/>
            <a:ext cx="3985973" cy="2095941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78"/>
          <p:cNvSpPr/>
          <p:nvPr/>
        </p:nvSpPr>
        <p:spPr>
          <a:xfrm>
            <a:off x="3106058" y="3150031"/>
            <a:ext cx="392685" cy="2673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78"/>
          <p:cNvSpPr txBox="1"/>
          <p:nvPr/>
        </p:nvSpPr>
        <p:spPr>
          <a:xfrm>
            <a:off x="368674" y="3472021"/>
            <a:ext cx="4829015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7" l="-787" r="0" t="-66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92" name="Google Shape;592;p78"/>
          <p:cNvSpPr txBox="1"/>
          <p:nvPr/>
        </p:nvSpPr>
        <p:spPr>
          <a:xfrm>
            <a:off x="368674" y="3204675"/>
            <a:ext cx="3105899" cy="4847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223" r="0" t="-384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93" name="Google Shape;593;p78"/>
          <p:cNvSpPr txBox="1"/>
          <p:nvPr/>
        </p:nvSpPr>
        <p:spPr>
          <a:xfrm>
            <a:off x="368674" y="3739861"/>
            <a:ext cx="3523080" cy="36423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2500" l="-1079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94" name="Google Shape;594;p78"/>
          <p:cNvSpPr txBox="1"/>
          <p:nvPr/>
        </p:nvSpPr>
        <p:spPr>
          <a:xfrm>
            <a:off x="368674" y="4154533"/>
            <a:ext cx="2458750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3333" l="-1544" r="0" t="-1000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95" name="Google Shape;595;p78"/>
          <p:cNvSpPr txBox="1"/>
          <p:nvPr/>
        </p:nvSpPr>
        <p:spPr>
          <a:xfrm>
            <a:off x="368674" y="4481969"/>
            <a:ext cx="3489128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667" l="-1087" r="0" t="-66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96" name="Google Shape;596;p78"/>
          <p:cNvSpPr txBox="1"/>
          <p:nvPr/>
        </p:nvSpPr>
        <p:spPr>
          <a:xfrm>
            <a:off x="368674" y="4758968"/>
            <a:ext cx="5566331" cy="34721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158" l="-683" r="-512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97" name="Google Shape;597;p78"/>
          <p:cNvSpPr txBox="1"/>
          <p:nvPr/>
        </p:nvSpPr>
        <p:spPr>
          <a:xfrm>
            <a:off x="6140518" y="3617684"/>
            <a:ext cx="2634809" cy="36433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7500" l="-1439" r="-1078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100"/>
              <a:t>Example</a:t>
            </a:r>
            <a:endParaRPr sz="1100"/>
          </a:p>
        </p:txBody>
      </p:sp>
      <p:pic>
        <p:nvPicPr>
          <p:cNvPr id="603" name="Google Shape;603;p7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932" y="1380842"/>
            <a:ext cx="5824339" cy="326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100"/>
              <a:t>Inverting Adder</a:t>
            </a:r>
            <a:endParaRPr sz="1100"/>
          </a:p>
        </p:txBody>
      </p:sp>
      <p:sp>
        <p:nvSpPr>
          <p:cNvPr id="609" name="Google Shape;609;p80"/>
          <p:cNvSpPr/>
          <p:nvPr/>
        </p:nvSpPr>
        <p:spPr>
          <a:xfrm>
            <a:off x="3106058" y="3150031"/>
            <a:ext cx="392685" cy="2673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80"/>
          <p:cNvSpPr txBox="1"/>
          <p:nvPr/>
        </p:nvSpPr>
        <p:spPr>
          <a:xfrm>
            <a:off x="368673" y="1211585"/>
            <a:ext cx="4872007" cy="33682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45" r="-845" t="-678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pSp>
        <p:nvGrpSpPr>
          <p:cNvPr id="611" name="Google Shape;611;p80"/>
          <p:cNvGrpSpPr/>
          <p:nvPr/>
        </p:nvGrpSpPr>
        <p:grpSpPr>
          <a:xfrm>
            <a:off x="5741765" y="1322326"/>
            <a:ext cx="3064189" cy="2446539"/>
            <a:chOff x="7655687" y="1763101"/>
            <a:chExt cx="4085585" cy="3262052"/>
          </a:xfrm>
        </p:grpSpPr>
        <p:pic>
          <p:nvPicPr>
            <p:cNvPr id="612" name="Google Shape;612;p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02440" y="1763101"/>
              <a:ext cx="3538832" cy="32620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80"/>
            <p:cNvSpPr/>
            <p:nvPr/>
          </p:nvSpPr>
          <p:spPr>
            <a:xfrm>
              <a:off x="7655687" y="4548994"/>
              <a:ext cx="552780" cy="46166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8948" l="0" r="-21978" t="-10526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  <p:sp>
          <p:nvSpPr>
            <p:cNvPr id="614" name="Google Shape;614;p80"/>
            <p:cNvSpPr/>
            <p:nvPr/>
          </p:nvSpPr>
          <p:spPr>
            <a:xfrm>
              <a:off x="7655687" y="3860933"/>
              <a:ext cx="559897" cy="46166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8948" l="0" r="-21739" t="-10526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  <p:sp>
          <p:nvSpPr>
            <p:cNvPr id="615" name="Google Shape;615;p80"/>
            <p:cNvSpPr/>
            <p:nvPr/>
          </p:nvSpPr>
          <p:spPr>
            <a:xfrm>
              <a:off x="7655687" y="3227190"/>
              <a:ext cx="559897" cy="46166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28948" l="0" r="-21739" t="-10526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  <p:sp>
          <p:nvSpPr>
            <p:cNvPr id="616" name="Google Shape;616;p80"/>
            <p:cNvSpPr/>
            <p:nvPr/>
          </p:nvSpPr>
          <p:spPr>
            <a:xfrm>
              <a:off x="7673794" y="2566288"/>
              <a:ext cx="546753" cy="46166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28948" l="0" r="-22222" t="-10526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</p:grpSp>
      <p:sp>
        <p:nvSpPr>
          <p:cNvPr id="617" name="Google Shape;617;p80"/>
          <p:cNvSpPr/>
          <p:nvPr/>
        </p:nvSpPr>
        <p:spPr>
          <a:xfrm>
            <a:off x="368673" y="4651484"/>
            <a:ext cx="4597653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4589" l="0" r="-1294" t="-819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100"/>
              <a:t>Example</a:t>
            </a:r>
            <a:endParaRPr sz="1100"/>
          </a:p>
        </p:txBody>
      </p:sp>
      <p:sp>
        <p:nvSpPr>
          <p:cNvPr id="623" name="Google Shape;623;p81"/>
          <p:cNvSpPr/>
          <p:nvPr/>
        </p:nvSpPr>
        <p:spPr>
          <a:xfrm>
            <a:off x="756776" y="2454079"/>
            <a:ext cx="3772523" cy="137941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987" l="-1576" r="-1818" t="-1993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24" name="Google Shape;624;p81"/>
          <p:cNvSpPr/>
          <p:nvPr/>
        </p:nvSpPr>
        <p:spPr>
          <a:xfrm>
            <a:off x="684668" y="1094641"/>
            <a:ext cx="514350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the following function using op-amps:</a:t>
            </a:r>
            <a:endParaRPr sz="1100"/>
          </a:p>
        </p:txBody>
      </p:sp>
      <p:sp>
        <p:nvSpPr>
          <p:cNvPr id="625" name="Google Shape;625;p81"/>
          <p:cNvSpPr/>
          <p:nvPr/>
        </p:nvSpPr>
        <p:spPr>
          <a:xfrm>
            <a:off x="856118" y="1592515"/>
            <a:ext cx="5143500" cy="40395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112" l="0" r="0" t="-8988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100"/>
              <a:t>Op Amp as Differentiator</a:t>
            </a:r>
            <a:endParaRPr sz="1100"/>
          </a:p>
        </p:txBody>
      </p:sp>
      <p:pic>
        <p:nvPicPr>
          <p:cNvPr id="631" name="Google Shape;63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175" y="1077212"/>
            <a:ext cx="2628895" cy="1864493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82"/>
          <p:cNvSpPr txBox="1"/>
          <p:nvPr/>
        </p:nvSpPr>
        <p:spPr>
          <a:xfrm>
            <a:off x="368674" y="3227590"/>
            <a:ext cx="4829015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9" l="-852" r="-663" t="-819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33" name="Google Shape;633;p82"/>
          <p:cNvSpPr txBox="1"/>
          <p:nvPr/>
        </p:nvSpPr>
        <p:spPr>
          <a:xfrm>
            <a:off x="368674" y="2939875"/>
            <a:ext cx="3105899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-1325" r="-1620" t="-819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34" name="Google Shape;634;p82"/>
          <p:cNvSpPr txBox="1"/>
          <p:nvPr/>
        </p:nvSpPr>
        <p:spPr>
          <a:xfrm>
            <a:off x="368674" y="3502220"/>
            <a:ext cx="4054475" cy="37337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7317" l="-1016" r="-101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35" name="Google Shape;635;p82"/>
          <p:cNvSpPr txBox="1"/>
          <p:nvPr/>
        </p:nvSpPr>
        <p:spPr>
          <a:xfrm>
            <a:off x="359668" y="3872978"/>
            <a:ext cx="3202126" cy="3461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7895" l="-1286" r="-1429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36" name="Google Shape;636;p82"/>
          <p:cNvSpPr txBox="1"/>
          <p:nvPr/>
        </p:nvSpPr>
        <p:spPr>
          <a:xfrm>
            <a:off x="375464" y="4242800"/>
            <a:ext cx="3190441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-1146" r="-1576" t="-819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37" name="Google Shape;637;p82"/>
          <p:cNvSpPr/>
          <p:nvPr/>
        </p:nvSpPr>
        <p:spPr>
          <a:xfrm>
            <a:off x="2705535" y="4556357"/>
            <a:ext cx="4167680" cy="53466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-1537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pSp>
        <p:nvGrpSpPr>
          <p:cNvPr id="638" name="Google Shape;638;p82"/>
          <p:cNvGrpSpPr/>
          <p:nvPr/>
        </p:nvGrpSpPr>
        <p:grpSpPr>
          <a:xfrm>
            <a:off x="6256444" y="1077212"/>
            <a:ext cx="2274682" cy="2224907"/>
            <a:chOff x="8438031" y="575759"/>
            <a:chExt cx="3032910" cy="2966543"/>
          </a:xfrm>
        </p:grpSpPr>
        <p:grpSp>
          <p:nvGrpSpPr>
            <p:cNvPr id="639" name="Google Shape;639;p82"/>
            <p:cNvGrpSpPr/>
            <p:nvPr/>
          </p:nvGrpSpPr>
          <p:grpSpPr>
            <a:xfrm>
              <a:off x="8438031" y="1037424"/>
              <a:ext cx="3032910" cy="2504878"/>
              <a:chOff x="8356349" y="672888"/>
              <a:chExt cx="3032910" cy="2504878"/>
            </a:xfrm>
          </p:grpSpPr>
          <p:grpSp>
            <p:nvGrpSpPr>
              <p:cNvPr id="640" name="Google Shape;640;p82"/>
              <p:cNvGrpSpPr/>
              <p:nvPr/>
            </p:nvGrpSpPr>
            <p:grpSpPr>
              <a:xfrm>
                <a:off x="8675311" y="672888"/>
                <a:ext cx="2046702" cy="1532919"/>
                <a:chOff x="8806745" y="503936"/>
                <a:chExt cx="2046702" cy="1532919"/>
              </a:xfrm>
            </p:grpSpPr>
            <p:pic>
              <p:nvPicPr>
                <p:cNvPr descr="File:Capacitor Symbol.svg - Wikimedia Commons" id="641" name="Google Shape;641;p82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9379390" y="868472"/>
                  <a:ext cx="872504" cy="7977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42" name="Google Shape;642;p82"/>
                <p:cNvSpPr/>
                <p:nvPr/>
              </p:nvSpPr>
              <p:spPr>
                <a:xfrm>
                  <a:off x="10372994" y="1082665"/>
                  <a:ext cx="480453" cy="369332"/>
                </a:xfrm>
                <a:prstGeom prst="rect">
                  <a:avLst/>
                </a:prstGeom>
                <a:blipFill rotWithShape="1">
                  <a:blip r:embed="rId11">
                    <a:alphaModFix/>
                  </a:blip>
                  <a:stretch>
                    <a:fillRect b="-24589" l="0" r="-15386" t="-8197"/>
                  </a:stretch>
                </a:blip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4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sz="1100"/>
                </a:p>
              </p:txBody>
            </p:sp>
            <p:sp>
              <p:nvSpPr>
                <p:cNvPr id="643" name="Google Shape;643;p82"/>
                <p:cNvSpPr/>
                <p:nvPr/>
              </p:nvSpPr>
              <p:spPr>
                <a:xfrm>
                  <a:off x="8806745" y="1086108"/>
                  <a:ext cx="480453" cy="369332"/>
                </a:xfrm>
                <a:prstGeom prst="rect">
                  <a:avLst/>
                </a:prstGeom>
                <a:blipFill rotWithShape="1">
                  <a:blip r:embed="rId12">
                    <a:alphaModFix/>
                  </a:blip>
                  <a:stretch>
                    <a:fillRect b="-26667" l="0" r="-13924" t="-8334"/>
                  </a:stretch>
                </a:blip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4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sz="1100"/>
                </a:p>
              </p:txBody>
            </p:sp>
            <p:sp>
              <p:nvSpPr>
                <p:cNvPr id="644" name="Google Shape;644;p82"/>
                <p:cNvSpPr/>
                <p:nvPr/>
              </p:nvSpPr>
              <p:spPr>
                <a:xfrm>
                  <a:off x="9575415" y="1667523"/>
                  <a:ext cx="479875" cy="369332"/>
                </a:xfrm>
                <a:prstGeom prst="rect">
                  <a:avLst/>
                </a:prstGeom>
                <a:blipFill rotWithShape="1">
                  <a:blip r:embed="rId13">
                    <a:alphaModFix/>
                  </a:blip>
                  <a:stretch>
                    <a:fillRect b="-24589" l="0" r="-15190" t="-8197"/>
                  </a:stretch>
                </a:blip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4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sz="1100"/>
                </a:p>
              </p:txBody>
            </p:sp>
            <p:sp>
              <p:nvSpPr>
                <p:cNvPr id="645" name="Google Shape;645;p82"/>
                <p:cNvSpPr/>
                <p:nvPr/>
              </p:nvSpPr>
              <p:spPr>
                <a:xfrm>
                  <a:off x="9370070" y="1510370"/>
                  <a:ext cx="410690" cy="369332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24589" l="0" r="-19119" t="-8197"/>
                  </a:stretch>
                </a:blip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4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sz="1100"/>
                </a:p>
              </p:txBody>
            </p:sp>
            <p:sp>
              <p:nvSpPr>
                <p:cNvPr id="646" name="Google Shape;646;p82"/>
                <p:cNvSpPr/>
                <p:nvPr/>
              </p:nvSpPr>
              <p:spPr>
                <a:xfrm>
                  <a:off x="9880575" y="1510370"/>
                  <a:ext cx="410690" cy="369332"/>
                </a:xfrm>
                <a:prstGeom prst="rect">
                  <a:avLst/>
                </a:prstGeom>
                <a:blipFill rotWithShape="1">
                  <a:blip r:embed="rId15">
                    <a:alphaModFix/>
                  </a:blip>
                  <a:stretch>
                    <a:fillRect b="-24589" l="0" r="-19403" t="-8197"/>
                  </a:stretch>
                </a:blip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4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sz="1100"/>
                </a:p>
              </p:txBody>
            </p:sp>
            <p:cxnSp>
              <p:nvCxnSpPr>
                <p:cNvPr id="647" name="Google Shape;647;p82"/>
                <p:cNvCxnSpPr>
                  <a:endCxn id="641" idx="0"/>
                </p:cNvCxnSpPr>
                <p:nvPr/>
              </p:nvCxnSpPr>
              <p:spPr>
                <a:xfrm>
                  <a:off x="9370142" y="868472"/>
                  <a:ext cx="4455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med" w="med" type="stealth"/>
                </a:ln>
              </p:spPr>
            </p:cxnSp>
            <p:sp>
              <p:nvSpPr>
                <p:cNvPr id="648" name="Google Shape;648;p82"/>
                <p:cNvSpPr/>
                <p:nvPr/>
              </p:nvSpPr>
              <p:spPr>
                <a:xfrm>
                  <a:off x="9367442" y="503936"/>
                  <a:ext cx="413318" cy="369332"/>
                </a:xfrm>
                <a:prstGeom prst="rect">
                  <a:avLst/>
                </a:prstGeom>
                <a:blipFill rotWithShape="1">
                  <a:blip r:embed="rId16">
                    <a:alphaModFix/>
                  </a:blip>
                  <a:stretch>
                    <a:fillRect b="-24589" l="0" r="-19119" t="-8197"/>
                  </a:stretch>
                </a:blip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400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sz="1100"/>
                </a:p>
              </p:txBody>
            </p:sp>
          </p:grpSp>
          <p:sp>
            <p:nvSpPr>
              <p:cNvPr id="649" name="Google Shape;649;p82"/>
              <p:cNvSpPr/>
              <p:nvPr/>
            </p:nvSpPr>
            <p:spPr>
              <a:xfrm>
                <a:off x="8473086" y="2335620"/>
                <a:ext cx="2820067" cy="619913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0" l="0" r="-2597" t="0"/>
                </a:stretch>
              </a:blip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100"/>
              </a:p>
            </p:txBody>
          </p:sp>
          <p:sp>
            <p:nvSpPr>
              <p:cNvPr id="650" name="Google Shape;650;p82"/>
              <p:cNvSpPr/>
              <p:nvPr/>
            </p:nvSpPr>
            <p:spPr>
              <a:xfrm>
                <a:off x="8356349" y="672888"/>
                <a:ext cx="3032910" cy="2504878"/>
              </a:xfrm>
              <a:prstGeom prst="rect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1" name="Google Shape;651;p82"/>
            <p:cNvSpPr/>
            <p:nvPr/>
          </p:nvSpPr>
          <p:spPr>
            <a:xfrm>
              <a:off x="8738223" y="575759"/>
              <a:ext cx="256179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Review – Capacitor</a:t>
              </a:r>
              <a:endParaRPr sz="11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100"/>
              <a:t>Op Amp as Integrator</a:t>
            </a:r>
            <a:endParaRPr sz="1100"/>
          </a:p>
        </p:txBody>
      </p:sp>
      <p:sp>
        <p:nvSpPr>
          <p:cNvPr id="657" name="Google Shape;657;p83"/>
          <p:cNvSpPr txBox="1"/>
          <p:nvPr/>
        </p:nvSpPr>
        <p:spPr>
          <a:xfrm>
            <a:off x="417734" y="1757338"/>
            <a:ext cx="4829015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589" l="-757" r="-662" t="-819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58" name="Google Shape;658;p83"/>
          <p:cNvSpPr txBox="1"/>
          <p:nvPr/>
        </p:nvSpPr>
        <p:spPr>
          <a:xfrm>
            <a:off x="417734" y="1408515"/>
            <a:ext cx="3105899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9" l="-1176" r="-1618" t="-819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59" name="Google Shape;659;p83"/>
          <p:cNvSpPr txBox="1"/>
          <p:nvPr/>
        </p:nvSpPr>
        <p:spPr>
          <a:xfrm>
            <a:off x="424524" y="2131309"/>
            <a:ext cx="3020539" cy="34610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7895" l="-1362" r="-75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60" name="Google Shape;660;p83"/>
          <p:cNvSpPr txBox="1"/>
          <p:nvPr/>
        </p:nvSpPr>
        <p:spPr>
          <a:xfrm>
            <a:off x="424524" y="2887973"/>
            <a:ext cx="3190441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7" l="-1289" r="-1433" t="-833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61" name="Google Shape;661;p83"/>
          <p:cNvSpPr/>
          <p:nvPr/>
        </p:nvSpPr>
        <p:spPr>
          <a:xfrm>
            <a:off x="2388370" y="3307541"/>
            <a:ext cx="2035365" cy="153022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90" l="0" r="-4933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pic>
        <p:nvPicPr>
          <p:cNvPr id="662" name="Google Shape;662;p8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9" y="955129"/>
            <a:ext cx="2799491" cy="2168318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83"/>
          <p:cNvSpPr txBox="1"/>
          <p:nvPr/>
        </p:nvSpPr>
        <p:spPr>
          <a:xfrm>
            <a:off x="417734" y="2473301"/>
            <a:ext cx="4267322" cy="37337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7317" l="-857" r="-107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100"/>
              <a:t>Example</a:t>
            </a:r>
            <a:endParaRPr sz="1100"/>
          </a:p>
        </p:txBody>
      </p:sp>
      <p:sp>
        <p:nvSpPr>
          <p:cNvPr id="669" name="Google Shape;669;p84"/>
          <p:cNvSpPr/>
          <p:nvPr/>
        </p:nvSpPr>
        <p:spPr>
          <a:xfrm>
            <a:off x="682971" y="1228302"/>
            <a:ext cx="7797863" cy="34624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666" l="-879" r="0" t="-1066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pic>
        <p:nvPicPr>
          <p:cNvPr id="670" name="Google Shape;670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43" y="1794494"/>
            <a:ext cx="2828925" cy="19645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1" name="Google Shape;671;p84"/>
          <p:cNvGrpSpPr/>
          <p:nvPr/>
        </p:nvGrpSpPr>
        <p:grpSpPr>
          <a:xfrm>
            <a:off x="4131455" y="1955749"/>
            <a:ext cx="4740947" cy="1671478"/>
            <a:chOff x="5508607" y="2607665"/>
            <a:chExt cx="6321263" cy="2228638"/>
          </a:xfrm>
        </p:grpSpPr>
        <p:sp>
          <p:nvSpPr>
            <p:cNvPr id="672" name="Google Shape;672;p84"/>
            <p:cNvSpPr/>
            <p:nvPr/>
          </p:nvSpPr>
          <p:spPr>
            <a:xfrm>
              <a:off x="5508607" y="2607665"/>
              <a:ext cx="6020174" cy="173226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352" l="-1621" r="-709" t="-2816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  <p:sp>
          <p:nvSpPr>
            <p:cNvPr id="673" name="Google Shape;673;p84"/>
            <p:cNvSpPr/>
            <p:nvPr/>
          </p:nvSpPr>
          <p:spPr>
            <a:xfrm>
              <a:off x="5680623" y="4374638"/>
              <a:ext cx="6149247" cy="46166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30666" l="0" r="-1586" t="-10666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100"/>
              <a:t>Example</a:t>
            </a:r>
            <a:endParaRPr sz="1100"/>
          </a:p>
        </p:txBody>
      </p:sp>
      <p:sp>
        <p:nvSpPr>
          <p:cNvPr id="679" name="Google Shape;679;p85"/>
          <p:cNvSpPr/>
          <p:nvPr/>
        </p:nvSpPr>
        <p:spPr>
          <a:xfrm>
            <a:off x="682971" y="1038182"/>
            <a:ext cx="779786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circuit below to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 expression of f in terms of inputs x and y.</a:t>
            </a:r>
            <a:endParaRPr sz="1100"/>
          </a:p>
        </p:txBody>
      </p:sp>
      <p:pic>
        <p:nvPicPr>
          <p:cNvPr id="680" name="Google Shape;68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910" y="1574551"/>
            <a:ext cx="5390915" cy="2085165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85"/>
          <p:cNvSpPr/>
          <p:nvPr/>
        </p:nvSpPr>
        <p:spPr>
          <a:xfrm>
            <a:off x="587910" y="3798565"/>
            <a:ext cx="6931802" cy="75299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243" l="-1055" r="-660" t="-4848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100"/>
              <a:t>Op Amp as Comparator</a:t>
            </a:r>
            <a:endParaRPr sz="1100"/>
          </a:p>
        </p:txBody>
      </p:sp>
      <p:sp>
        <p:nvSpPr>
          <p:cNvPr id="687" name="Google Shape;687;p8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A comparator compares two voltages to determine which is larger. </a:t>
            </a:r>
            <a:endParaRPr sz="1100"/>
          </a:p>
        </p:txBody>
      </p:sp>
      <p:pic>
        <p:nvPicPr>
          <p:cNvPr descr="Diagram&#10;&#10;Description automatically generated" id="688" name="Google Shape;68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345" y="1964419"/>
            <a:ext cx="8769655" cy="1902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