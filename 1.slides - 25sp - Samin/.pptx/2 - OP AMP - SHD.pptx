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8" roundtripDataSignature="AMtx7mh7bjQyzr+3V9qY+63ecVOrXRC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25F28D-A42F-4931-BFEE-84CF95024A8A}">
  <a:tblStyle styleId="{DF25F28D-A42F-4931-BFEE-84CF95024A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customschemas.google.com/relationships/presentationmetadata" Target="metadata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h142865916b425258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h142865916b425258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142865916b425258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h142865916b425258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h142865916b425258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2" name="Google Shape;542;h142865916b425258_2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142865916b425258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h142865916b425258_2_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h142865916b425258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1" name="Google Shape;591;h142865916b425258_2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h142865916b425258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9" name="Google Shape;609;h142865916b425258_2_1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h142865916b425258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6" name="Google Shape;636;h142865916b425258_2_1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h142865916b425258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9" name="Google Shape;669;h142865916b425258_2_2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h142865916b425258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7" name="Google Shape;677;h142865916b425258_2_2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h142865916b425258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h142865916b425258_2_2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h142865916b425258_2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1" name="Google Shape;701;h142865916b425258_2_2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142865916b425258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8" name="Google Shape;708;h142865916b425258_2_2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42865916b425258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5" name="Google Shape;715;h142865916b425258_2_2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h142865916b425258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3" name="Google Shape;723;h142865916b425258_2_2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h142865916b42525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9" name="Google Shape;729;h142865916b425258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h142865916b425258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4" name="Google Shape;734;h142865916b425258_4_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h142865916b425258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0" name="Google Shape;740;h142865916b425258_4_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h142865916b425258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2" name="Google Shape;752;h142865916b425258_4_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h142865916b425258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4" name="Google Shape;764;h142865916b425258_4_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h142865916b425258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2" name="Google Shape;772;h142865916b425258_4_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h142865916b425258_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1" name="Google Shape;781;h142865916b425258_4_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h142865916b425258_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3" name="Google Shape;793;h142865916b425258_4_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h142865916b425258_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9" name="Google Shape;829;h142865916b425258_4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h142865916b425258_4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5" name="Google Shape;865;h142865916b425258_4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h142865916b425258_4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4" name="Google Shape;874;h142865916b425258_4_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h142865916b425258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0" name="Google Shape;880;h142865916b425258_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h142865916b425258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5" name="Google Shape;885;h142865916b425258_6_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h142865916b425258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1" name="Google Shape;891;h142865916b425258_6_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h142865916b425258_6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3" name="Google Shape;903;h142865916b425258_6_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h142865916b425258_6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5" name="Google Shape;915;h142865916b425258_6_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h142865916b425258_6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4" name="Google Shape;924;h142865916b425258_6_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h142865916b425258_6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7" name="Google Shape;947;h142865916b425258_6_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h142865916b425258_6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7" name="Google Shape;977;h142865916b425258_6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h142865916b425258_6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9" name="Google Shape;1009;h142865916b425258_6_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h142865916b425258_6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4" name="Google Shape;1024;h142865916b425258_6_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h142865916b425258_6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5" name="Google Shape;1035;h142865916b425258_6_1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h142865916b425258_6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2" name="Google Shape;1062;h142865916b425258_6_1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h142865916b425258_6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6" name="Google Shape;1086;h142865916b425258_6_1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h142865916b425258_6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7" name="Google Shape;1107;h142865916b425258_6_2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h142865916b425258_6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8" name="Google Shape;1128;h142865916b425258_6_2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0"/>
            <a:ext cx="12182209" cy="685799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ectronics protoboard" id="17" name="Google Shape;17;p23"/>
          <p:cNvPicPr preferRelativeResize="0"/>
          <p:nvPr/>
        </p:nvPicPr>
        <p:blipFill rotWithShape="1">
          <a:blip r:embed="rId2">
            <a:alphaModFix amt="49000"/>
          </a:blip>
          <a:srcRect b="0" l="0" r="0" t="15730"/>
          <a:stretch/>
        </p:blipFill>
        <p:spPr>
          <a:xfrm>
            <a:off x="979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3"/>
          <p:cNvSpPr txBox="1"/>
          <p:nvPr/>
        </p:nvSpPr>
        <p:spPr>
          <a:xfrm>
            <a:off x="640861" y="4863624"/>
            <a:ext cx="10900485" cy="1492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Shadman Shahid (SHD)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Lecturer, Department of Computer Science and Engineering, School of Data and Sciences,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Email: shadman9085@gmail.com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3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CSE251: Electronic Devices and Circuits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42865916b425258_2_6"/>
          <p:cNvSpPr/>
          <p:nvPr/>
        </p:nvSpPr>
        <p:spPr>
          <a:xfrm>
            <a:off x="0" y="0"/>
            <a:ext cx="12182209" cy="685799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ectronics protoboard" id="95" name="Google Shape;95;h142865916b425258_2_6"/>
          <p:cNvPicPr preferRelativeResize="0"/>
          <p:nvPr/>
        </p:nvPicPr>
        <p:blipFill rotWithShape="1">
          <a:blip r:embed="rId2">
            <a:alphaModFix amt="49000"/>
          </a:blip>
          <a:srcRect b="0" l="0" r="0" t="15730"/>
          <a:stretch/>
        </p:blipFill>
        <p:spPr>
          <a:xfrm>
            <a:off x="979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h142865916b425258_2_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h142865916b425258_2_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h142865916b425258_2_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h142865916b425258_2_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h142865916b425258_2_6"/>
          <p:cNvSpPr txBox="1"/>
          <p:nvPr/>
        </p:nvSpPr>
        <p:spPr>
          <a:xfrm>
            <a:off x="640861" y="4863624"/>
            <a:ext cx="10900485" cy="1492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Shadman Shahid (SHD)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Lecturer, Department of Computer Science and Engineering, School of Data and Sciences,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Email: shadman9085@gmail.com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h142865916b425258_2_6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CSE251: Electronic Devices and Circuits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142865916b425258_2_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h142865916b425258_2_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h142865916b425258_2_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h142865916b425258_2_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h142865916b425258_2_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42865916b425258_2_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h142865916b425258_2_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1" name="Google Shape;111;h142865916b425258_2_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h142865916b425258_2_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h142865916b425258_2_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142865916b425258_2_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h142865916b425258_2_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h142865916b425258_2_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h142865916b425258_2_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h142865916b425258_2_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142865916b425258_2_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h142865916b425258_2_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h142865916b425258_2_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h142865916b425258_2_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h142865916b425258_2_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h142865916b425258_2_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42865916b425258_2_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h142865916b425258_2_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0" name="Google Shape;130;h142865916b425258_2_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h142865916b425258_2_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h142865916b425258_2_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h142865916b425258_2_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h142865916b425258_2_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h142865916b425258_2_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142865916b425258_2_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h142865916b425258_2_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h142865916b425258_2_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h142865916b425258_2_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142865916b425258_2_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h142865916b425258_2_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h142865916b425258_2_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142865916b425258_2_5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h142865916b425258_2_5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8" name="Google Shape;148;h142865916b425258_2_5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h142865916b425258_2_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h142865916b425258_2_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h142865916b425258_2_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142865916b425258_2_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h142865916b425258_2_6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h142865916b425258_2_6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h142865916b425258_2_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h142865916b425258_2_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h142865916b425258_2_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42865916b425258_2_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h142865916b425258_2_7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h142865916b425258_2_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h142865916b425258_2_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h142865916b425258_2_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142865916b425258_2_7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h142865916b425258_2_7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h142865916b425258_2_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h142865916b425258_2_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h142865916b425258_2_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142865916b425258_2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h142865916b425258_2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h142865916b425258_2_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h142865916b425258_2_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h142865916b425258_2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47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8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8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1.png"/><Relationship Id="rId13" Type="http://schemas.openxmlformats.org/officeDocument/2006/relationships/image" Target="../media/image34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Relationship Id="rId15" Type="http://schemas.openxmlformats.org/officeDocument/2006/relationships/image" Target="../media/image33.png"/><Relationship Id="rId14" Type="http://schemas.openxmlformats.org/officeDocument/2006/relationships/image" Target="../media/image36.png"/><Relationship Id="rId5" Type="http://schemas.openxmlformats.org/officeDocument/2006/relationships/image" Target="../media/image41.png"/><Relationship Id="rId6" Type="http://schemas.openxmlformats.org/officeDocument/2006/relationships/image" Target="../media/image26.png"/><Relationship Id="rId7" Type="http://schemas.openxmlformats.org/officeDocument/2006/relationships/image" Target="../media/image32.png"/><Relationship Id="rId8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5.png"/><Relationship Id="rId1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jpg"/><Relationship Id="rId4" Type="http://schemas.openxmlformats.org/officeDocument/2006/relationships/image" Target="../media/image39.png"/><Relationship Id="rId9" Type="http://schemas.openxmlformats.org/officeDocument/2006/relationships/image" Target="../media/image43.png"/><Relationship Id="rId5" Type="http://schemas.openxmlformats.org/officeDocument/2006/relationships/image" Target="../media/image58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67.png"/><Relationship Id="rId13" Type="http://schemas.openxmlformats.org/officeDocument/2006/relationships/image" Target="../media/image55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Relationship Id="rId14" Type="http://schemas.openxmlformats.org/officeDocument/2006/relationships/image" Target="../media/image61.png"/><Relationship Id="rId5" Type="http://schemas.openxmlformats.org/officeDocument/2006/relationships/image" Target="../media/image76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Relationship Id="rId4" Type="http://schemas.openxmlformats.org/officeDocument/2006/relationships/image" Target="../media/image69.png"/><Relationship Id="rId5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png"/><Relationship Id="rId10" Type="http://schemas.openxmlformats.org/officeDocument/2006/relationships/image" Target="../media/image77.png"/><Relationship Id="rId13" Type="http://schemas.openxmlformats.org/officeDocument/2006/relationships/image" Target="../media/image73.png"/><Relationship Id="rId1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Relationship Id="rId9" Type="http://schemas.openxmlformats.org/officeDocument/2006/relationships/image" Target="../media/image62.png"/><Relationship Id="rId15" Type="http://schemas.openxmlformats.org/officeDocument/2006/relationships/image" Target="../media/image70.png"/><Relationship Id="rId14" Type="http://schemas.openxmlformats.org/officeDocument/2006/relationships/image" Target="../media/image122.png"/><Relationship Id="rId16" Type="http://schemas.openxmlformats.org/officeDocument/2006/relationships/image" Target="../media/image82.png"/><Relationship Id="rId5" Type="http://schemas.openxmlformats.org/officeDocument/2006/relationships/image" Target="../media/image155.png"/><Relationship Id="rId6" Type="http://schemas.openxmlformats.org/officeDocument/2006/relationships/image" Target="../media/image66.png"/><Relationship Id="rId7" Type="http://schemas.openxmlformats.org/officeDocument/2006/relationships/image" Target="../media/image86.png"/><Relationship Id="rId8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1.png"/><Relationship Id="rId10" Type="http://schemas.openxmlformats.org/officeDocument/2006/relationships/image" Target="../media/image109.png"/><Relationship Id="rId13" Type="http://schemas.openxmlformats.org/officeDocument/2006/relationships/image" Target="../media/image78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83.png"/><Relationship Id="rId15" Type="http://schemas.openxmlformats.org/officeDocument/2006/relationships/image" Target="../media/image101.png"/><Relationship Id="rId14" Type="http://schemas.openxmlformats.org/officeDocument/2006/relationships/image" Target="../media/image97.png"/><Relationship Id="rId16" Type="http://schemas.openxmlformats.org/officeDocument/2006/relationships/image" Target="../media/image79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84.png"/><Relationship Id="rId8" Type="http://schemas.openxmlformats.org/officeDocument/2006/relationships/image" Target="../media/image1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80.png"/><Relationship Id="rId5" Type="http://schemas.openxmlformats.org/officeDocument/2006/relationships/image" Target="../media/image100.png"/><Relationship Id="rId6" Type="http://schemas.openxmlformats.org/officeDocument/2006/relationships/image" Target="../media/image108.png"/><Relationship Id="rId7" Type="http://schemas.openxmlformats.org/officeDocument/2006/relationships/image" Target="../media/image85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61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55.png"/><Relationship Id="rId5" Type="http://schemas.openxmlformats.org/officeDocument/2006/relationships/image" Target="../media/image103.png"/><Relationship Id="rId6" Type="http://schemas.openxmlformats.org/officeDocument/2006/relationships/image" Target="../media/image87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68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5.png"/><Relationship Id="rId10" Type="http://schemas.openxmlformats.org/officeDocument/2006/relationships/image" Target="../media/image106.png"/><Relationship Id="rId13" Type="http://schemas.openxmlformats.org/officeDocument/2006/relationships/image" Target="../media/image204.png"/><Relationship Id="rId12" Type="http://schemas.openxmlformats.org/officeDocument/2006/relationships/image" Target="../media/image107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8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Relationship Id="rId14" Type="http://schemas.openxmlformats.org/officeDocument/2006/relationships/image" Target="../media/image112.png"/><Relationship Id="rId5" Type="http://schemas.openxmlformats.org/officeDocument/2006/relationships/image" Target="../media/image76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4.png"/><Relationship Id="rId4" Type="http://schemas.openxmlformats.org/officeDocument/2006/relationships/image" Target="../media/image111.png"/><Relationship Id="rId9" Type="http://schemas.openxmlformats.org/officeDocument/2006/relationships/image" Target="../media/image144.png"/><Relationship Id="rId5" Type="http://schemas.openxmlformats.org/officeDocument/2006/relationships/image" Target="../media/image5.png"/><Relationship Id="rId6" Type="http://schemas.openxmlformats.org/officeDocument/2006/relationships/image" Target="../media/image184.png"/><Relationship Id="rId7" Type="http://schemas.openxmlformats.org/officeDocument/2006/relationships/image" Target="../media/image117.png"/><Relationship Id="rId8" Type="http://schemas.openxmlformats.org/officeDocument/2006/relationships/image" Target="../media/image68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7.png"/><Relationship Id="rId10" Type="http://schemas.openxmlformats.org/officeDocument/2006/relationships/image" Target="../media/image118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1.png"/><Relationship Id="rId4" Type="http://schemas.openxmlformats.org/officeDocument/2006/relationships/image" Target="../media/image124.png"/><Relationship Id="rId9" Type="http://schemas.openxmlformats.org/officeDocument/2006/relationships/image" Target="../media/image5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0.png"/><Relationship Id="rId8" Type="http://schemas.openxmlformats.org/officeDocument/2006/relationships/image" Target="../media/image112.png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1.png"/><Relationship Id="rId10" Type="http://schemas.openxmlformats.org/officeDocument/2006/relationships/image" Target="../media/image61.png"/><Relationship Id="rId13" Type="http://schemas.openxmlformats.org/officeDocument/2006/relationships/image" Target="../media/image158.png"/><Relationship Id="rId12" Type="http://schemas.openxmlformats.org/officeDocument/2006/relationships/image" Target="../media/image13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1.png"/><Relationship Id="rId4" Type="http://schemas.openxmlformats.org/officeDocument/2006/relationships/image" Target="../media/image68.png"/><Relationship Id="rId9" Type="http://schemas.openxmlformats.org/officeDocument/2006/relationships/image" Target="../media/image55.png"/><Relationship Id="rId15" Type="http://schemas.openxmlformats.org/officeDocument/2006/relationships/image" Target="../media/image150.png"/><Relationship Id="rId14" Type="http://schemas.openxmlformats.org/officeDocument/2006/relationships/image" Target="../media/image132.png"/><Relationship Id="rId17" Type="http://schemas.openxmlformats.org/officeDocument/2006/relationships/image" Target="../media/image135.png"/><Relationship Id="rId16" Type="http://schemas.openxmlformats.org/officeDocument/2006/relationships/image" Target="../media/image134.png"/><Relationship Id="rId5" Type="http://schemas.openxmlformats.org/officeDocument/2006/relationships/image" Target="../media/image137.png"/><Relationship Id="rId6" Type="http://schemas.openxmlformats.org/officeDocument/2006/relationships/image" Target="../media/image125.png"/><Relationship Id="rId18" Type="http://schemas.openxmlformats.org/officeDocument/2006/relationships/image" Target="../media/image138.png"/><Relationship Id="rId7" Type="http://schemas.openxmlformats.org/officeDocument/2006/relationships/image" Target="../media/image143.png"/><Relationship Id="rId8" Type="http://schemas.openxmlformats.org/officeDocument/2006/relationships/image" Target="../media/image1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7.png"/><Relationship Id="rId4" Type="http://schemas.openxmlformats.org/officeDocument/2006/relationships/image" Target="../media/image1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0.png"/><Relationship Id="rId4" Type="http://schemas.openxmlformats.org/officeDocument/2006/relationships/image" Target="../media/image142.png"/><Relationship Id="rId5" Type="http://schemas.openxmlformats.org/officeDocument/2006/relationships/image" Target="../media/image168.png"/><Relationship Id="rId6" Type="http://schemas.openxmlformats.org/officeDocument/2006/relationships/image" Target="../media/image1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3.png"/><Relationship Id="rId4" Type="http://schemas.openxmlformats.org/officeDocument/2006/relationships/image" Target="../media/image140.png"/><Relationship Id="rId5" Type="http://schemas.openxmlformats.org/officeDocument/2006/relationships/image" Target="../media/image180.png"/><Relationship Id="rId6" Type="http://schemas.openxmlformats.org/officeDocument/2006/relationships/image" Target="../media/image14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3.png"/><Relationship Id="rId4" Type="http://schemas.openxmlformats.org/officeDocument/2006/relationships/image" Target="../media/image1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0.png"/><Relationship Id="rId4" Type="http://schemas.openxmlformats.org/officeDocument/2006/relationships/image" Target="../media/image142.png"/><Relationship Id="rId5" Type="http://schemas.openxmlformats.org/officeDocument/2006/relationships/image" Target="../media/image168.png"/><Relationship Id="rId6" Type="http://schemas.openxmlformats.org/officeDocument/2006/relationships/image" Target="../media/image1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3.png"/><Relationship Id="rId4" Type="http://schemas.openxmlformats.org/officeDocument/2006/relationships/image" Target="../media/image140.png"/><Relationship Id="rId5" Type="http://schemas.openxmlformats.org/officeDocument/2006/relationships/image" Target="../media/image180.png"/><Relationship Id="rId6" Type="http://schemas.openxmlformats.org/officeDocument/2006/relationships/image" Target="../media/image14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7.png"/><Relationship Id="rId4" Type="http://schemas.openxmlformats.org/officeDocument/2006/relationships/image" Target="../media/image161.png"/><Relationship Id="rId5" Type="http://schemas.openxmlformats.org/officeDocument/2006/relationships/image" Target="../media/image17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7.png"/><Relationship Id="rId4" Type="http://schemas.openxmlformats.org/officeDocument/2006/relationships/image" Target="../media/image160.png"/><Relationship Id="rId5" Type="http://schemas.openxmlformats.org/officeDocument/2006/relationships/image" Target="../media/image167.png"/><Relationship Id="rId6" Type="http://schemas.openxmlformats.org/officeDocument/2006/relationships/image" Target="../media/image159.png"/><Relationship Id="rId7" Type="http://schemas.openxmlformats.org/officeDocument/2006/relationships/image" Target="../media/image188.png"/></Relationships>
</file>

<file path=ppt/slides/_rels/slide4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9.png"/><Relationship Id="rId10" Type="http://schemas.openxmlformats.org/officeDocument/2006/relationships/image" Target="../media/image174.png"/><Relationship Id="rId13" Type="http://schemas.openxmlformats.org/officeDocument/2006/relationships/image" Target="../media/image221.png"/><Relationship Id="rId12" Type="http://schemas.openxmlformats.org/officeDocument/2006/relationships/image" Target="../media/image172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3.png"/><Relationship Id="rId4" Type="http://schemas.openxmlformats.org/officeDocument/2006/relationships/image" Target="../media/image191.png"/><Relationship Id="rId9" Type="http://schemas.openxmlformats.org/officeDocument/2006/relationships/image" Target="../media/image190.png"/><Relationship Id="rId5" Type="http://schemas.openxmlformats.org/officeDocument/2006/relationships/image" Target="../media/image164.png"/><Relationship Id="rId6" Type="http://schemas.openxmlformats.org/officeDocument/2006/relationships/image" Target="../media/image162.png"/><Relationship Id="rId7" Type="http://schemas.openxmlformats.org/officeDocument/2006/relationships/image" Target="../media/image166.png"/><Relationship Id="rId8" Type="http://schemas.openxmlformats.org/officeDocument/2006/relationships/image" Target="../media/image171.png"/></Relationships>
</file>

<file path=ppt/slides/_rels/slide4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3.png"/><Relationship Id="rId10" Type="http://schemas.openxmlformats.org/officeDocument/2006/relationships/image" Target="../media/image174.png"/><Relationship Id="rId12" Type="http://schemas.openxmlformats.org/officeDocument/2006/relationships/image" Target="../media/image16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3.png"/><Relationship Id="rId4" Type="http://schemas.openxmlformats.org/officeDocument/2006/relationships/image" Target="../media/image191.png"/><Relationship Id="rId9" Type="http://schemas.openxmlformats.org/officeDocument/2006/relationships/image" Target="../media/image190.png"/><Relationship Id="rId5" Type="http://schemas.openxmlformats.org/officeDocument/2006/relationships/image" Target="../media/image164.png"/><Relationship Id="rId6" Type="http://schemas.openxmlformats.org/officeDocument/2006/relationships/image" Target="../media/image162.png"/><Relationship Id="rId7" Type="http://schemas.openxmlformats.org/officeDocument/2006/relationships/image" Target="../media/image166.png"/><Relationship Id="rId8" Type="http://schemas.openxmlformats.org/officeDocument/2006/relationships/image" Target="../media/image17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1.png"/><Relationship Id="rId4" Type="http://schemas.openxmlformats.org/officeDocument/2006/relationships/image" Target="../media/image162.png"/><Relationship Id="rId5" Type="http://schemas.openxmlformats.org/officeDocument/2006/relationships/image" Target="../media/image214.png"/><Relationship Id="rId6" Type="http://schemas.openxmlformats.org/officeDocument/2006/relationships/image" Target="../media/image17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0.png"/><Relationship Id="rId4" Type="http://schemas.openxmlformats.org/officeDocument/2006/relationships/image" Target="../media/image142.png"/><Relationship Id="rId5" Type="http://schemas.openxmlformats.org/officeDocument/2006/relationships/image" Target="../media/image168.png"/><Relationship Id="rId6" Type="http://schemas.openxmlformats.org/officeDocument/2006/relationships/image" Target="../media/image14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03.png"/><Relationship Id="rId4" Type="http://schemas.openxmlformats.org/officeDocument/2006/relationships/image" Target="../media/image140.png"/><Relationship Id="rId5" Type="http://schemas.openxmlformats.org/officeDocument/2006/relationships/image" Target="../media/image180.png"/><Relationship Id="rId6" Type="http://schemas.openxmlformats.org/officeDocument/2006/relationships/image" Target="../media/image14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9.png"/><Relationship Id="rId4" Type="http://schemas.openxmlformats.org/officeDocument/2006/relationships/image" Target="../media/image219.jpg"/><Relationship Id="rId5" Type="http://schemas.openxmlformats.org/officeDocument/2006/relationships/image" Target="../media/image2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95.png"/><Relationship Id="rId4" Type="http://schemas.openxmlformats.org/officeDocument/2006/relationships/image" Target="../media/image19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01.png"/><Relationship Id="rId4" Type="http://schemas.openxmlformats.org/officeDocument/2006/relationships/image" Target="../media/image194.png"/><Relationship Id="rId5" Type="http://schemas.openxmlformats.org/officeDocument/2006/relationships/image" Target="../media/image193.png"/><Relationship Id="rId6" Type="http://schemas.openxmlformats.org/officeDocument/2006/relationships/image" Target="../media/image21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92.png"/><Relationship Id="rId4" Type="http://schemas.openxmlformats.org/officeDocument/2006/relationships/image" Target="../media/image196.png"/><Relationship Id="rId5" Type="http://schemas.openxmlformats.org/officeDocument/2006/relationships/image" Target="../media/image216.png"/><Relationship Id="rId6" Type="http://schemas.openxmlformats.org/officeDocument/2006/relationships/image" Target="../media/image21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9.png"/><Relationship Id="rId4" Type="http://schemas.openxmlformats.org/officeDocument/2006/relationships/image" Target="../media/image206.png"/><Relationship Id="rId5" Type="http://schemas.openxmlformats.org/officeDocument/2006/relationships/image" Target="../media/image216.png"/><Relationship Id="rId6" Type="http://schemas.openxmlformats.org/officeDocument/2006/relationships/image" Target="../media/image220.png"/><Relationship Id="rId7" Type="http://schemas.openxmlformats.org/officeDocument/2006/relationships/image" Target="../media/image20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08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/Relationships>
</file>

<file path=ppt/slides/_rels/slide5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8.png"/><Relationship Id="rId10" Type="http://schemas.openxmlformats.org/officeDocument/2006/relationships/image" Target="../media/image207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99.png"/><Relationship Id="rId4" Type="http://schemas.openxmlformats.org/officeDocument/2006/relationships/image" Target="../media/image211.png"/><Relationship Id="rId9" Type="http://schemas.openxmlformats.org/officeDocument/2006/relationships/image" Target="../media/image193.png"/><Relationship Id="rId5" Type="http://schemas.openxmlformats.org/officeDocument/2006/relationships/image" Target="../media/image205.png"/><Relationship Id="rId6" Type="http://schemas.openxmlformats.org/officeDocument/2006/relationships/image" Target="../media/image202.png"/><Relationship Id="rId7" Type="http://schemas.openxmlformats.org/officeDocument/2006/relationships/image" Target="../media/image216.png"/><Relationship Id="rId8" Type="http://schemas.openxmlformats.org/officeDocument/2006/relationships/image" Target="../media/image220.png"/></Relationships>
</file>

<file path=ppt/slides/_rels/slide5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8.png"/><Relationship Id="rId10" Type="http://schemas.openxmlformats.org/officeDocument/2006/relationships/image" Target="../media/image207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9.png"/><Relationship Id="rId4" Type="http://schemas.openxmlformats.org/officeDocument/2006/relationships/image" Target="../media/image211.png"/><Relationship Id="rId9" Type="http://schemas.openxmlformats.org/officeDocument/2006/relationships/image" Target="../media/image193.png"/><Relationship Id="rId5" Type="http://schemas.openxmlformats.org/officeDocument/2006/relationships/image" Target="../media/image205.png"/><Relationship Id="rId6" Type="http://schemas.openxmlformats.org/officeDocument/2006/relationships/image" Target="../media/image202.png"/><Relationship Id="rId7" Type="http://schemas.openxmlformats.org/officeDocument/2006/relationships/image" Target="../media/image216.png"/><Relationship Id="rId8" Type="http://schemas.openxmlformats.org/officeDocument/2006/relationships/image" Target="../media/image22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99.png"/><Relationship Id="rId4" Type="http://schemas.openxmlformats.org/officeDocument/2006/relationships/image" Target="../media/image211.png"/><Relationship Id="rId5" Type="http://schemas.openxmlformats.org/officeDocument/2006/relationships/image" Target="../media/image213.png"/><Relationship Id="rId6" Type="http://schemas.openxmlformats.org/officeDocument/2006/relationships/image" Target="../media/image217.png"/><Relationship Id="rId7" Type="http://schemas.openxmlformats.org/officeDocument/2006/relationships/image" Target="../media/image21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15.png"/><Relationship Id="rId4" Type="http://schemas.openxmlformats.org/officeDocument/2006/relationships/image" Target="../media/image199.png"/><Relationship Id="rId5" Type="http://schemas.openxmlformats.org/officeDocument/2006/relationships/image" Target="../media/image211.png"/><Relationship Id="rId6" Type="http://schemas.openxmlformats.org/officeDocument/2006/relationships/image" Target="../media/image213.png"/><Relationship Id="rId7" Type="http://schemas.openxmlformats.org/officeDocument/2006/relationships/image" Target="../media/image21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Operational Amplifier: 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81" name="Google Shape;18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Dependent Sources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Operational Amplifier: Introduction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Op-Amp: Circuit Symbols and terminal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Op-Amp: VTC (Voltage Transfer Characteristics)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Linear Amplification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(Positive and Negative) Saturation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Op-Amp: Examples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Op-Amp: Physical Entity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2002" y="4305899"/>
            <a:ext cx="5397777" cy="231786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Dependent Sources</a:t>
            </a:r>
            <a:endParaRPr/>
          </a:p>
        </p:txBody>
      </p:sp>
      <p:sp>
        <p:nvSpPr>
          <p:cNvPr id="188" name="Google Shape;188;p3"/>
          <p:cNvSpPr txBox="1"/>
          <p:nvPr>
            <p:ph idx="1" type="body"/>
          </p:nvPr>
        </p:nvSpPr>
        <p:spPr>
          <a:xfrm>
            <a:off x="838200" y="1825625"/>
            <a:ext cx="10515600" cy="2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To analyze op-amps, we must understand </a:t>
            </a:r>
            <a:r>
              <a:rPr b="1" lang="en-US" sz="2400"/>
              <a:t>dependent source.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 dependent source generates a voltage or current whose value depends on another voltage or current.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Example: current-controlled current source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Dependent Sources</a:t>
            </a:r>
            <a:endParaRPr/>
          </a:p>
        </p:txBody>
      </p:sp>
      <p:pic>
        <p:nvPicPr>
          <p:cNvPr id="194" name="Google Shape;194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452" y="1993242"/>
            <a:ext cx="5937555" cy="254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0714" y="2264373"/>
            <a:ext cx="1669501" cy="1019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7328" y="3399519"/>
            <a:ext cx="2256271" cy="887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4042" y="4578014"/>
            <a:ext cx="3129441" cy="115258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"/>
          <p:cNvSpPr/>
          <p:nvPr/>
        </p:nvSpPr>
        <p:spPr>
          <a:xfrm>
            <a:off x="10222301" y="4576581"/>
            <a:ext cx="561181" cy="115258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1477694" y="4845452"/>
            <a:ext cx="4423070" cy="114197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413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Dependent Sources</a:t>
            </a:r>
            <a:endParaRPr/>
          </a:p>
        </p:txBody>
      </p:sp>
      <p:sp>
        <p:nvSpPr>
          <p:cNvPr id="205" name="Google Shape;205;p5"/>
          <p:cNvSpPr txBox="1"/>
          <p:nvPr>
            <p:ph idx="1" type="body"/>
          </p:nvPr>
        </p:nvSpPr>
        <p:spPr>
          <a:xfrm>
            <a:off x="924464" y="3548140"/>
            <a:ext cx="10515600" cy="52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Dependent sources are two-ports: characterized by </a:t>
            </a:r>
            <a:r>
              <a:rPr b="1" lang="en-US"/>
              <a:t>two</a:t>
            </a:r>
            <a:r>
              <a:rPr lang="en-US"/>
              <a:t> equations. </a:t>
            </a:r>
            <a:endParaRPr/>
          </a:p>
        </p:txBody>
      </p:sp>
      <p:pic>
        <p:nvPicPr>
          <p:cNvPr id="206" name="Google Shape;2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4417" y="4196161"/>
            <a:ext cx="4563166" cy="159465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 txBox="1"/>
          <p:nvPr/>
        </p:nvSpPr>
        <p:spPr>
          <a:xfrm>
            <a:off x="3814417" y="5969655"/>
            <a:ext cx="5105565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2557" l="-2508" r="0" t="-104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838200" y="1464521"/>
            <a:ext cx="1068812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Resistors, (Ind.) Voltage sources, (Ind.) Current sources are single “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device. They are characterized by 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equation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4773" y="2164498"/>
            <a:ext cx="2675986" cy="1877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40884" y="2164498"/>
            <a:ext cx="2579493" cy="1911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6"/>
          <p:cNvPicPr preferRelativeResize="0"/>
          <p:nvPr/>
        </p:nvPicPr>
        <p:blipFill rotWithShape="1">
          <a:blip r:embed="rId3">
            <a:alphaModFix/>
          </a:blip>
          <a:srcRect b="0" l="0" r="0" t="36881"/>
          <a:stretch/>
        </p:blipFill>
        <p:spPr>
          <a:xfrm>
            <a:off x="5593986" y="2190167"/>
            <a:ext cx="6324600" cy="170744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Operational Amplifier: Introduction</a:t>
            </a:r>
            <a:endParaRPr/>
          </a:p>
        </p:txBody>
      </p:sp>
      <p:sp>
        <p:nvSpPr>
          <p:cNvPr id="217" name="Google Shape;217;p6"/>
          <p:cNvSpPr txBox="1"/>
          <p:nvPr>
            <p:ph idx="1" type="body"/>
          </p:nvPr>
        </p:nvSpPr>
        <p:spPr>
          <a:xfrm>
            <a:off x="892521" y="1698273"/>
            <a:ext cx="5601789" cy="227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Operational: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M</a:t>
            </a:r>
            <a:r>
              <a:rPr lang="en-US" sz="2800"/>
              <a:t>athematical Operations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Amplifier: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Amplifies input signal/voltage.</a:t>
            </a:r>
            <a:endParaRPr/>
          </a:p>
        </p:txBody>
      </p:sp>
      <p:pic>
        <p:nvPicPr>
          <p:cNvPr id="218" name="Google Shape;218;p6"/>
          <p:cNvPicPr preferRelativeResize="0"/>
          <p:nvPr/>
        </p:nvPicPr>
        <p:blipFill rotWithShape="1">
          <a:blip r:embed="rId4">
            <a:alphaModFix/>
          </a:blip>
          <a:srcRect b="0" l="0" r="5946" t="0"/>
          <a:stretch/>
        </p:blipFill>
        <p:spPr>
          <a:xfrm>
            <a:off x="7229902" y="1597362"/>
            <a:ext cx="2803645" cy="230024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6"/>
          <p:cNvSpPr txBox="1"/>
          <p:nvPr/>
        </p:nvSpPr>
        <p:spPr>
          <a:xfrm>
            <a:off x="6216995" y="1917377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9924580" y="1823399"/>
            <a:ext cx="1909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8525" y="4846936"/>
            <a:ext cx="3305449" cy="178924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"/>
          <p:cNvSpPr txBox="1"/>
          <p:nvPr/>
        </p:nvSpPr>
        <p:spPr>
          <a:xfrm>
            <a:off x="7507671" y="5512676"/>
            <a:ext cx="843825" cy="400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5755" l="-7970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3801660" y="5503878"/>
            <a:ext cx="1012415" cy="400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6"/>
          <p:cNvGrpSpPr/>
          <p:nvPr/>
        </p:nvGrpSpPr>
        <p:grpSpPr>
          <a:xfrm>
            <a:off x="2084605" y="4800746"/>
            <a:ext cx="7948942" cy="1835437"/>
            <a:chOff x="2084605" y="4800746"/>
            <a:chExt cx="7948942" cy="1835437"/>
          </a:xfrm>
        </p:grpSpPr>
        <p:pic>
          <p:nvPicPr>
            <p:cNvPr id="225" name="Google Shape;225;p6"/>
            <p:cNvPicPr preferRelativeResize="0"/>
            <p:nvPr/>
          </p:nvPicPr>
          <p:blipFill rotWithShape="1">
            <a:blip r:embed="rId3">
              <a:alphaModFix/>
            </a:blip>
            <a:srcRect b="36816" l="15343" r="73007" t="40449"/>
            <a:stretch/>
          </p:blipFill>
          <p:spPr>
            <a:xfrm>
              <a:off x="2839466" y="5504192"/>
              <a:ext cx="568798" cy="4747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6"/>
            <p:cNvSpPr txBox="1"/>
            <p:nvPr/>
          </p:nvSpPr>
          <p:spPr>
            <a:xfrm>
              <a:off x="2399833" y="5167885"/>
              <a:ext cx="14237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Small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7" name="Google Shape;227;p6"/>
            <p:cNvPicPr preferRelativeResize="0"/>
            <p:nvPr/>
          </p:nvPicPr>
          <p:blipFill rotWithShape="1">
            <a:blip r:embed="rId3">
              <a:alphaModFix/>
            </a:blip>
            <a:srcRect b="32680" l="69805" r="8446" t="35787"/>
            <a:stretch/>
          </p:blipFill>
          <p:spPr>
            <a:xfrm>
              <a:off x="8507201" y="5412326"/>
              <a:ext cx="1061764" cy="658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6"/>
            <p:cNvSpPr txBox="1"/>
            <p:nvPr/>
          </p:nvSpPr>
          <p:spPr>
            <a:xfrm>
              <a:off x="8208899" y="5092662"/>
              <a:ext cx="166545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Large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2084605" y="4800746"/>
              <a:ext cx="7948942" cy="1835437"/>
            </a:xfrm>
            <a:custGeom>
              <a:rect b="b" l="l" r="r" t="t"/>
              <a:pathLst>
                <a:path extrusionOk="0" h="1835437" w="7948942">
                  <a:moveTo>
                    <a:pt x="0" y="305912"/>
                  </a:moveTo>
                  <a:cubicBezTo>
                    <a:pt x="-9629" y="152548"/>
                    <a:pt x="141737" y="-10130"/>
                    <a:pt x="305912" y="0"/>
                  </a:cubicBezTo>
                  <a:cubicBezTo>
                    <a:pt x="420655" y="-6909"/>
                    <a:pt x="488228" y="21617"/>
                    <a:pt x="650192" y="0"/>
                  </a:cubicBezTo>
                  <a:cubicBezTo>
                    <a:pt x="812156" y="-21617"/>
                    <a:pt x="1020346" y="50160"/>
                    <a:pt x="1287957" y="0"/>
                  </a:cubicBezTo>
                  <a:cubicBezTo>
                    <a:pt x="1555568" y="-50160"/>
                    <a:pt x="1691148" y="388"/>
                    <a:pt x="1999093" y="0"/>
                  </a:cubicBezTo>
                  <a:cubicBezTo>
                    <a:pt x="2307038" y="-388"/>
                    <a:pt x="2314180" y="8513"/>
                    <a:pt x="2490116" y="0"/>
                  </a:cubicBezTo>
                  <a:cubicBezTo>
                    <a:pt x="2666052" y="-8513"/>
                    <a:pt x="2792446" y="24599"/>
                    <a:pt x="3054509" y="0"/>
                  </a:cubicBezTo>
                  <a:cubicBezTo>
                    <a:pt x="3316572" y="-24599"/>
                    <a:pt x="3465719" y="37231"/>
                    <a:pt x="3765645" y="0"/>
                  </a:cubicBezTo>
                  <a:cubicBezTo>
                    <a:pt x="4065571" y="-37231"/>
                    <a:pt x="3990169" y="3025"/>
                    <a:pt x="4183297" y="0"/>
                  </a:cubicBezTo>
                  <a:cubicBezTo>
                    <a:pt x="4376425" y="-3025"/>
                    <a:pt x="4565502" y="13137"/>
                    <a:pt x="4747690" y="0"/>
                  </a:cubicBezTo>
                  <a:cubicBezTo>
                    <a:pt x="4929878" y="-13137"/>
                    <a:pt x="5013331" y="25016"/>
                    <a:pt x="5091971" y="0"/>
                  </a:cubicBezTo>
                  <a:cubicBezTo>
                    <a:pt x="5170611" y="-25016"/>
                    <a:pt x="5470297" y="76281"/>
                    <a:pt x="5729735" y="0"/>
                  </a:cubicBezTo>
                  <a:cubicBezTo>
                    <a:pt x="5989173" y="-76281"/>
                    <a:pt x="6062498" y="17121"/>
                    <a:pt x="6294129" y="0"/>
                  </a:cubicBezTo>
                  <a:cubicBezTo>
                    <a:pt x="6525760" y="-17121"/>
                    <a:pt x="6680884" y="26132"/>
                    <a:pt x="6858523" y="0"/>
                  </a:cubicBezTo>
                  <a:cubicBezTo>
                    <a:pt x="7036162" y="-26132"/>
                    <a:pt x="7383403" y="64757"/>
                    <a:pt x="7643030" y="0"/>
                  </a:cubicBezTo>
                  <a:cubicBezTo>
                    <a:pt x="7831306" y="-46084"/>
                    <a:pt x="7975722" y="152848"/>
                    <a:pt x="7948942" y="305912"/>
                  </a:cubicBezTo>
                  <a:cubicBezTo>
                    <a:pt x="7962988" y="424183"/>
                    <a:pt x="7901473" y="550563"/>
                    <a:pt x="7948942" y="726019"/>
                  </a:cubicBezTo>
                  <a:cubicBezTo>
                    <a:pt x="7996411" y="901475"/>
                    <a:pt x="7935858" y="1001064"/>
                    <a:pt x="7948942" y="1109418"/>
                  </a:cubicBezTo>
                  <a:cubicBezTo>
                    <a:pt x="7962026" y="1217772"/>
                    <a:pt x="7945180" y="1357281"/>
                    <a:pt x="7948942" y="1529525"/>
                  </a:cubicBezTo>
                  <a:cubicBezTo>
                    <a:pt x="7932233" y="1744477"/>
                    <a:pt x="7823683" y="1847714"/>
                    <a:pt x="7643030" y="1835437"/>
                  </a:cubicBezTo>
                  <a:cubicBezTo>
                    <a:pt x="7375167" y="1882137"/>
                    <a:pt x="7360234" y="1778165"/>
                    <a:pt x="7078636" y="1835437"/>
                  </a:cubicBezTo>
                  <a:cubicBezTo>
                    <a:pt x="6797038" y="1892709"/>
                    <a:pt x="6770154" y="1817577"/>
                    <a:pt x="6660985" y="1835437"/>
                  </a:cubicBezTo>
                  <a:cubicBezTo>
                    <a:pt x="6551816" y="1853297"/>
                    <a:pt x="6248152" y="1790713"/>
                    <a:pt x="5949849" y="1835437"/>
                  </a:cubicBezTo>
                  <a:cubicBezTo>
                    <a:pt x="5651546" y="1880161"/>
                    <a:pt x="5503771" y="1792602"/>
                    <a:pt x="5312084" y="1835437"/>
                  </a:cubicBezTo>
                  <a:cubicBezTo>
                    <a:pt x="5120397" y="1878272"/>
                    <a:pt x="5078566" y="1835268"/>
                    <a:pt x="4967804" y="1835437"/>
                  </a:cubicBezTo>
                  <a:cubicBezTo>
                    <a:pt x="4857042" y="1835606"/>
                    <a:pt x="4761210" y="1816289"/>
                    <a:pt x="4623524" y="1835437"/>
                  </a:cubicBezTo>
                  <a:cubicBezTo>
                    <a:pt x="4485838" y="1854585"/>
                    <a:pt x="4383395" y="1802383"/>
                    <a:pt x="4279244" y="1835437"/>
                  </a:cubicBezTo>
                  <a:cubicBezTo>
                    <a:pt x="4175093" y="1868491"/>
                    <a:pt x="3857618" y="1834277"/>
                    <a:pt x="3714850" y="1835437"/>
                  </a:cubicBezTo>
                  <a:cubicBezTo>
                    <a:pt x="3572082" y="1836597"/>
                    <a:pt x="3382463" y="1801848"/>
                    <a:pt x="3297199" y="1835437"/>
                  </a:cubicBezTo>
                  <a:cubicBezTo>
                    <a:pt x="3211935" y="1869026"/>
                    <a:pt x="2995467" y="1814934"/>
                    <a:pt x="2879547" y="1835437"/>
                  </a:cubicBezTo>
                  <a:cubicBezTo>
                    <a:pt x="2763627" y="1855940"/>
                    <a:pt x="2627226" y="1823135"/>
                    <a:pt x="2461896" y="1835437"/>
                  </a:cubicBezTo>
                  <a:cubicBezTo>
                    <a:pt x="2296566" y="1847739"/>
                    <a:pt x="2200082" y="1800426"/>
                    <a:pt x="2117616" y="1835437"/>
                  </a:cubicBezTo>
                  <a:cubicBezTo>
                    <a:pt x="2035150" y="1870448"/>
                    <a:pt x="1791029" y="1794715"/>
                    <a:pt x="1626593" y="1835437"/>
                  </a:cubicBezTo>
                  <a:cubicBezTo>
                    <a:pt x="1462157" y="1876159"/>
                    <a:pt x="1293828" y="1822522"/>
                    <a:pt x="988828" y="1835437"/>
                  </a:cubicBezTo>
                  <a:cubicBezTo>
                    <a:pt x="683828" y="1848352"/>
                    <a:pt x="627247" y="1777167"/>
                    <a:pt x="305912" y="1835437"/>
                  </a:cubicBezTo>
                  <a:cubicBezTo>
                    <a:pt x="118316" y="1866152"/>
                    <a:pt x="-36092" y="1683295"/>
                    <a:pt x="0" y="1529525"/>
                  </a:cubicBezTo>
                  <a:cubicBezTo>
                    <a:pt x="-14135" y="1365717"/>
                    <a:pt x="42549" y="1224315"/>
                    <a:pt x="0" y="1146126"/>
                  </a:cubicBezTo>
                  <a:cubicBezTo>
                    <a:pt x="-42549" y="1067937"/>
                    <a:pt x="18470" y="831083"/>
                    <a:pt x="0" y="750491"/>
                  </a:cubicBezTo>
                  <a:cubicBezTo>
                    <a:pt x="-18470" y="669899"/>
                    <a:pt x="45520" y="449839"/>
                    <a:pt x="0" y="305912"/>
                  </a:cubicBez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6"/>
          <p:cNvSpPr txBox="1"/>
          <p:nvPr/>
        </p:nvSpPr>
        <p:spPr>
          <a:xfrm>
            <a:off x="838200" y="3997677"/>
            <a:ext cx="110157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op-amp (operational amplifier)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modelled by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voltage- controlled voltage source.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Operational Amplifier: Introduction</a:t>
            </a:r>
            <a:endParaRPr/>
          </a:p>
        </p:txBody>
      </p:sp>
      <p:pic>
        <p:nvPicPr>
          <p:cNvPr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8525" y="3108673"/>
            <a:ext cx="3305449" cy="178924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 txBox="1"/>
          <p:nvPr/>
        </p:nvSpPr>
        <p:spPr>
          <a:xfrm>
            <a:off x="7507671" y="3774413"/>
            <a:ext cx="843825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5755" l="-7970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3801660" y="3765615"/>
            <a:ext cx="1012415" cy="400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53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7"/>
          <p:cNvGrpSpPr/>
          <p:nvPr/>
        </p:nvGrpSpPr>
        <p:grpSpPr>
          <a:xfrm>
            <a:off x="2084605" y="3062483"/>
            <a:ext cx="7948942" cy="1835437"/>
            <a:chOff x="2084605" y="4800746"/>
            <a:chExt cx="7948942" cy="1835437"/>
          </a:xfrm>
        </p:grpSpPr>
        <p:pic>
          <p:nvPicPr>
            <p:cNvPr id="240" name="Google Shape;240;p7"/>
            <p:cNvPicPr preferRelativeResize="0"/>
            <p:nvPr/>
          </p:nvPicPr>
          <p:blipFill rotWithShape="1">
            <a:blip r:embed="rId6">
              <a:alphaModFix/>
            </a:blip>
            <a:srcRect b="36816" l="15343" r="73007" t="40449"/>
            <a:stretch/>
          </p:blipFill>
          <p:spPr>
            <a:xfrm>
              <a:off x="2839466" y="5504192"/>
              <a:ext cx="568798" cy="4747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7"/>
            <p:cNvSpPr txBox="1"/>
            <p:nvPr/>
          </p:nvSpPr>
          <p:spPr>
            <a:xfrm>
              <a:off x="2399833" y="5167885"/>
              <a:ext cx="14237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Small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2" name="Google Shape;242;p7"/>
            <p:cNvPicPr preferRelativeResize="0"/>
            <p:nvPr/>
          </p:nvPicPr>
          <p:blipFill rotWithShape="1">
            <a:blip r:embed="rId6">
              <a:alphaModFix/>
            </a:blip>
            <a:srcRect b="32680" l="69805" r="8446" t="35787"/>
            <a:stretch/>
          </p:blipFill>
          <p:spPr>
            <a:xfrm>
              <a:off x="8507201" y="5412326"/>
              <a:ext cx="1061764" cy="658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7"/>
            <p:cNvSpPr txBox="1"/>
            <p:nvPr/>
          </p:nvSpPr>
          <p:spPr>
            <a:xfrm>
              <a:off x="8208899" y="5092662"/>
              <a:ext cx="166545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Large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2084605" y="4800746"/>
              <a:ext cx="7948942" cy="1835437"/>
            </a:xfrm>
            <a:custGeom>
              <a:rect b="b" l="l" r="r" t="t"/>
              <a:pathLst>
                <a:path extrusionOk="0" h="1835437" w="7948942">
                  <a:moveTo>
                    <a:pt x="0" y="305912"/>
                  </a:moveTo>
                  <a:cubicBezTo>
                    <a:pt x="-9629" y="152548"/>
                    <a:pt x="141737" y="-10130"/>
                    <a:pt x="305912" y="0"/>
                  </a:cubicBezTo>
                  <a:cubicBezTo>
                    <a:pt x="420655" y="-6909"/>
                    <a:pt x="488228" y="21617"/>
                    <a:pt x="650192" y="0"/>
                  </a:cubicBezTo>
                  <a:cubicBezTo>
                    <a:pt x="812156" y="-21617"/>
                    <a:pt x="1020346" y="50160"/>
                    <a:pt x="1287957" y="0"/>
                  </a:cubicBezTo>
                  <a:cubicBezTo>
                    <a:pt x="1555568" y="-50160"/>
                    <a:pt x="1691148" y="388"/>
                    <a:pt x="1999093" y="0"/>
                  </a:cubicBezTo>
                  <a:cubicBezTo>
                    <a:pt x="2307038" y="-388"/>
                    <a:pt x="2314180" y="8513"/>
                    <a:pt x="2490116" y="0"/>
                  </a:cubicBezTo>
                  <a:cubicBezTo>
                    <a:pt x="2666052" y="-8513"/>
                    <a:pt x="2792446" y="24599"/>
                    <a:pt x="3054509" y="0"/>
                  </a:cubicBezTo>
                  <a:cubicBezTo>
                    <a:pt x="3316572" y="-24599"/>
                    <a:pt x="3465719" y="37231"/>
                    <a:pt x="3765645" y="0"/>
                  </a:cubicBezTo>
                  <a:cubicBezTo>
                    <a:pt x="4065571" y="-37231"/>
                    <a:pt x="3990169" y="3025"/>
                    <a:pt x="4183297" y="0"/>
                  </a:cubicBezTo>
                  <a:cubicBezTo>
                    <a:pt x="4376425" y="-3025"/>
                    <a:pt x="4565502" y="13137"/>
                    <a:pt x="4747690" y="0"/>
                  </a:cubicBezTo>
                  <a:cubicBezTo>
                    <a:pt x="4929878" y="-13137"/>
                    <a:pt x="5013331" y="25016"/>
                    <a:pt x="5091971" y="0"/>
                  </a:cubicBezTo>
                  <a:cubicBezTo>
                    <a:pt x="5170611" y="-25016"/>
                    <a:pt x="5470297" y="76281"/>
                    <a:pt x="5729735" y="0"/>
                  </a:cubicBezTo>
                  <a:cubicBezTo>
                    <a:pt x="5989173" y="-76281"/>
                    <a:pt x="6062498" y="17121"/>
                    <a:pt x="6294129" y="0"/>
                  </a:cubicBezTo>
                  <a:cubicBezTo>
                    <a:pt x="6525760" y="-17121"/>
                    <a:pt x="6680884" y="26132"/>
                    <a:pt x="6858523" y="0"/>
                  </a:cubicBezTo>
                  <a:cubicBezTo>
                    <a:pt x="7036162" y="-26132"/>
                    <a:pt x="7383403" y="64757"/>
                    <a:pt x="7643030" y="0"/>
                  </a:cubicBezTo>
                  <a:cubicBezTo>
                    <a:pt x="7831306" y="-46084"/>
                    <a:pt x="7975722" y="152848"/>
                    <a:pt x="7948942" y="305912"/>
                  </a:cubicBezTo>
                  <a:cubicBezTo>
                    <a:pt x="7962988" y="424183"/>
                    <a:pt x="7901473" y="550563"/>
                    <a:pt x="7948942" y="726019"/>
                  </a:cubicBezTo>
                  <a:cubicBezTo>
                    <a:pt x="7996411" y="901475"/>
                    <a:pt x="7935858" y="1001064"/>
                    <a:pt x="7948942" y="1109418"/>
                  </a:cubicBezTo>
                  <a:cubicBezTo>
                    <a:pt x="7962026" y="1217772"/>
                    <a:pt x="7945180" y="1357281"/>
                    <a:pt x="7948942" y="1529525"/>
                  </a:cubicBezTo>
                  <a:cubicBezTo>
                    <a:pt x="7932233" y="1744477"/>
                    <a:pt x="7823683" y="1847714"/>
                    <a:pt x="7643030" y="1835437"/>
                  </a:cubicBezTo>
                  <a:cubicBezTo>
                    <a:pt x="7375167" y="1882137"/>
                    <a:pt x="7360234" y="1778165"/>
                    <a:pt x="7078636" y="1835437"/>
                  </a:cubicBezTo>
                  <a:cubicBezTo>
                    <a:pt x="6797038" y="1892709"/>
                    <a:pt x="6770154" y="1817577"/>
                    <a:pt x="6660985" y="1835437"/>
                  </a:cubicBezTo>
                  <a:cubicBezTo>
                    <a:pt x="6551816" y="1853297"/>
                    <a:pt x="6248152" y="1790713"/>
                    <a:pt x="5949849" y="1835437"/>
                  </a:cubicBezTo>
                  <a:cubicBezTo>
                    <a:pt x="5651546" y="1880161"/>
                    <a:pt x="5503771" y="1792602"/>
                    <a:pt x="5312084" y="1835437"/>
                  </a:cubicBezTo>
                  <a:cubicBezTo>
                    <a:pt x="5120397" y="1878272"/>
                    <a:pt x="5078566" y="1835268"/>
                    <a:pt x="4967804" y="1835437"/>
                  </a:cubicBezTo>
                  <a:cubicBezTo>
                    <a:pt x="4857042" y="1835606"/>
                    <a:pt x="4761210" y="1816289"/>
                    <a:pt x="4623524" y="1835437"/>
                  </a:cubicBezTo>
                  <a:cubicBezTo>
                    <a:pt x="4485838" y="1854585"/>
                    <a:pt x="4383395" y="1802383"/>
                    <a:pt x="4279244" y="1835437"/>
                  </a:cubicBezTo>
                  <a:cubicBezTo>
                    <a:pt x="4175093" y="1868491"/>
                    <a:pt x="3857618" y="1834277"/>
                    <a:pt x="3714850" y="1835437"/>
                  </a:cubicBezTo>
                  <a:cubicBezTo>
                    <a:pt x="3572082" y="1836597"/>
                    <a:pt x="3382463" y="1801848"/>
                    <a:pt x="3297199" y="1835437"/>
                  </a:cubicBezTo>
                  <a:cubicBezTo>
                    <a:pt x="3211935" y="1869026"/>
                    <a:pt x="2995467" y="1814934"/>
                    <a:pt x="2879547" y="1835437"/>
                  </a:cubicBezTo>
                  <a:cubicBezTo>
                    <a:pt x="2763627" y="1855940"/>
                    <a:pt x="2627226" y="1823135"/>
                    <a:pt x="2461896" y="1835437"/>
                  </a:cubicBezTo>
                  <a:cubicBezTo>
                    <a:pt x="2296566" y="1847739"/>
                    <a:pt x="2200082" y="1800426"/>
                    <a:pt x="2117616" y="1835437"/>
                  </a:cubicBezTo>
                  <a:cubicBezTo>
                    <a:pt x="2035150" y="1870448"/>
                    <a:pt x="1791029" y="1794715"/>
                    <a:pt x="1626593" y="1835437"/>
                  </a:cubicBezTo>
                  <a:cubicBezTo>
                    <a:pt x="1462157" y="1876159"/>
                    <a:pt x="1293828" y="1822522"/>
                    <a:pt x="988828" y="1835437"/>
                  </a:cubicBezTo>
                  <a:cubicBezTo>
                    <a:pt x="683828" y="1848352"/>
                    <a:pt x="627247" y="1777167"/>
                    <a:pt x="305912" y="1835437"/>
                  </a:cubicBezTo>
                  <a:cubicBezTo>
                    <a:pt x="118316" y="1866152"/>
                    <a:pt x="-36092" y="1683295"/>
                    <a:pt x="0" y="1529525"/>
                  </a:cubicBezTo>
                  <a:cubicBezTo>
                    <a:pt x="-14135" y="1365717"/>
                    <a:pt x="42549" y="1224315"/>
                    <a:pt x="0" y="1146126"/>
                  </a:cubicBezTo>
                  <a:cubicBezTo>
                    <a:pt x="-42549" y="1067937"/>
                    <a:pt x="18470" y="831083"/>
                    <a:pt x="0" y="750491"/>
                  </a:cubicBezTo>
                  <a:cubicBezTo>
                    <a:pt x="-18470" y="669899"/>
                    <a:pt x="45520" y="449839"/>
                    <a:pt x="0" y="305912"/>
                  </a:cubicBez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838200" y="1553244"/>
            <a:ext cx="110157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op-amp (operational amplifier)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represented by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voltage- controlled voltage source.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1809749" y="5580002"/>
            <a:ext cx="8572502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0261" l="-211" r="0" t="-92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Operational Amplifier: Introduction</a:t>
            </a:r>
            <a:endParaRPr/>
          </a:p>
        </p:txBody>
      </p:sp>
      <p:pic>
        <p:nvPicPr>
          <p:cNvPr id="252" name="Google Shape;25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0948" y="1690688"/>
            <a:ext cx="4571658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 txBox="1"/>
          <p:nvPr/>
        </p:nvSpPr>
        <p:spPr>
          <a:xfrm>
            <a:off x="3734462" y="6123543"/>
            <a:ext cx="60985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of courses and the abstraction layers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8"/>
          <p:cNvCxnSpPr/>
          <p:nvPr/>
        </p:nvCxnSpPr>
        <p:spPr>
          <a:xfrm>
            <a:off x="8852606" y="3213980"/>
            <a:ext cx="653529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55" name="Google Shape;255;p8"/>
          <p:cNvSpPr txBox="1"/>
          <p:nvPr/>
        </p:nvSpPr>
        <p:spPr>
          <a:xfrm>
            <a:off x="9506135" y="2905780"/>
            <a:ext cx="140615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Op-Amp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921191" y="1506022"/>
            <a:ext cx="31890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Circuit Abstraction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Circuit Symbols and terminal</a:t>
            </a:r>
            <a:endParaRPr/>
          </a:p>
        </p:txBody>
      </p:sp>
      <p:pic>
        <p:nvPicPr>
          <p:cNvPr id="262" name="Google Shape;26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3879" y="1669262"/>
            <a:ext cx="6044242" cy="466406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 txBox="1"/>
          <p:nvPr/>
        </p:nvSpPr>
        <p:spPr>
          <a:xfrm>
            <a:off x="1478092" y="2487030"/>
            <a:ext cx="17873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Inverting terminal voltage</a:t>
            </a:r>
            <a:endParaRPr b="0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1478092" y="4273735"/>
            <a:ext cx="200307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Non-inverting terminal voltage</a:t>
            </a:r>
            <a:endParaRPr b="0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6163147" y="1669262"/>
            <a:ext cx="19849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Positive Saturation / Supply Voltage</a:t>
            </a:r>
            <a:endParaRPr b="0" i="0" sz="18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6163147" y="5219323"/>
            <a:ext cx="21207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Negative Saturation / Supply Voltage</a:t>
            </a:r>
            <a:endParaRPr b="0" i="0" sz="18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8283921" y="3458009"/>
            <a:ext cx="3114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 Voltage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Circuit Symbols and terminal</a:t>
            </a:r>
            <a:endParaRPr/>
          </a:p>
        </p:txBody>
      </p:sp>
      <p:pic>
        <p:nvPicPr>
          <p:cNvPr id="273" name="Google Shape;27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3060" y="1579643"/>
            <a:ext cx="3387851" cy="261424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0"/>
          <p:cNvSpPr txBox="1"/>
          <p:nvPr/>
        </p:nvSpPr>
        <p:spPr>
          <a:xfrm>
            <a:off x="5285965" y="2556673"/>
            <a:ext cx="2128981" cy="4296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12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5" name="Google Shape;275;p10"/>
          <p:cNvGraphicFramePr/>
          <p:nvPr/>
        </p:nvGraphicFramePr>
        <p:xfrm>
          <a:off x="7887050" y="29050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{DF25F28D-A42F-4931-BFEE-84CF95024A8A}</a:tableStyleId>
              </a:tblPr>
              <a:tblGrid>
                <a:gridCol w="859275"/>
                <a:gridCol w="288030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FF"/>
                          </a:solidFill>
                        </a:rPr>
                        <a:t>Differential input voltage</a:t>
                      </a:r>
                      <a:endParaRPr sz="18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cxnSp>
        <p:nvCxnSpPr>
          <p:cNvPr id="276" name="Google Shape;276;p10"/>
          <p:cNvCxnSpPr/>
          <p:nvPr/>
        </p:nvCxnSpPr>
        <p:spPr>
          <a:xfrm flipH="1" rot="10800000">
            <a:off x="8252004" y="5581111"/>
            <a:ext cx="3150972" cy="1288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277" name="Google Shape;277;p10"/>
          <p:cNvCxnSpPr>
            <a:endCxn id="278" idx="1"/>
          </p:cNvCxnSpPr>
          <p:nvPr/>
        </p:nvCxnSpPr>
        <p:spPr>
          <a:xfrm rot="10800000">
            <a:off x="9474707" y="4747287"/>
            <a:ext cx="0" cy="1600800"/>
          </a:xfrm>
          <a:prstGeom prst="straightConnector1">
            <a:avLst/>
          </a:prstGeom>
          <a:noFill/>
          <a:ln cap="flat" cmpd="sng" w="28575">
            <a:solidFill>
              <a:schemeClr val="dk1">
                <a:alpha val="37647"/>
              </a:schemeClr>
            </a:solidFill>
            <a:prstDash val="solid"/>
            <a:miter lim="8000"/>
            <a:headEnd len="sm" w="sm" type="none"/>
            <a:tailEnd len="lg" w="lg" type="stealth"/>
          </a:ln>
        </p:spPr>
      </p:cxnSp>
      <p:sp>
        <p:nvSpPr>
          <p:cNvPr id="278" name="Google Shape;278;p10"/>
          <p:cNvSpPr txBox="1"/>
          <p:nvPr/>
        </p:nvSpPr>
        <p:spPr>
          <a:xfrm>
            <a:off x="9474707" y="4516454"/>
            <a:ext cx="449622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4" l="-2702" r="-1756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9971016" y="5582399"/>
            <a:ext cx="1822631" cy="49725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23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7026108" y="4133869"/>
            <a:ext cx="4386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Transfer Characteristics (VTC)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8095281" y="1902650"/>
            <a:ext cx="36580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Difference Amplifier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Amplifies the voltage difference between two terminals.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10"/>
          <p:cNvCxnSpPr>
            <a:stCxn id="274" idx="3"/>
          </p:cNvCxnSpPr>
          <p:nvPr/>
        </p:nvCxnSpPr>
        <p:spPr>
          <a:xfrm>
            <a:off x="7414946" y="2771508"/>
            <a:ext cx="6804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"/>
            <a:headEnd len="sm" w="sm" type="none"/>
            <a:tailEnd len="med" w="med" type="stealth"/>
          </a:ln>
        </p:spPr>
      </p:cxnSp>
      <p:grpSp>
        <p:nvGrpSpPr>
          <p:cNvPr id="283" name="Google Shape;283;p10"/>
          <p:cNvGrpSpPr/>
          <p:nvPr/>
        </p:nvGrpSpPr>
        <p:grpSpPr>
          <a:xfrm>
            <a:off x="1225943" y="4271328"/>
            <a:ext cx="5241968" cy="2107154"/>
            <a:chOff x="6494310" y="3529522"/>
            <a:chExt cx="5241968" cy="2317869"/>
          </a:xfrm>
        </p:grpSpPr>
        <p:pic>
          <p:nvPicPr>
            <p:cNvPr id="284" name="Google Shape;284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51617" y="3529522"/>
              <a:ext cx="3892750" cy="23178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10"/>
            <p:cNvSpPr txBox="1"/>
            <p:nvPr/>
          </p:nvSpPr>
          <p:spPr>
            <a:xfrm>
              <a:off x="10742525" y="4391950"/>
              <a:ext cx="993753" cy="50783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28945" l="-9814" r="0" t="-1052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6494310" y="4391950"/>
              <a:ext cx="974324" cy="50783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394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7" name="Google Shape;287;p10"/>
          <p:cNvCxnSpPr>
            <a:stCxn id="273" idx="1"/>
            <a:endCxn id="274" idx="1"/>
          </p:cNvCxnSpPr>
          <p:nvPr/>
        </p:nvCxnSpPr>
        <p:spPr>
          <a:xfrm flipH="1" rot="10800000">
            <a:off x="1273060" y="2771567"/>
            <a:ext cx="4012800" cy="115200"/>
          </a:xfrm>
          <a:prstGeom prst="bentConnector5">
            <a:avLst>
              <a:gd fmla="val -5697" name="adj1"/>
              <a:gd fmla="val 995160" name="adj2"/>
              <a:gd fmla="val 92214" name="adj3"/>
            </a:avLst>
          </a:prstGeom>
          <a:noFill/>
          <a:ln cap="flat" cmpd="sng" w="57150">
            <a:solidFill>
              <a:srgbClr val="0000FF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 txBox="1"/>
          <p:nvPr/>
        </p:nvSpPr>
        <p:spPr>
          <a:xfrm>
            <a:off x="838200" y="1591991"/>
            <a:ext cx="10015548" cy="27653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78" r="0" t="-19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VTC – Linear Amplification</a:t>
            </a:r>
            <a:endParaRPr/>
          </a:p>
        </p:txBody>
      </p:sp>
      <p:cxnSp>
        <p:nvCxnSpPr>
          <p:cNvPr id="294" name="Google Shape;294;p11"/>
          <p:cNvCxnSpPr/>
          <p:nvPr/>
        </p:nvCxnSpPr>
        <p:spPr>
          <a:xfrm flipH="1" rot="10800000">
            <a:off x="6566779" y="4753683"/>
            <a:ext cx="3150972" cy="1288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295" name="Google Shape;295;p11"/>
          <p:cNvCxnSpPr/>
          <p:nvPr/>
        </p:nvCxnSpPr>
        <p:spPr>
          <a:xfrm rot="10800000">
            <a:off x="7789482" y="3194130"/>
            <a:ext cx="0" cy="2326466"/>
          </a:xfrm>
          <a:prstGeom prst="straightConnector1">
            <a:avLst/>
          </a:prstGeom>
          <a:noFill/>
          <a:ln cap="flat" cmpd="sng" w="28575">
            <a:solidFill>
              <a:schemeClr val="dk1">
                <a:alpha val="37647"/>
              </a:schemeClr>
            </a:solidFill>
            <a:prstDash val="solid"/>
            <a:miter lim="8000"/>
            <a:headEnd len="sm" w="sm" type="none"/>
            <a:tailEnd len="lg" w="lg" type="stealth"/>
          </a:ln>
        </p:spPr>
      </p:cxnSp>
      <p:sp>
        <p:nvSpPr>
          <p:cNvPr id="296" name="Google Shape;296;p11"/>
          <p:cNvSpPr txBox="1"/>
          <p:nvPr/>
        </p:nvSpPr>
        <p:spPr>
          <a:xfrm>
            <a:off x="7474348" y="2705977"/>
            <a:ext cx="449622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4" l="-2701" r="-1621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9318464" y="4754971"/>
            <a:ext cx="789958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94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11"/>
          <p:cNvCxnSpPr/>
          <p:nvPr/>
        </p:nvCxnSpPr>
        <p:spPr>
          <a:xfrm flipH="1" rot="10800000">
            <a:off x="6964563" y="3877529"/>
            <a:ext cx="1692999" cy="169299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9" name="Google Shape;299;p11"/>
          <p:cNvSpPr txBox="1"/>
          <p:nvPr/>
        </p:nvSpPr>
        <p:spPr>
          <a:xfrm>
            <a:off x="8655324" y="3728522"/>
            <a:ext cx="295209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0" r="-1445" t="-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11"/>
          <p:cNvCxnSpPr/>
          <p:nvPr/>
        </p:nvCxnSpPr>
        <p:spPr>
          <a:xfrm flipH="1" rot="10800000">
            <a:off x="6798067" y="4514017"/>
            <a:ext cx="1940976" cy="47178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1" name="Google Shape;301;p11"/>
          <p:cNvSpPr txBox="1"/>
          <p:nvPr/>
        </p:nvSpPr>
        <p:spPr>
          <a:xfrm>
            <a:off x="8758204" y="4292018"/>
            <a:ext cx="317776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0" r="0" t="-81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11"/>
          <p:cNvCxnSpPr/>
          <p:nvPr/>
        </p:nvCxnSpPr>
        <p:spPr>
          <a:xfrm flipH="1" rot="10800000">
            <a:off x="7699159" y="3623616"/>
            <a:ext cx="224811" cy="189698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3" name="Google Shape;303;p11"/>
          <p:cNvSpPr txBox="1"/>
          <p:nvPr/>
        </p:nvSpPr>
        <p:spPr>
          <a:xfrm>
            <a:off x="7879806" y="3254284"/>
            <a:ext cx="3177765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6" l="0" r="0" t="-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1787167" y="5059980"/>
            <a:ext cx="5121787" cy="64633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942" l="-950" r="0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3448072" y="5916916"/>
            <a:ext cx="43346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AMPLIFICATION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7069716" y="3723754"/>
            <a:ext cx="603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11"/>
          <p:cNvCxnSpPr>
            <a:stCxn id="306" idx="3"/>
          </p:cNvCxnSpPr>
          <p:nvPr/>
        </p:nvCxnSpPr>
        <p:spPr>
          <a:xfrm>
            <a:off x="7672766" y="3908420"/>
            <a:ext cx="962400" cy="0"/>
          </a:xfrm>
          <a:prstGeom prst="straightConnector1">
            <a:avLst/>
          </a:prstGeom>
          <a:noFill/>
          <a:ln cap="rnd" cmpd="sng" w="158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8" name="Google Shape;308;p11"/>
          <p:cNvCxnSpPr/>
          <p:nvPr/>
        </p:nvCxnSpPr>
        <p:spPr>
          <a:xfrm>
            <a:off x="8624135" y="3908420"/>
            <a:ext cx="0" cy="833824"/>
          </a:xfrm>
          <a:prstGeom prst="straightConnector1">
            <a:avLst/>
          </a:prstGeom>
          <a:noFill/>
          <a:ln cap="rnd" cmpd="sng" w="158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9" name="Google Shape;309;p11"/>
          <p:cNvSpPr txBox="1"/>
          <p:nvPr/>
        </p:nvSpPr>
        <p:spPr>
          <a:xfrm>
            <a:off x="8367924" y="4742244"/>
            <a:ext cx="660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VTC – Linear Amplification</a:t>
            </a:r>
            <a:endParaRPr/>
          </a:p>
        </p:txBody>
      </p:sp>
      <p:sp>
        <p:nvSpPr>
          <p:cNvPr id="315" name="Google Shape;315;p12"/>
          <p:cNvSpPr txBox="1"/>
          <p:nvPr>
            <p:ph idx="1" type="body"/>
          </p:nvPr>
        </p:nvSpPr>
        <p:spPr>
          <a:xfrm>
            <a:off x="838200" y="1825625"/>
            <a:ext cx="10515600" cy="20767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Linear Amplification </a:t>
            </a:r>
            <a:r>
              <a:rPr lang="en-US"/>
              <a:t>only takes place</a:t>
            </a:r>
            <a:r>
              <a:rPr lang="en-US" sz="2800"/>
              <a:t> within a </a:t>
            </a:r>
            <a:r>
              <a:rPr b="1" lang="en-US" sz="2800" u="sng">
                <a:solidFill>
                  <a:srgbClr val="0000FF"/>
                </a:solidFill>
              </a:rPr>
              <a:t>valid input range.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Otherwise output will be distorted</a:t>
            </a:r>
            <a:r>
              <a:rPr lang="en-US"/>
              <a:t> - - Saturation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 </a:t>
            </a:r>
            <a:endParaRPr/>
          </a:p>
        </p:txBody>
      </p:sp>
      <p:pic>
        <p:nvPicPr>
          <p:cNvPr descr="What is Distortion in Amplifier? Definition, types of distortion in  amplifier - Electronics Coach" id="316" name="Google Shape;316;p12"/>
          <p:cNvPicPr preferRelativeResize="0"/>
          <p:nvPr/>
        </p:nvPicPr>
        <p:blipFill rotWithShape="1">
          <a:blip r:embed="rId3">
            <a:alphaModFix/>
          </a:blip>
          <a:srcRect b="10900" l="0" r="0" t="0"/>
          <a:stretch/>
        </p:blipFill>
        <p:spPr>
          <a:xfrm>
            <a:off x="6783911" y="3572735"/>
            <a:ext cx="4757748" cy="143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 txBox="1"/>
          <p:nvPr/>
        </p:nvSpPr>
        <p:spPr>
          <a:xfrm>
            <a:off x="884617" y="5440577"/>
            <a:ext cx="1046918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limiting factor of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amplification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determined by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supply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 amplifier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2"/>
          <p:cNvPicPr preferRelativeResize="0"/>
          <p:nvPr/>
        </p:nvPicPr>
        <p:blipFill rotWithShape="1">
          <a:blip r:embed="rId4">
            <a:alphaModFix/>
          </a:blip>
          <a:srcRect b="6401" l="16152" r="8333" t="10691"/>
          <a:stretch/>
        </p:blipFill>
        <p:spPr>
          <a:xfrm>
            <a:off x="1146927" y="3049674"/>
            <a:ext cx="4775894" cy="2242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795" y="1745021"/>
            <a:ext cx="2929921" cy="22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VTC - Saturation</a:t>
            </a:r>
            <a:endParaRPr/>
          </a:p>
        </p:txBody>
      </p:sp>
      <p:cxnSp>
        <p:nvCxnSpPr>
          <p:cNvPr id="325" name="Google Shape;325;p13"/>
          <p:cNvCxnSpPr/>
          <p:nvPr/>
        </p:nvCxnSpPr>
        <p:spPr>
          <a:xfrm flipH="1" rot="10800000">
            <a:off x="4461459" y="5134133"/>
            <a:ext cx="3150972" cy="1288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326" name="Google Shape;326;p13"/>
          <p:cNvCxnSpPr/>
          <p:nvPr/>
        </p:nvCxnSpPr>
        <p:spPr>
          <a:xfrm rot="10800000">
            <a:off x="5684162" y="3574580"/>
            <a:ext cx="0" cy="2982833"/>
          </a:xfrm>
          <a:prstGeom prst="straightConnector1">
            <a:avLst/>
          </a:prstGeom>
          <a:noFill/>
          <a:ln cap="flat" cmpd="sng" w="28575">
            <a:solidFill>
              <a:schemeClr val="dk1">
                <a:alpha val="37647"/>
              </a:schemeClr>
            </a:solidFill>
            <a:prstDash val="solid"/>
            <a:miter lim="8000"/>
            <a:headEnd len="sm" w="sm" type="none"/>
            <a:tailEnd len="lg" w="lg" type="stealth"/>
          </a:ln>
        </p:spPr>
      </p:cxnSp>
      <p:sp>
        <p:nvSpPr>
          <p:cNvPr id="327" name="Google Shape;327;p13"/>
          <p:cNvSpPr txBox="1"/>
          <p:nvPr/>
        </p:nvSpPr>
        <p:spPr>
          <a:xfrm>
            <a:off x="5369028" y="3086427"/>
            <a:ext cx="1367994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102" l="-133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7213143" y="5135421"/>
            <a:ext cx="1267838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7102" l="-96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3"/>
          <p:cNvCxnSpPr/>
          <p:nvPr/>
        </p:nvCxnSpPr>
        <p:spPr>
          <a:xfrm flipH="1" rot="10800000">
            <a:off x="5294721" y="4141745"/>
            <a:ext cx="801279" cy="184765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0" name="Google Shape;330;p13"/>
          <p:cNvSpPr txBox="1"/>
          <p:nvPr/>
        </p:nvSpPr>
        <p:spPr>
          <a:xfrm>
            <a:off x="5874198" y="4222586"/>
            <a:ext cx="2216717" cy="65665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495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13"/>
          <p:cNvCxnSpPr/>
          <p:nvPr/>
        </p:nvCxnSpPr>
        <p:spPr>
          <a:xfrm rot="10800000">
            <a:off x="5262738" y="5031653"/>
            <a:ext cx="0" cy="187431"/>
          </a:xfrm>
          <a:prstGeom prst="straightConnector1">
            <a:avLst/>
          </a:prstGeom>
          <a:noFill/>
          <a:ln cap="rnd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3"/>
          <p:cNvCxnSpPr/>
          <p:nvPr/>
        </p:nvCxnSpPr>
        <p:spPr>
          <a:xfrm rot="10800000">
            <a:off x="6096000" y="5040417"/>
            <a:ext cx="0" cy="187431"/>
          </a:xfrm>
          <a:prstGeom prst="straightConnector1">
            <a:avLst/>
          </a:prstGeom>
          <a:noFill/>
          <a:ln cap="rnd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13"/>
          <p:cNvSpPr txBox="1"/>
          <p:nvPr/>
        </p:nvSpPr>
        <p:spPr>
          <a:xfrm>
            <a:off x="5874198" y="5193077"/>
            <a:ext cx="62690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4779454" y="5193077"/>
            <a:ext cx="793807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3"/>
          <p:cNvCxnSpPr/>
          <p:nvPr/>
        </p:nvCxnSpPr>
        <p:spPr>
          <a:xfrm rot="10800000">
            <a:off x="5684162" y="4154298"/>
            <a:ext cx="90324" cy="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13"/>
          <p:cNvCxnSpPr/>
          <p:nvPr/>
        </p:nvCxnSpPr>
        <p:spPr>
          <a:xfrm rot="10800000">
            <a:off x="5670021" y="5983098"/>
            <a:ext cx="90324" cy="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3"/>
          <p:cNvSpPr txBox="1"/>
          <p:nvPr/>
        </p:nvSpPr>
        <p:spPr>
          <a:xfrm>
            <a:off x="5272324" y="3954463"/>
            <a:ext cx="365805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5804139" y="5787347"/>
            <a:ext cx="538930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13"/>
          <p:cNvCxnSpPr/>
          <p:nvPr/>
        </p:nvCxnSpPr>
        <p:spPr>
          <a:xfrm flipH="1" rot="10800000">
            <a:off x="6084801" y="4152693"/>
            <a:ext cx="676482" cy="714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0" name="Google Shape;340;p13"/>
          <p:cNvCxnSpPr/>
          <p:nvPr/>
        </p:nvCxnSpPr>
        <p:spPr>
          <a:xfrm flipH="1" rot="10800000">
            <a:off x="4629438" y="5961660"/>
            <a:ext cx="708883" cy="748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1" name="Google Shape;341;p13"/>
          <p:cNvSpPr txBox="1"/>
          <p:nvPr/>
        </p:nvSpPr>
        <p:spPr>
          <a:xfrm>
            <a:off x="7996301" y="3429000"/>
            <a:ext cx="3680675" cy="96718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182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881064" y="5365275"/>
            <a:ext cx="3984039" cy="967188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168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3885788" y="1919063"/>
            <a:ext cx="4829257" cy="1032978"/>
          </a:xfrm>
          <a:prstGeom prst="roundRect">
            <a:avLst>
              <a:gd fmla="val 16667" name="adj"/>
            </a:avLst>
          </a:prstGeom>
          <a:blipFill rotWithShape="1">
            <a:blip r:embed="rId13">
              <a:alphaModFix/>
            </a:blip>
            <a:stretch>
              <a:fillRect b="-2298" l="0" r="0" t="0"/>
            </a:stretch>
          </a:blip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931236" y="3891205"/>
            <a:ext cx="26210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Non-Linear characteristics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2591241" y="3557808"/>
            <a:ext cx="801280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1515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 txBox="1"/>
          <p:nvPr/>
        </p:nvSpPr>
        <p:spPr>
          <a:xfrm>
            <a:off x="2591241" y="1873725"/>
            <a:ext cx="801280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VTC - Saturation</a:t>
            </a:r>
            <a:endParaRPr/>
          </a:p>
        </p:txBody>
      </p:sp>
      <p:pic>
        <p:nvPicPr>
          <p:cNvPr descr="What is Distortion in Amplifier? Definition, types of distortion in  amplifier - Electronics Coach" id="352" name="Google Shape;352;p14"/>
          <p:cNvPicPr preferRelativeResize="0"/>
          <p:nvPr/>
        </p:nvPicPr>
        <p:blipFill rotWithShape="1">
          <a:blip r:embed="rId3">
            <a:alphaModFix/>
          </a:blip>
          <a:srcRect b="10900" l="0" r="0" t="0"/>
          <a:stretch/>
        </p:blipFill>
        <p:spPr>
          <a:xfrm>
            <a:off x="6018696" y="1909170"/>
            <a:ext cx="4757748" cy="1436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3" name="Google Shape;353;p14"/>
          <p:cNvCxnSpPr/>
          <p:nvPr/>
        </p:nvCxnSpPr>
        <p:spPr>
          <a:xfrm flipH="1" rot="10800000">
            <a:off x="1792495" y="4674976"/>
            <a:ext cx="3150972" cy="1288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354" name="Google Shape;354;p14"/>
          <p:cNvCxnSpPr/>
          <p:nvPr/>
        </p:nvCxnSpPr>
        <p:spPr>
          <a:xfrm rot="10800000">
            <a:off x="3015198" y="3115423"/>
            <a:ext cx="0" cy="2982833"/>
          </a:xfrm>
          <a:prstGeom prst="straightConnector1">
            <a:avLst/>
          </a:prstGeom>
          <a:noFill/>
          <a:ln cap="flat" cmpd="sng" w="28575">
            <a:solidFill>
              <a:schemeClr val="dk1">
                <a:alpha val="37647"/>
              </a:schemeClr>
            </a:solidFill>
            <a:prstDash val="solid"/>
            <a:miter lim="8000"/>
            <a:headEnd len="sm" w="sm" type="none"/>
            <a:tailEnd len="lg" w="lg" type="stealth"/>
          </a:ln>
        </p:spPr>
      </p:cxnSp>
      <p:sp>
        <p:nvSpPr>
          <p:cNvPr id="355" name="Google Shape;355;p14"/>
          <p:cNvSpPr txBox="1"/>
          <p:nvPr/>
        </p:nvSpPr>
        <p:spPr>
          <a:xfrm>
            <a:off x="2700064" y="2627270"/>
            <a:ext cx="1367994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102" l="-133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14"/>
          <p:cNvCxnSpPr/>
          <p:nvPr/>
        </p:nvCxnSpPr>
        <p:spPr>
          <a:xfrm flipH="1" rot="10800000">
            <a:off x="2625757" y="3682588"/>
            <a:ext cx="801279" cy="184765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7" name="Google Shape;357;p14"/>
          <p:cNvSpPr txBox="1"/>
          <p:nvPr/>
        </p:nvSpPr>
        <p:spPr>
          <a:xfrm>
            <a:off x="3205234" y="3763429"/>
            <a:ext cx="2216717" cy="65665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88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14"/>
          <p:cNvCxnSpPr/>
          <p:nvPr/>
        </p:nvCxnSpPr>
        <p:spPr>
          <a:xfrm rot="10800000">
            <a:off x="2593774" y="4572496"/>
            <a:ext cx="0" cy="187431"/>
          </a:xfrm>
          <a:prstGeom prst="straightConnector1">
            <a:avLst/>
          </a:prstGeom>
          <a:noFill/>
          <a:ln cap="rnd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4"/>
          <p:cNvCxnSpPr/>
          <p:nvPr/>
        </p:nvCxnSpPr>
        <p:spPr>
          <a:xfrm rot="10800000">
            <a:off x="3427036" y="4581260"/>
            <a:ext cx="0" cy="187431"/>
          </a:xfrm>
          <a:prstGeom prst="straightConnector1">
            <a:avLst/>
          </a:prstGeom>
          <a:noFill/>
          <a:ln cap="rnd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14"/>
          <p:cNvSpPr txBox="1"/>
          <p:nvPr/>
        </p:nvSpPr>
        <p:spPr>
          <a:xfrm>
            <a:off x="3205234" y="4733920"/>
            <a:ext cx="62690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2110490" y="4733920"/>
            <a:ext cx="793807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14"/>
          <p:cNvCxnSpPr/>
          <p:nvPr/>
        </p:nvCxnSpPr>
        <p:spPr>
          <a:xfrm rot="10800000">
            <a:off x="3015198" y="3695141"/>
            <a:ext cx="90324" cy="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14"/>
          <p:cNvCxnSpPr/>
          <p:nvPr/>
        </p:nvCxnSpPr>
        <p:spPr>
          <a:xfrm rot="10800000">
            <a:off x="3001057" y="5523941"/>
            <a:ext cx="90324" cy="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4"/>
          <p:cNvSpPr txBox="1"/>
          <p:nvPr/>
        </p:nvSpPr>
        <p:spPr>
          <a:xfrm>
            <a:off x="2603360" y="3495306"/>
            <a:ext cx="365805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3135175" y="5328190"/>
            <a:ext cx="538930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14"/>
          <p:cNvCxnSpPr/>
          <p:nvPr/>
        </p:nvCxnSpPr>
        <p:spPr>
          <a:xfrm flipH="1" rot="10800000">
            <a:off x="3415837" y="3693536"/>
            <a:ext cx="676482" cy="714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7" name="Google Shape;367;p14"/>
          <p:cNvCxnSpPr/>
          <p:nvPr/>
        </p:nvCxnSpPr>
        <p:spPr>
          <a:xfrm flipH="1" rot="10800000">
            <a:off x="1960474" y="5502503"/>
            <a:ext cx="708883" cy="748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8" name="Google Shape;368;p14"/>
          <p:cNvSpPr/>
          <p:nvPr/>
        </p:nvSpPr>
        <p:spPr>
          <a:xfrm>
            <a:off x="6018696" y="4026010"/>
            <a:ext cx="4998401" cy="215448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4567839" y="4687753"/>
            <a:ext cx="1267838" cy="46166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7102" l="-96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048500" y="4119033"/>
            <a:ext cx="65617" cy="1799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7015691" y="5780616"/>
            <a:ext cx="65617" cy="1799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1365" y="991349"/>
            <a:ext cx="3387851" cy="261424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VTC - Summary</a:t>
            </a:r>
            <a:endParaRPr/>
          </a:p>
        </p:txBody>
      </p:sp>
      <p:sp>
        <p:nvSpPr>
          <p:cNvPr id="378" name="Google Shape;378;p15"/>
          <p:cNvSpPr txBox="1"/>
          <p:nvPr/>
        </p:nvSpPr>
        <p:spPr>
          <a:xfrm>
            <a:off x="7317013" y="1745644"/>
            <a:ext cx="420624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5432384" y="2083638"/>
            <a:ext cx="2128981" cy="4296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142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15"/>
          <p:cNvCxnSpPr/>
          <p:nvPr/>
        </p:nvCxnSpPr>
        <p:spPr>
          <a:xfrm>
            <a:off x="6550218" y="5195761"/>
            <a:ext cx="3547872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381" name="Google Shape;381;p15"/>
          <p:cNvCxnSpPr/>
          <p:nvPr/>
        </p:nvCxnSpPr>
        <p:spPr>
          <a:xfrm rot="10800000">
            <a:off x="8182467" y="3678527"/>
            <a:ext cx="0" cy="2606040"/>
          </a:xfrm>
          <a:prstGeom prst="straightConnector1">
            <a:avLst/>
          </a:prstGeom>
          <a:noFill/>
          <a:ln cap="flat" cmpd="sng" w="28575">
            <a:solidFill>
              <a:schemeClr val="dk1">
                <a:alpha val="37647"/>
              </a:schemeClr>
            </a:solidFill>
            <a:prstDash val="solid"/>
            <a:miter lim="8000"/>
            <a:headEnd len="sm" w="sm" type="none"/>
            <a:tailEnd len="lg" w="lg" type="stealth"/>
          </a:ln>
        </p:spPr>
      </p:cxnSp>
      <p:sp>
        <p:nvSpPr>
          <p:cNvPr id="382" name="Google Shape;382;p15"/>
          <p:cNvSpPr txBox="1"/>
          <p:nvPr/>
        </p:nvSpPr>
        <p:spPr>
          <a:xfrm>
            <a:off x="8169821" y="3441995"/>
            <a:ext cx="449622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5" l="-2702" r="-1756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 txBox="1"/>
          <p:nvPr/>
        </p:nvSpPr>
        <p:spPr>
          <a:xfrm>
            <a:off x="9476428" y="4907523"/>
            <a:ext cx="1822631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94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15"/>
          <p:cNvCxnSpPr/>
          <p:nvPr/>
        </p:nvCxnSpPr>
        <p:spPr>
          <a:xfrm>
            <a:off x="8829448" y="4334360"/>
            <a:ext cx="1192775" cy="0"/>
          </a:xfrm>
          <a:prstGeom prst="straightConnector1">
            <a:avLst/>
          </a:prstGeom>
          <a:noFill/>
          <a:ln cap="rnd" cmpd="sng" w="317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15"/>
          <p:cNvCxnSpPr/>
          <p:nvPr/>
        </p:nvCxnSpPr>
        <p:spPr>
          <a:xfrm>
            <a:off x="6268008" y="5955384"/>
            <a:ext cx="1293357" cy="0"/>
          </a:xfrm>
          <a:prstGeom prst="straightConnector1">
            <a:avLst/>
          </a:prstGeom>
          <a:noFill/>
          <a:ln cap="flat" cmpd="sng" w="31750">
            <a:solidFill>
              <a:srgbClr val="7030A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86" name="Google Shape;386;p15"/>
          <p:cNvCxnSpPr/>
          <p:nvPr/>
        </p:nvCxnSpPr>
        <p:spPr>
          <a:xfrm flipH="1">
            <a:off x="7561365" y="4334360"/>
            <a:ext cx="1268083" cy="1621024"/>
          </a:xfrm>
          <a:prstGeom prst="straightConnector1">
            <a:avLst/>
          </a:prstGeom>
          <a:noFill/>
          <a:ln cap="rnd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15"/>
          <p:cNvSpPr txBox="1"/>
          <p:nvPr/>
        </p:nvSpPr>
        <p:spPr>
          <a:xfrm>
            <a:off x="7269645" y="4103526"/>
            <a:ext cx="900176" cy="4616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14" l="-678" r="-67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8169355" y="5684290"/>
            <a:ext cx="900176" cy="4616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916564" y="2212513"/>
            <a:ext cx="2571153" cy="121648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-2369" r="-236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912280" y="5392612"/>
            <a:ext cx="3097255" cy="107907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177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7452200" y="3171997"/>
            <a:ext cx="12709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9725046" y="5220320"/>
            <a:ext cx="12709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838200" y="1470236"/>
            <a:ext cx="4386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Transfer Characteristics (VTC)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838200" y="3601857"/>
            <a:ext cx="3693310" cy="1123712"/>
          </a:xfrm>
          <a:prstGeom prst="roundRect">
            <a:avLst>
              <a:gd fmla="val 16667" name="adj"/>
            </a:avLst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15"/>
          <p:cNvCxnSpPr/>
          <p:nvPr/>
        </p:nvCxnSpPr>
        <p:spPr>
          <a:xfrm>
            <a:off x="8829448" y="5141080"/>
            <a:ext cx="0" cy="10531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6" name="Google Shape;396;p15"/>
          <p:cNvCxnSpPr/>
          <p:nvPr/>
        </p:nvCxnSpPr>
        <p:spPr>
          <a:xfrm>
            <a:off x="7598342" y="5141080"/>
            <a:ext cx="0" cy="10531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7" name="Google Shape;397;p15"/>
          <p:cNvSpPr txBox="1"/>
          <p:nvPr/>
        </p:nvSpPr>
        <p:spPr>
          <a:xfrm>
            <a:off x="7975281" y="5213028"/>
            <a:ext cx="1822631" cy="436851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6683327" y="5213028"/>
            <a:ext cx="1822631" cy="436851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912279" y="1952263"/>
            <a:ext cx="26427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saturation: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 txBox="1"/>
          <p:nvPr/>
        </p:nvSpPr>
        <p:spPr>
          <a:xfrm>
            <a:off x="912279" y="5086869"/>
            <a:ext cx="3097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saturation: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Examples</a:t>
            </a:r>
            <a:endParaRPr/>
          </a:p>
        </p:txBody>
      </p:sp>
      <p:pic>
        <p:nvPicPr>
          <p:cNvPr id="406" name="Google Shape;40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390" y="2764446"/>
            <a:ext cx="4026107" cy="316246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6"/>
          <p:cNvSpPr txBox="1"/>
          <p:nvPr/>
        </p:nvSpPr>
        <p:spPr>
          <a:xfrm>
            <a:off x="973777" y="1884475"/>
            <a:ext cx="896527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211" l="-6121" r="0" t="-151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408" name="Google Shape;4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6333" y="2581494"/>
            <a:ext cx="5156675" cy="378156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6"/>
          <p:cNvSpPr txBox="1"/>
          <p:nvPr/>
        </p:nvSpPr>
        <p:spPr>
          <a:xfrm>
            <a:off x="3048595" y="3244334"/>
            <a:ext cx="6097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17"/>
          <p:cNvPicPr preferRelativeResize="0"/>
          <p:nvPr/>
        </p:nvPicPr>
        <p:blipFill rotWithShape="1">
          <a:blip r:embed="rId3">
            <a:alphaModFix/>
          </a:blip>
          <a:srcRect b="4196" l="6693" r="6208" t="3063"/>
          <a:stretch/>
        </p:blipFill>
        <p:spPr>
          <a:xfrm>
            <a:off x="838200" y="2358272"/>
            <a:ext cx="3506485" cy="293276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1</a:t>
            </a:r>
            <a:endParaRPr/>
          </a:p>
        </p:txBody>
      </p:sp>
      <p:sp>
        <p:nvSpPr>
          <p:cNvPr id="416" name="Google Shape;416;p17"/>
          <p:cNvSpPr txBox="1"/>
          <p:nvPr>
            <p:ph idx="1" type="body"/>
          </p:nvPr>
        </p:nvSpPr>
        <p:spPr>
          <a:xfrm>
            <a:off x="838200" y="1825625"/>
            <a:ext cx="2276475" cy="631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58" l="-4996" r="0" t="-1568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17" name="Google Shape;417;p17"/>
          <p:cNvSpPr txBox="1"/>
          <p:nvPr/>
        </p:nvSpPr>
        <p:spPr>
          <a:xfrm>
            <a:off x="5512827" y="1825625"/>
            <a:ext cx="13340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6846847" y="2287290"/>
            <a:ext cx="4685192" cy="4296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12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6846847" y="3178624"/>
            <a:ext cx="4632294" cy="43973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6882131" y="4084122"/>
            <a:ext cx="3441007" cy="400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5755" l="-1949" r="0" t="-9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6882131" y="4884222"/>
            <a:ext cx="2071465" cy="40011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0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17"/>
          <p:cNvGrpSpPr/>
          <p:nvPr/>
        </p:nvGrpSpPr>
        <p:grpSpPr>
          <a:xfrm>
            <a:off x="3425637" y="3765590"/>
            <a:ext cx="3504430" cy="2660443"/>
            <a:chOff x="3425637" y="3765590"/>
            <a:chExt cx="3504430" cy="2660443"/>
          </a:xfrm>
        </p:grpSpPr>
        <p:cxnSp>
          <p:nvCxnSpPr>
            <p:cNvPr id="423" name="Google Shape;423;p17"/>
            <p:cNvCxnSpPr/>
            <p:nvPr/>
          </p:nvCxnSpPr>
          <p:spPr>
            <a:xfrm flipH="1" rot="10800000">
              <a:off x="3425637" y="5356328"/>
              <a:ext cx="3000812" cy="1227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miter lim="8000"/>
              <a:headEnd len="sm" w="sm" type="none"/>
              <a:tailEnd len="lg" w="lg" type="stealth"/>
            </a:ln>
          </p:spPr>
        </p:cxnSp>
        <p:cxnSp>
          <p:nvCxnSpPr>
            <p:cNvPr id="424" name="Google Shape;424;p17"/>
            <p:cNvCxnSpPr/>
            <p:nvPr/>
          </p:nvCxnSpPr>
          <p:spPr>
            <a:xfrm rot="10800000">
              <a:off x="4590072" y="3871096"/>
              <a:ext cx="0" cy="2554937"/>
            </a:xfrm>
            <a:prstGeom prst="straightConnector1">
              <a:avLst/>
            </a:prstGeom>
            <a:noFill/>
            <a:ln cap="flat" cmpd="sng" w="28575">
              <a:solidFill>
                <a:schemeClr val="dk1">
                  <a:alpha val="37647"/>
                </a:schemeClr>
              </a:solidFill>
              <a:prstDash val="solid"/>
              <a:miter lim="8000"/>
              <a:headEnd len="sm" w="sm" type="none"/>
              <a:tailEnd len="lg" w="lg" type="stealth"/>
            </a:ln>
          </p:spPr>
        </p:cxnSp>
        <p:sp>
          <p:nvSpPr>
            <p:cNvPr id="425" name="Google Shape;425;p17"/>
            <p:cNvSpPr txBox="1"/>
            <p:nvPr/>
          </p:nvSpPr>
          <p:spPr>
            <a:xfrm>
              <a:off x="4576605" y="3765590"/>
              <a:ext cx="1302802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3332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6" name="Google Shape;426;p17"/>
            <p:cNvCxnSpPr/>
            <p:nvPr/>
          </p:nvCxnSpPr>
          <p:spPr>
            <a:xfrm flipH="1" rot="10800000">
              <a:off x="4219190" y="4411233"/>
              <a:ext cx="763094" cy="175960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427" name="Google Shape;427;p17"/>
            <p:cNvSpPr txBox="1"/>
            <p:nvPr/>
          </p:nvSpPr>
          <p:spPr>
            <a:xfrm>
              <a:off x="4787305" y="4676005"/>
              <a:ext cx="1519340" cy="37965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8" name="Google Shape;428;p17"/>
            <p:cNvCxnSpPr/>
            <p:nvPr/>
          </p:nvCxnSpPr>
          <p:spPr>
            <a:xfrm rot="10800000">
              <a:off x="4188731" y="5258732"/>
              <a:ext cx="0" cy="178499"/>
            </a:xfrm>
            <a:prstGeom prst="straightConnector1">
              <a:avLst/>
            </a:prstGeom>
            <a:noFill/>
            <a:ln cap="rnd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17"/>
            <p:cNvCxnSpPr/>
            <p:nvPr/>
          </p:nvCxnSpPr>
          <p:spPr>
            <a:xfrm rot="10800000">
              <a:off x="4982284" y="5267078"/>
              <a:ext cx="0" cy="178499"/>
            </a:xfrm>
            <a:prstGeom prst="straightConnector1">
              <a:avLst/>
            </a:prstGeom>
            <a:noFill/>
            <a:ln cap="rnd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0" name="Google Shape;430;p17"/>
            <p:cNvSpPr txBox="1"/>
            <p:nvPr/>
          </p:nvSpPr>
          <p:spPr>
            <a:xfrm>
              <a:off x="4771052" y="5412463"/>
              <a:ext cx="620683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666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7"/>
            <p:cNvSpPr txBox="1"/>
            <p:nvPr/>
          </p:nvSpPr>
          <p:spPr>
            <a:xfrm>
              <a:off x="3728478" y="5412463"/>
              <a:ext cx="793807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666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2" name="Google Shape;432;p17"/>
            <p:cNvCxnSpPr/>
            <p:nvPr/>
          </p:nvCxnSpPr>
          <p:spPr>
            <a:xfrm rot="10800000">
              <a:off x="4504052" y="4428461"/>
              <a:ext cx="86020" cy="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3" name="Google Shape;433;p17"/>
            <p:cNvCxnSpPr/>
            <p:nvPr/>
          </p:nvCxnSpPr>
          <p:spPr>
            <a:xfrm rot="10800000">
              <a:off x="4576605" y="6164835"/>
              <a:ext cx="86020" cy="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4" name="Google Shape;434;p17"/>
            <p:cNvSpPr txBox="1"/>
            <p:nvPr/>
          </p:nvSpPr>
          <p:spPr>
            <a:xfrm>
              <a:off x="4097663" y="4240801"/>
              <a:ext cx="494046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7"/>
            <p:cNvSpPr txBox="1"/>
            <p:nvPr/>
          </p:nvSpPr>
          <p:spPr>
            <a:xfrm>
              <a:off x="4704331" y="5978413"/>
              <a:ext cx="667170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17"/>
            <p:cNvCxnSpPr/>
            <p:nvPr/>
          </p:nvCxnSpPr>
          <p:spPr>
            <a:xfrm>
              <a:off x="4971618" y="4428461"/>
              <a:ext cx="90778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7" name="Google Shape;437;p17"/>
            <p:cNvCxnSpPr/>
            <p:nvPr/>
          </p:nvCxnSpPr>
          <p:spPr>
            <a:xfrm flipH="1" rot="10800000">
              <a:off x="3585611" y="6144419"/>
              <a:ext cx="675101" cy="712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438" name="Google Shape;438;p17"/>
            <p:cNvSpPr txBox="1"/>
            <p:nvPr/>
          </p:nvSpPr>
          <p:spPr>
            <a:xfrm>
              <a:off x="6068723" y="5368496"/>
              <a:ext cx="861344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13332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9" name="Google Shape;439;p17"/>
          <p:cNvCxnSpPr/>
          <p:nvPr/>
        </p:nvCxnSpPr>
        <p:spPr>
          <a:xfrm rot="10800000">
            <a:off x="4490585" y="5100863"/>
            <a:ext cx="86020" cy="0"/>
          </a:xfrm>
          <a:prstGeom prst="straightConnector1">
            <a:avLst/>
          </a:prstGeom>
          <a:noFill/>
          <a:ln cap="rnd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17"/>
          <p:cNvSpPr txBox="1"/>
          <p:nvPr/>
        </p:nvSpPr>
        <p:spPr>
          <a:xfrm>
            <a:off x="4176112" y="4911380"/>
            <a:ext cx="365806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4638738" y="5029247"/>
            <a:ext cx="136056" cy="136056"/>
          </a:xfrm>
          <a:prstGeom prst="ellipse">
            <a:avLst/>
          </a:prstGeom>
          <a:solidFill>
            <a:srgbClr val="FF0000"/>
          </a:solidFill>
          <a:ln cap="flat" cmpd="sng" w="5715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6" name="Google Shape;446;p18"/>
          <p:cNvCxnSpPr/>
          <p:nvPr/>
        </p:nvCxnSpPr>
        <p:spPr>
          <a:xfrm rot="10800000">
            <a:off x="2381250" y="6169676"/>
            <a:ext cx="777349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miter lim="8000"/>
            <a:headEnd len="sm" w="sm" type="none"/>
            <a:tailEnd len="sm" w="sm" type="none"/>
          </a:ln>
        </p:spPr>
      </p:cxnSp>
      <p:pic>
        <p:nvPicPr>
          <p:cNvPr descr="Diagram&#10;&#10;Description automatically generated" id="447" name="Google Shape;4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919" y="2091385"/>
            <a:ext cx="4336040" cy="3179763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2</a:t>
            </a:r>
            <a:endParaRPr/>
          </a:p>
        </p:txBody>
      </p:sp>
      <p:sp>
        <p:nvSpPr>
          <p:cNvPr id="449" name="Google Shape;449;p18"/>
          <p:cNvSpPr txBox="1"/>
          <p:nvPr>
            <p:ph idx="1" type="body"/>
          </p:nvPr>
        </p:nvSpPr>
        <p:spPr>
          <a:xfrm>
            <a:off x="838200" y="1825625"/>
            <a:ext cx="2276475" cy="631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58" l="-4996" r="0" t="-1568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5512827" y="1825625"/>
            <a:ext cx="13340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 txBox="1"/>
          <p:nvPr/>
        </p:nvSpPr>
        <p:spPr>
          <a:xfrm>
            <a:off x="5869513" y="2287290"/>
            <a:ext cx="5367047" cy="4296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12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8"/>
          <p:cNvSpPr txBox="1"/>
          <p:nvPr/>
        </p:nvSpPr>
        <p:spPr>
          <a:xfrm>
            <a:off x="5853419" y="3173123"/>
            <a:ext cx="5574347" cy="43973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 txBox="1"/>
          <p:nvPr/>
        </p:nvSpPr>
        <p:spPr>
          <a:xfrm>
            <a:off x="5937256" y="4103744"/>
            <a:ext cx="2325508" cy="400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5755" l="-2885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8"/>
          <p:cNvSpPr txBox="1"/>
          <p:nvPr/>
        </p:nvSpPr>
        <p:spPr>
          <a:xfrm>
            <a:off x="7441161" y="4794684"/>
            <a:ext cx="2416111" cy="40011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07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5" name="Google Shape;455;p18"/>
          <p:cNvGrpSpPr/>
          <p:nvPr/>
        </p:nvGrpSpPr>
        <p:grpSpPr>
          <a:xfrm>
            <a:off x="3158599" y="3783720"/>
            <a:ext cx="3344456" cy="2660443"/>
            <a:chOff x="3585611" y="3765590"/>
            <a:chExt cx="3344456" cy="2660443"/>
          </a:xfrm>
        </p:grpSpPr>
        <p:cxnSp>
          <p:nvCxnSpPr>
            <p:cNvPr id="456" name="Google Shape;456;p18"/>
            <p:cNvCxnSpPr/>
            <p:nvPr/>
          </p:nvCxnSpPr>
          <p:spPr>
            <a:xfrm>
              <a:off x="3608362" y="5356328"/>
              <a:ext cx="2818087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miter lim="8000"/>
              <a:headEnd len="sm" w="sm" type="none"/>
              <a:tailEnd len="lg" w="lg" type="stealth"/>
            </a:ln>
          </p:spPr>
        </p:cxnSp>
        <p:cxnSp>
          <p:nvCxnSpPr>
            <p:cNvPr id="457" name="Google Shape;457;p18"/>
            <p:cNvCxnSpPr/>
            <p:nvPr/>
          </p:nvCxnSpPr>
          <p:spPr>
            <a:xfrm rot="10800000">
              <a:off x="4590072" y="3871096"/>
              <a:ext cx="0" cy="2554937"/>
            </a:xfrm>
            <a:prstGeom prst="straightConnector1">
              <a:avLst/>
            </a:prstGeom>
            <a:noFill/>
            <a:ln cap="flat" cmpd="sng" w="28575">
              <a:solidFill>
                <a:schemeClr val="dk1">
                  <a:alpha val="37647"/>
                </a:schemeClr>
              </a:solidFill>
              <a:prstDash val="solid"/>
              <a:miter lim="8000"/>
              <a:headEnd len="sm" w="sm" type="none"/>
              <a:tailEnd len="lg" w="lg" type="stealth"/>
            </a:ln>
          </p:spPr>
        </p:cxnSp>
        <p:sp>
          <p:nvSpPr>
            <p:cNvPr id="458" name="Google Shape;458;p18"/>
            <p:cNvSpPr txBox="1"/>
            <p:nvPr/>
          </p:nvSpPr>
          <p:spPr>
            <a:xfrm>
              <a:off x="4576605" y="3765590"/>
              <a:ext cx="1302802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3332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9" name="Google Shape;459;p18"/>
            <p:cNvCxnSpPr/>
            <p:nvPr/>
          </p:nvCxnSpPr>
          <p:spPr>
            <a:xfrm flipH="1" rot="10800000">
              <a:off x="4219190" y="4411233"/>
              <a:ext cx="763094" cy="175960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460" name="Google Shape;460;p18"/>
            <p:cNvSpPr txBox="1"/>
            <p:nvPr/>
          </p:nvSpPr>
          <p:spPr>
            <a:xfrm>
              <a:off x="4787305" y="4676005"/>
              <a:ext cx="1519340" cy="37965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" name="Google Shape;461;p18"/>
            <p:cNvCxnSpPr/>
            <p:nvPr/>
          </p:nvCxnSpPr>
          <p:spPr>
            <a:xfrm rot="10800000">
              <a:off x="4188731" y="5258732"/>
              <a:ext cx="0" cy="178499"/>
            </a:xfrm>
            <a:prstGeom prst="straightConnector1">
              <a:avLst/>
            </a:prstGeom>
            <a:noFill/>
            <a:ln cap="rnd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2" name="Google Shape;462;p18"/>
            <p:cNvCxnSpPr/>
            <p:nvPr/>
          </p:nvCxnSpPr>
          <p:spPr>
            <a:xfrm rot="10800000">
              <a:off x="4982284" y="5267078"/>
              <a:ext cx="0" cy="178499"/>
            </a:xfrm>
            <a:prstGeom prst="straightConnector1">
              <a:avLst/>
            </a:prstGeom>
            <a:noFill/>
            <a:ln cap="rnd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3" name="Google Shape;463;p18"/>
            <p:cNvSpPr txBox="1"/>
            <p:nvPr/>
          </p:nvSpPr>
          <p:spPr>
            <a:xfrm>
              <a:off x="4771052" y="5412463"/>
              <a:ext cx="620683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666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8"/>
            <p:cNvSpPr txBox="1"/>
            <p:nvPr/>
          </p:nvSpPr>
          <p:spPr>
            <a:xfrm>
              <a:off x="3728478" y="5412463"/>
              <a:ext cx="793807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666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5" name="Google Shape;465;p18"/>
            <p:cNvCxnSpPr/>
            <p:nvPr/>
          </p:nvCxnSpPr>
          <p:spPr>
            <a:xfrm rot="10800000">
              <a:off x="4504052" y="4428461"/>
              <a:ext cx="86020" cy="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6" name="Google Shape;466;p18"/>
            <p:cNvCxnSpPr/>
            <p:nvPr/>
          </p:nvCxnSpPr>
          <p:spPr>
            <a:xfrm rot="10800000">
              <a:off x="4576605" y="6164835"/>
              <a:ext cx="86020" cy="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7" name="Google Shape;467;p18"/>
            <p:cNvSpPr txBox="1"/>
            <p:nvPr/>
          </p:nvSpPr>
          <p:spPr>
            <a:xfrm>
              <a:off x="4097663" y="4240801"/>
              <a:ext cx="494046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8"/>
            <p:cNvSpPr txBox="1"/>
            <p:nvPr/>
          </p:nvSpPr>
          <p:spPr>
            <a:xfrm>
              <a:off x="4704331" y="5978413"/>
              <a:ext cx="667170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9" name="Google Shape;469;p18"/>
            <p:cNvCxnSpPr/>
            <p:nvPr/>
          </p:nvCxnSpPr>
          <p:spPr>
            <a:xfrm>
              <a:off x="4971618" y="4428461"/>
              <a:ext cx="90778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0" name="Google Shape;470;p18"/>
            <p:cNvCxnSpPr/>
            <p:nvPr/>
          </p:nvCxnSpPr>
          <p:spPr>
            <a:xfrm>
              <a:off x="3585611" y="6151546"/>
              <a:ext cx="63301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471" name="Google Shape;471;p18"/>
            <p:cNvSpPr txBox="1"/>
            <p:nvPr/>
          </p:nvSpPr>
          <p:spPr>
            <a:xfrm>
              <a:off x="6068723" y="5368496"/>
              <a:ext cx="861344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13332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2" name="Google Shape;472;p18"/>
          <p:cNvSpPr/>
          <p:nvPr/>
        </p:nvSpPr>
        <p:spPr>
          <a:xfrm>
            <a:off x="2681120" y="6101648"/>
            <a:ext cx="136056" cy="136056"/>
          </a:xfrm>
          <a:prstGeom prst="ellipse">
            <a:avLst/>
          </a:prstGeom>
          <a:solidFill>
            <a:srgbClr val="FF0000"/>
          </a:solidFill>
          <a:ln cap="flat" cmpd="sng" w="5715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18"/>
          <p:cNvCxnSpPr/>
          <p:nvPr/>
        </p:nvCxnSpPr>
        <p:spPr>
          <a:xfrm rot="10800000">
            <a:off x="2737785" y="5293869"/>
            <a:ext cx="0" cy="178499"/>
          </a:xfrm>
          <a:prstGeom prst="straightConnector1">
            <a:avLst/>
          </a:prstGeom>
          <a:noFill/>
          <a:ln cap="rnd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8"/>
          <p:cNvSpPr txBox="1"/>
          <p:nvPr/>
        </p:nvSpPr>
        <p:spPr>
          <a:xfrm>
            <a:off x="2277532" y="5447600"/>
            <a:ext cx="922047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6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18"/>
          <p:cNvCxnSpPr/>
          <p:nvPr/>
        </p:nvCxnSpPr>
        <p:spPr>
          <a:xfrm rot="10800000">
            <a:off x="2277532" y="5377510"/>
            <a:ext cx="881067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ot"/>
            <a:miter lim="8000"/>
            <a:headEnd len="sm" w="sm" type="none"/>
            <a:tailEnd len="sm" w="sm" type="none"/>
          </a:ln>
        </p:spPr>
      </p:cxnSp>
      <p:sp>
        <p:nvSpPr>
          <p:cNvPr id="476" name="Google Shape;476;p18"/>
          <p:cNvSpPr txBox="1"/>
          <p:nvPr/>
        </p:nvSpPr>
        <p:spPr>
          <a:xfrm>
            <a:off x="8401429" y="4075438"/>
            <a:ext cx="3097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(Negative saturation)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903" y="2625361"/>
            <a:ext cx="3534744" cy="272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9"/>
          <p:cNvPicPr preferRelativeResize="0"/>
          <p:nvPr/>
        </p:nvPicPr>
        <p:blipFill rotWithShape="1">
          <a:blip r:embed="rId4">
            <a:alphaModFix/>
          </a:blip>
          <a:srcRect b="0" l="0" r="9999" t="0"/>
          <a:stretch/>
        </p:blipFill>
        <p:spPr>
          <a:xfrm>
            <a:off x="8447071" y="316790"/>
            <a:ext cx="3648360" cy="41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Physical Entity</a:t>
            </a:r>
            <a:endParaRPr/>
          </a:p>
        </p:txBody>
      </p:sp>
      <p:pic>
        <p:nvPicPr>
          <p:cNvPr id="484" name="Google Shape;484;p19"/>
          <p:cNvPicPr preferRelativeResize="0"/>
          <p:nvPr/>
        </p:nvPicPr>
        <p:blipFill rotWithShape="1">
          <a:blip r:embed="rId5">
            <a:alphaModFix/>
          </a:blip>
          <a:srcRect b="7104" l="0" r="9261" t="9536"/>
          <a:stretch/>
        </p:blipFill>
        <p:spPr>
          <a:xfrm>
            <a:off x="4934969" y="3115179"/>
            <a:ext cx="5010309" cy="19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9"/>
          <p:cNvSpPr txBox="1"/>
          <p:nvPr/>
        </p:nvSpPr>
        <p:spPr>
          <a:xfrm>
            <a:off x="838199" y="5519478"/>
            <a:ext cx="459107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 symbol for the general-purpose op amp.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 numbering is that for 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8-pin mini-DIP package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9"/>
          <p:cNvSpPr txBox="1"/>
          <p:nvPr/>
        </p:nvSpPr>
        <p:spPr>
          <a:xfrm>
            <a:off x="6727176" y="2658667"/>
            <a:ext cx="22974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 –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7044574" y="5031457"/>
            <a:ext cx="1662635" cy="58477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4374" l="0" r="-9191" t="-124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9"/>
          <p:cNvSpPr txBox="1"/>
          <p:nvPr/>
        </p:nvSpPr>
        <p:spPr>
          <a:xfrm>
            <a:off x="985652" y="1613743"/>
            <a:ext cx="755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 Amplifier –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Amplifies the voltage difference between two terminals.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9"/>
          <p:cNvSpPr txBox="1"/>
          <p:nvPr/>
        </p:nvSpPr>
        <p:spPr>
          <a:xfrm>
            <a:off x="1003612" y="3269271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9"/>
          <p:cNvSpPr txBox="1"/>
          <p:nvPr/>
        </p:nvSpPr>
        <p:spPr>
          <a:xfrm>
            <a:off x="1003612" y="3909889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9"/>
          <p:cNvSpPr txBox="1"/>
          <p:nvPr/>
        </p:nvSpPr>
        <p:spPr>
          <a:xfrm>
            <a:off x="2803955" y="2336265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9"/>
          <p:cNvSpPr txBox="1"/>
          <p:nvPr/>
        </p:nvSpPr>
        <p:spPr>
          <a:xfrm>
            <a:off x="2803955" y="4994978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9"/>
          <p:cNvSpPr txBox="1"/>
          <p:nvPr/>
        </p:nvSpPr>
        <p:spPr>
          <a:xfrm>
            <a:off x="4487636" y="3665622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19"/>
          <p:cNvCxnSpPr>
            <a:endCxn id="495" idx="0"/>
          </p:cNvCxnSpPr>
          <p:nvPr/>
        </p:nvCxnSpPr>
        <p:spPr>
          <a:xfrm flipH="1">
            <a:off x="6693399" y="5420498"/>
            <a:ext cx="425700" cy="37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95" name="Google Shape;495;p19"/>
          <p:cNvSpPr txBox="1"/>
          <p:nvPr/>
        </p:nvSpPr>
        <p:spPr>
          <a:xfrm>
            <a:off x="5825757" y="5791298"/>
            <a:ext cx="1735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Manufacturer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19"/>
          <p:cNvCxnSpPr/>
          <p:nvPr/>
        </p:nvCxnSpPr>
        <p:spPr>
          <a:xfrm flipH="1">
            <a:off x="8075561" y="5658547"/>
            <a:ext cx="4165" cy="645394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7" name="Google Shape;497;p19"/>
          <p:cNvSpPr txBox="1"/>
          <p:nvPr/>
        </p:nvSpPr>
        <p:spPr>
          <a:xfrm>
            <a:off x="6569863" y="6271461"/>
            <a:ext cx="32545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Identification Number (PIN)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 rot="5400000">
            <a:off x="7963541" y="5304201"/>
            <a:ext cx="224040" cy="603315"/>
          </a:xfrm>
          <a:prstGeom prst="rightBrace">
            <a:avLst>
              <a:gd fmla="val 39510" name="adj1"/>
              <a:gd fmla="val 50000" name="adj2"/>
            </a:avLst>
          </a:pr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9" name="Google Shape;499;p19"/>
          <p:cNvCxnSpPr/>
          <p:nvPr/>
        </p:nvCxnSpPr>
        <p:spPr>
          <a:xfrm>
            <a:off x="8665176" y="5352960"/>
            <a:ext cx="523697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00" name="Google Shape;500;p19"/>
          <p:cNvSpPr txBox="1"/>
          <p:nvPr/>
        </p:nvSpPr>
        <p:spPr>
          <a:xfrm>
            <a:off x="9211981" y="5154567"/>
            <a:ext cx="2806987" cy="92333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9934" l="-1734" r="-1300" t="-39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Summary</a:t>
            </a:r>
            <a:endParaRPr/>
          </a:p>
        </p:txBody>
      </p:sp>
      <p:sp>
        <p:nvSpPr>
          <p:cNvPr id="506" name="Google Shape;506;p20"/>
          <p:cNvSpPr txBox="1"/>
          <p:nvPr/>
        </p:nvSpPr>
        <p:spPr>
          <a:xfrm>
            <a:off x="973874" y="1970049"/>
            <a:ext cx="7597698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73" l="-1283" r="0" t="-58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997534" y="3429000"/>
            <a:ext cx="7391685" cy="12003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714" l="-1319" r="-1236" t="-40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0"/>
          <p:cNvSpPr txBox="1"/>
          <p:nvPr/>
        </p:nvSpPr>
        <p:spPr>
          <a:xfrm>
            <a:off x="973874" y="5177158"/>
            <a:ext cx="653866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“ideal” op-amp behaves like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dependent voltage source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the linear region.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p20"/>
          <p:cNvCxnSpPr/>
          <p:nvPr/>
        </p:nvCxnSpPr>
        <p:spPr>
          <a:xfrm>
            <a:off x="8296507" y="5465396"/>
            <a:ext cx="3140842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510" name="Google Shape;510;p20"/>
          <p:cNvCxnSpPr/>
          <p:nvPr/>
        </p:nvCxnSpPr>
        <p:spPr>
          <a:xfrm rot="10800000">
            <a:off x="9521726" y="3948162"/>
            <a:ext cx="0" cy="2606040"/>
          </a:xfrm>
          <a:prstGeom prst="straightConnector1">
            <a:avLst/>
          </a:prstGeom>
          <a:noFill/>
          <a:ln cap="flat" cmpd="sng" w="28575">
            <a:solidFill>
              <a:schemeClr val="dk1">
                <a:alpha val="37647"/>
              </a:schemeClr>
            </a:solidFill>
            <a:prstDash val="solid"/>
            <a:miter lim="8000"/>
            <a:headEnd len="sm" w="sm" type="none"/>
            <a:tailEnd len="lg" w="lg" type="stealth"/>
          </a:ln>
        </p:spPr>
      </p:cxnSp>
      <p:sp>
        <p:nvSpPr>
          <p:cNvPr id="511" name="Google Shape;511;p20"/>
          <p:cNvSpPr txBox="1"/>
          <p:nvPr/>
        </p:nvSpPr>
        <p:spPr>
          <a:xfrm>
            <a:off x="9509080" y="3711630"/>
            <a:ext cx="449622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4" l="-4054" r="-1756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0"/>
          <p:cNvSpPr txBox="1"/>
          <p:nvPr/>
        </p:nvSpPr>
        <p:spPr>
          <a:xfrm>
            <a:off x="10815687" y="5177158"/>
            <a:ext cx="1822631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94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20"/>
          <p:cNvCxnSpPr/>
          <p:nvPr/>
        </p:nvCxnSpPr>
        <p:spPr>
          <a:xfrm>
            <a:off x="10168707" y="4603995"/>
            <a:ext cx="1192775" cy="0"/>
          </a:xfrm>
          <a:prstGeom prst="straightConnector1">
            <a:avLst/>
          </a:prstGeom>
          <a:noFill/>
          <a:ln cap="rnd" cmpd="sng" w="317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20"/>
          <p:cNvCxnSpPr/>
          <p:nvPr/>
        </p:nvCxnSpPr>
        <p:spPr>
          <a:xfrm>
            <a:off x="8401865" y="6225019"/>
            <a:ext cx="498759" cy="0"/>
          </a:xfrm>
          <a:prstGeom prst="straightConnector1">
            <a:avLst/>
          </a:prstGeom>
          <a:noFill/>
          <a:ln cap="flat" cmpd="sng" w="31750">
            <a:solidFill>
              <a:srgbClr val="7030A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5" name="Google Shape;515;p20"/>
          <p:cNvCxnSpPr/>
          <p:nvPr/>
        </p:nvCxnSpPr>
        <p:spPr>
          <a:xfrm flipH="1">
            <a:off x="8900624" y="4603995"/>
            <a:ext cx="1268083" cy="1621024"/>
          </a:xfrm>
          <a:prstGeom prst="straightConnector1">
            <a:avLst/>
          </a:prstGeom>
          <a:noFill/>
          <a:ln cap="rnd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20"/>
          <p:cNvSpPr txBox="1"/>
          <p:nvPr/>
        </p:nvSpPr>
        <p:spPr>
          <a:xfrm>
            <a:off x="8608904" y="4373161"/>
            <a:ext cx="900176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14" l="-67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0"/>
          <p:cNvSpPr txBox="1"/>
          <p:nvPr/>
        </p:nvSpPr>
        <p:spPr>
          <a:xfrm>
            <a:off x="9508614" y="5953925"/>
            <a:ext cx="900176" cy="4616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1" l="0" r="-67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20"/>
          <p:cNvCxnSpPr/>
          <p:nvPr/>
        </p:nvCxnSpPr>
        <p:spPr>
          <a:xfrm>
            <a:off x="10168707" y="5410715"/>
            <a:ext cx="0" cy="10531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9" name="Google Shape;519;p20"/>
          <p:cNvCxnSpPr/>
          <p:nvPr/>
        </p:nvCxnSpPr>
        <p:spPr>
          <a:xfrm>
            <a:off x="8937601" y="5410715"/>
            <a:ext cx="0" cy="10531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20" name="Google Shape;520;p20"/>
          <p:cNvSpPr txBox="1"/>
          <p:nvPr/>
        </p:nvSpPr>
        <p:spPr>
          <a:xfrm>
            <a:off x="9314540" y="5482663"/>
            <a:ext cx="1822631" cy="43685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0"/>
          <p:cNvSpPr txBox="1"/>
          <p:nvPr/>
        </p:nvSpPr>
        <p:spPr>
          <a:xfrm>
            <a:off x="8022586" y="5482663"/>
            <a:ext cx="1822631" cy="43685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20"/>
          <p:cNvPicPr preferRelativeResize="0"/>
          <p:nvPr>
            <p:ph idx="1" type="body"/>
          </p:nvPr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01865" y="1106649"/>
            <a:ext cx="3387851" cy="2614248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0"/>
          <p:cNvSpPr txBox="1"/>
          <p:nvPr/>
        </p:nvSpPr>
        <p:spPr>
          <a:xfrm>
            <a:off x="8157513" y="1860944"/>
            <a:ext cx="420624" cy="9233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1"/>
          <p:cNvSpPr txBox="1"/>
          <p:nvPr>
            <p:ph type="title"/>
          </p:nvPr>
        </p:nvSpPr>
        <p:spPr>
          <a:xfrm>
            <a:off x="838200" y="24699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h142865916b425258_2_8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Operational Amplifier: Open Loop Configuration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h142865916b425258_2_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539" name="Google Shape;539;h142865916b425258_2_8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Operational Amplifier – Terminals and VTC (Recap)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Op-Amp: Circuit Modelling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 Problem – Op-amp model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Op-amp configuration – open and closed loop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Open Loop op-amp: Voltage Transfer Characteristics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Open Loop op-amp: Comparators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Comparator Application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Smoke detector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Automatic AC switch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h142865916b425258_2_94"/>
          <p:cNvPicPr preferRelativeResize="0"/>
          <p:nvPr/>
        </p:nvPicPr>
        <p:blipFill rotWithShape="1">
          <a:blip r:embed="rId3">
            <a:alphaModFix/>
          </a:blip>
          <a:srcRect b="0" l="0" r="0" t="36881"/>
          <a:stretch/>
        </p:blipFill>
        <p:spPr>
          <a:xfrm>
            <a:off x="5593986" y="2190167"/>
            <a:ext cx="6324600" cy="1707441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h142865916b425258_2_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 (Recap)</a:t>
            </a:r>
            <a:endParaRPr/>
          </a:p>
        </p:txBody>
      </p:sp>
      <p:sp>
        <p:nvSpPr>
          <p:cNvPr id="546" name="Google Shape;546;h142865916b425258_2_94"/>
          <p:cNvSpPr txBox="1"/>
          <p:nvPr>
            <p:ph idx="1" type="body"/>
          </p:nvPr>
        </p:nvSpPr>
        <p:spPr>
          <a:xfrm>
            <a:off x="892521" y="1698273"/>
            <a:ext cx="5601789" cy="227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Operational: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M</a:t>
            </a:r>
            <a:r>
              <a:rPr lang="en-US" sz="2800"/>
              <a:t>athematical Operations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Amplifier: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Amplifies input signal/voltage.</a:t>
            </a:r>
            <a:endParaRPr/>
          </a:p>
        </p:txBody>
      </p:sp>
      <p:pic>
        <p:nvPicPr>
          <p:cNvPr id="547" name="Google Shape;547;h142865916b425258_2_94"/>
          <p:cNvPicPr preferRelativeResize="0"/>
          <p:nvPr/>
        </p:nvPicPr>
        <p:blipFill rotWithShape="1">
          <a:blip r:embed="rId4">
            <a:alphaModFix/>
          </a:blip>
          <a:srcRect b="0" l="0" r="5946" t="0"/>
          <a:stretch/>
        </p:blipFill>
        <p:spPr>
          <a:xfrm>
            <a:off x="7229902" y="1597362"/>
            <a:ext cx="2803645" cy="230024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h142865916b425258_2_94"/>
          <p:cNvSpPr txBox="1"/>
          <p:nvPr/>
        </p:nvSpPr>
        <p:spPr>
          <a:xfrm>
            <a:off x="6216995" y="1917377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h142865916b425258_2_94"/>
          <p:cNvSpPr txBox="1"/>
          <p:nvPr/>
        </p:nvSpPr>
        <p:spPr>
          <a:xfrm>
            <a:off x="9924580" y="1823399"/>
            <a:ext cx="1909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h142865916b425258_2_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8525" y="4846936"/>
            <a:ext cx="3305449" cy="1789247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h142865916b425258_2_94"/>
          <p:cNvSpPr txBox="1"/>
          <p:nvPr/>
        </p:nvSpPr>
        <p:spPr>
          <a:xfrm>
            <a:off x="7507671" y="5512676"/>
            <a:ext cx="843825" cy="400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5755" l="-7970" r="0" t="-75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h142865916b425258_2_94"/>
          <p:cNvSpPr txBox="1"/>
          <p:nvPr/>
        </p:nvSpPr>
        <p:spPr>
          <a:xfrm>
            <a:off x="3801660" y="5503878"/>
            <a:ext cx="1012415" cy="400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3" name="Google Shape;553;h142865916b425258_2_94"/>
          <p:cNvGrpSpPr/>
          <p:nvPr/>
        </p:nvGrpSpPr>
        <p:grpSpPr>
          <a:xfrm>
            <a:off x="2084605" y="4800746"/>
            <a:ext cx="7948942" cy="1835437"/>
            <a:chOff x="2084605" y="4800746"/>
            <a:chExt cx="7948942" cy="1835437"/>
          </a:xfrm>
        </p:grpSpPr>
        <p:pic>
          <p:nvPicPr>
            <p:cNvPr id="554" name="Google Shape;554;h142865916b425258_2_94"/>
            <p:cNvPicPr preferRelativeResize="0"/>
            <p:nvPr/>
          </p:nvPicPr>
          <p:blipFill rotWithShape="1">
            <a:blip r:embed="rId3">
              <a:alphaModFix/>
            </a:blip>
            <a:srcRect b="36816" l="15343" r="73007" t="40449"/>
            <a:stretch/>
          </p:blipFill>
          <p:spPr>
            <a:xfrm>
              <a:off x="2839466" y="5504192"/>
              <a:ext cx="568798" cy="4747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5" name="Google Shape;555;h142865916b425258_2_94"/>
            <p:cNvSpPr txBox="1"/>
            <p:nvPr/>
          </p:nvSpPr>
          <p:spPr>
            <a:xfrm>
              <a:off x="2399833" y="5167885"/>
              <a:ext cx="14237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Small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6" name="Google Shape;556;h142865916b425258_2_94"/>
            <p:cNvPicPr preferRelativeResize="0"/>
            <p:nvPr/>
          </p:nvPicPr>
          <p:blipFill rotWithShape="1">
            <a:blip r:embed="rId3">
              <a:alphaModFix/>
            </a:blip>
            <a:srcRect b="32680" l="69805" r="8446" t="35787"/>
            <a:stretch/>
          </p:blipFill>
          <p:spPr>
            <a:xfrm>
              <a:off x="8507201" y="5412326"/>
              <a:ext cx="1061764" cy="658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h142865916b425258_2_94"/>
            <p:cNvSpPr txBox="1"/>
            <p:nvPr/>
          </p:nvSpPr>
          <p:spPr>
            <a:xfrm>
              <a:off x="8208899" y="5092662"/>
              <a:ext cx="166545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Large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h142865916b425258_2_94"/>
            <p:cNvSpPr/>
            <p:nvPr/>
          </p:nvSpPr>
          <p:spPr>
            <a:xfrm>
              <a:off x="2084605" y="4800746"/>
              <a:ext cx="7948942" cy="1835437"/>
            </a:xfrm>
            <a:custGeom>
              <a:rect b="b" l="l" r="r" t="t"/>
              <a:pathLst>
                <a:path extrusionOk="0" h="1835437" w="7948942">
                  <a:moveTo>
                    <a:pt x="0" y="305912"/>
                  </a:moveTo>
                  <a:cubicBezTo>
                    <a:pt x="-9629" y="152548"/>
                    <a:pt x="141737" y="-10130"/>
                    <a:pt x="305912" y="0"/>
                  </a:cubicBezTo>
                  <a:cubicBezTo>
                    <a:pt x="420655" y="-6909"/>
                    <a:pt x="488228" y="21617"/>
                    <a:pt x="650192" y="0"/>
                  </a:cubicBezTo>
                  <a:cubicBezTo>
                    <a:pt x="812156" y="-21617"/>
                    <a:pt x="1020346" y="50160"/>
                    <a:pt x="1287957" y="0"/>
                  </a:cubicBezTo>
                  <a:cubicBezTo>
                    <a:pt x="1555568" y="-50160"/>
                    <a:pt x="1691148" y="388"/>
                    <a:pt x="1999093" y="0"/>
                  </a:cubicBezTo>
                  <a:cubicBezTo>
                    <a:pt x="2307038" y="-388"/>
                    <a:pt x="2314180" y="8513"/>
                    <a:pt x="2490116" y="0"/>
                  </a:cubicBezTo>
                  <a:cubicBezTo>
                    <a:pt x="2666052" y="-8513"/>
                    <a:pt x="2792446" y="24599"/>
                    <a:pt x="3054509" y="0"/>
                  </a:cubicBezTo>
                  <a:cubicBezTo>
                    <a:pt x="3316572" y="-24599"/>
                    <a:pt x="3465719" y="37231"/>
                    <a:pt x="3765645" y="0"/>
                  </a:cubicBezTo>
                  <a:cubicBezTo>
                    <a:pt x="4065571" y="-37231"/>
                    <a:pt x="3990169" y="3025"/>
                    <a:pt x="4183297" y="0"/>
                  </a:cubicBezTo>
                  <a:cubicBezTo>
                    <a:pt x="4376425" y="-3025"/>
                    <a:pt x="4565502" y="13137"/>
                    <a:pt x="4747690" y="0"/>
                  </a:cubicBezTo>
                  <a:cubicBezTo>
                    <a:pt x="4929878" y="-13137"/>
                    <a:pt x="5013331" y="25016"/>
                    <a:pt x="5091971" y="0"/>
                  </a:cubicBezTo>
                  <a:cubicBezTo>
                    <a:pt x="5170611" y="-25016"/>
                    <a:pt x="5470297" y="76281"/>
                    <a:pt x="5729735" y="0"/>
                  </a:cubicBezTo>
                  <a:cubicBezTo>
                    <a:pt x="5989173" y="-76281"/>
                    <a:pt x="6062498" y="17121"/>
                    <a:pt x="6294129" y="0"/>
                  </a:cubicBezTo>
                  <a:cubicBezTo>
                    <a:pt x="6525760" y="-17121"/>
                    <a:pt x="6680884" y="26132"/>
                    <a:pt x="6858523" y="0"/>
                  </a:cubicBezTo>
                  <a:cubicBezTo>
                    <a:pt x="7036162" y="-26132"/>
                    <a:pt x="7383403" y="64757"/>
                    <a:pt x="7643030" y="0"/>
                  </a:cubicBezTo>
                  <a:cubicBezTo>
                    <a:pt x="7831306" y="-46084"/>
                    <a:pt x="7975722" y="152848"/>
                    <a:pt x="7948942" y="305912"/>
                  </a:cubicBezTo>
                  <a:cubicBezTo>
                    <a:pt x="7962988" y="424183"/>
                    <a:pt x="7901473" y="550563"/>
                    <a:pt x="7948942" y="726019"/>
                  </a:cubicBezTo>
                  <a:cubicBezTo>
                    <a:pt x="7996411" y="901475"/>
                    <a:pt x="7935858" y="1001064"/>
                    <a:pt x="7948942" y="1109418"/>
                  </a:cubicBezTo>
                  <a:cubicBezTo>
                    <a:pt x="7962026" y="1217772"/>
                    <a:pt x="7945180" y="1357281"/>
                    <a:pt x="7948942" y="1529525"/>
                  </a:cubicBezTo>
                  <a:cubicBezTo>
                    <a:pt x="7932233" y="1744477"/>
                    <a:pt x="7823683" y="1847714"/>
                    <a:pt x="7643030" y="1835437"/>
                  </a:cubicBezTo>
                  <a:cubicBezTo>
                    <a:pt x="7375167" y="1882137"/>
                    <a:pt x="7360234" y="1778165"/>
                    <a:pt x="7078636" y="1835437"/>
                  </a:cubicBezTo>
                  <a:cubicBezTo>
                    <a:pt x="6797038" y="1892709"/>
                    <a:pt x="6770154" y="1817577"/>
                    <a:pt x="6660985" y="1835437"/>
                  </a:cubicBezTo>
                  <a:cubicBezTo>
                    <a:pt x="6551816" y="1853297"/>
                    <a:pt x="6248152" y="1790713"/>
                    <a:pt x="5949849" y="1835437"/>
                  </a:cubicBezTo>
                  <a:cubicBezTo>
                    <a:pt x="5651546" y="1880161"/>
                    <a:pt x="5503771" y="1792602"/>
                    <a:pt x="5312084" y="1835437"/>
                  </a:cubicBezTo>
                  <a:cubicBezTo>
                    <a:pt x="5120397" y="1878272"/>
                    <a:pt x="5078566" y="1835268"/>
                    <a:pt x="4967804" y="1835437"/>
                  </a:cubicBezTo>
                  <a:cubicBezTo>
                    <a:pt x="4857042" y="1835606"/>
                    <a:pt x="4761210" y="1816289"/>
                    <a:pt x="4623524" y="1835437"/>
                  </a:cubicBezTo>
                  <a:cubicBezTo>
                    <a:pt x="4485838" y="1854585"/>
                    <a:pt x="4383395" y="1802383"/>
                    <a:pt x="4279244" y="1835437"/>
                  </a:cubicBezTo>
                  <a:cubicBezTo>
                    <a:pt x="4175093" y="1868491"/>
                    <a:pt x="3857618" y="1834277"/>
                    <a:pt x="3714850" y="1835437"/>
                  </a:cubicBezTo>
                  <a:cubicBezTo>
                    <a:pt x="3572082" y="1836597"/>
                    <a:pt x="3382463" y="1801848"/>
                    <a:pt x="3297199" y="1835437"/>
                  </a:cubicBezTo>
                  <a:cubicBezTo>
                    <a:pt x="3211935" y="1869026"/>
                    <a:pt x="2995467" y="1814934"/>
                    <a:pt x="2879547" y="1835437"/>
                  </a:cubicBezTo>
                  <a:cubicBezTo>
                    <a:pt x="2763627" y="1855940"/>
                    <a:pt x="2627226" y="1823135"/>
                    <a:pt x="2461896" y="1835437"/>
                  </a:cubicBezTo>
                  <a:cubicBezTo>
                    <a:pt x="2296566" y="1847739"/>
                    <a:pt x="2200082" y="1800426"/>
                    <a:pt x="2117616" y="1835437"/>
                  </a:cubicBezTo>
                  <a:cubicBezTo>
                    <a:pt x="2035150" y="1870448"/>
                    <a:pt x="1791029" y="1794715"/>
                    <a:pt x="1626593" y="1835437"/>
                  </a:cubicBezTo>
                  <a:cubicBezTo>
                    <a:pt x="1462157" y="1876159"/>
                    <a:pt x="1293828" y="1822522"/>
                    <a:pt x="988828" y="1835437"/>
                  </a:cubicBezTo>
                  <a:cubicBezTo>
                    <a:pt x="683828" y="1848352"/>
                    <a:pt x="627247" y="1777167"/>
                    <a:pt x="305912" y="1835437"/>
                  </a:cubicBezTo>
                  <a:cubicBezTo>
                    <a:pt x="118316" y="1866152"/>
                    <a:pt x="-36092" y="1683295"/>
                    <a:pt x="0" y="1529525"/>
                  </a:cubicBezTo>
                  <a:cubicBezTo>
                    <a:pt x="-14135" y="1365717"/>
                    <a:pt x="42549" y="1224315"/>
                    <a:pt x="0" y="1146126"/>
                  </a:cubicBezTo>
                  <a:cubicBezTo>
                    <a:pt x="-42549" y="1067937"/>
                    <a:pt x="18470" y="831083"/>
                    <a:pt x="0" y="750491"/>
                  </a:cubicBezTo>
                  <a:cubicBezTo>
                    <a:pt x="-18470" y="669899"/>
                    <a:pt x="45520" y="449839"/>
                    <a:pt x="0" y="305912"/>
                  </a:cubicBez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9" name="Google Shape;559;h142865916b425258_2_94"/>
          <p:cNvSpPr txBox="1"/>
          <p:nvPr/>
        </p:nvSpPr>
        <p:spPr>
          <a:xfrm>
            <a:off x="838200" y="3997677"/>
            <a:ext cx="110157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op-amp (operational amplifier)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represented by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voltage- controlled voltage source.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h142865916b425258_2_1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1365" y="991349"/>
            <a:ext cx="3387851" cy="2614248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h142865916b425258_2_1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VTC (Recap)</a:t>
            </a:r>
            <a:endParaRPr/>
          </a:p>
        </p:txBody>
      </p:sp>
      <p:sp>
        <p:nvSpPr>
          <p:cNvPr id="566" name="Google Shape;566;h142865916b425258_2_113"/>
          <p:cNvSpPr txBox="1"/>
          <p:nvPr/>
        </p:nvSpPr>
        <p:spPr>
          <a:xfrm>
            <a:off x="7317013" y="1745644"/>
            <a:ext cx="420624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h142865916b425258_2_113"/>
          <p:cNvSpPr txBox="1"/>
          <p:nvPr/>
        </p:nvSpPr>
        <p:spPr>
          <a:xfrm>
            <a:off x="5432384" y="2083638"/>
            <a:ext cx="2128981" cy="4296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142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h142865916b425258_2_113"/>
          <p:cNvCxnSpPr/>
          <p:nvPr/>
        </p:nvCxnSpPr>
        <p:spPr>
          <a:xfrm>
            <a:off x="6550218" y="5195761"/>
            <a:ext cx="3547872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569" name="Google Shape;569;h142865916b425258_2_113"/>
          <p:cNvCxnSpPr/>
          <p:nvPr/>
        </p:nvCxnSpPr>
        <p:spPr>
          <a:xfrm rot="10800000">
            <a:off x="8182467" y="3678527"/>
            <a:ext cx="0" cy="2606040"/>
          </a:xfrm>
          <a:prstGeom prst="straightConnector1">
            <a:avLst/>
          </a:prstGeom>
          <a:noFill/>
          <a:ln cap="flat" cmpd="sng" w="28575">
            <a:solidFill>
              <a:schemeClr val="dk1">
                <a:alpha val="37647"/>
              </a:schemeClr>
            </a:solidFill>
            <a:prstDash val="solid"/>
            <a:miter lim="8000"/>
            <a:headEnd len="sm" w="sm" type="none"/>
            <a:tailEnd len="lg" w="lg" type="stealth"/>
          </a:ln>
        </p:spPr>
      </p:cxnSp>
      <p:sp>
        <p:nvSpPr>
          <p:cNvPr id="570" name="Google Shape;570;h142865916b425258_2_113"/>
          <p:cNvSpPr txBox="1"/>
          <p:nvPr/>
        </p:nvSpPr>
        <p:spPr>
          <a:xfrm>
            <a:off x="8169821" y="3441995"/>
            <a:ext cx="449622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5" l="-2702" r="-1756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h142865916b425258_2_113"/>
          <p:cNvSpPr txBox="1"/>
          <p:nvPr/>
        </p:nvSpPr>
        <p:spPr>
          <a:xfrm>
            <a:off x="9476428" y="4907523"/>
            <a:ext cx="1822631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94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h142865916b425258_2_113"/>
          <p:cNvCxnSpPr/>
          <p:nvPr/>
        </p:nvCxnSpPr>
        <p:spPr>
          <a:xfrm>
            <a:off x="8829448" y="4334360"/>
            <a:ext cx="1192775" cy="0"/>
          </a:xfrm>
          <a:prstGeom prst="straightConnector1">
            <a:avLst/>
          </a:prstGeom>
          <a:noFill/>
          <a:ln cap="rnd" cmpd="sng" w="317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h142865916b425258_2_113"/>
          <p:cNvCxnSpPr/>
          <p:nvPr/>
        </p:nvCxnSpPr>
        <p:spPr>
          <a:xfrm>
            <a:off x="6268008" y="5955384"/>
            <a:ext cx="1293357" cy="0"/>
          </a:xfrm>
          <a:prstGeom prst="straightConnector1">
            <a:avLst/>
          </a:prstGeom>
          <a:noFill/>
          <a:ln cap="flat" cmpd="sng" w="31750">
            <a:solidFill>
              <a:srgbClr val="7030A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74" name="Google Shape;574;h142865916b425258_2_113"/>
          <p:cNvCxnSpPr/>
          <p:nvPr/>
        </p:nvCxnSpPr>
        <p:spPr>
          <a:xfrm flipH="1">
            <a:off x="7561365" y="4334360"/>
            <a:ext cx="1268083" cy="1621024"/>
          </a:xfrm>
          <a:prstGeom prst="straightConnector1">
            <a:avLst/>
          </a:prstGeom>
          <a:noFill/>
          <a:ln cap="rnd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h142865916b425258_2_113"/>
          <p:cNvSpPr txBox="1"/>
          <p:nvPr/>
        </p:nvSpPr>
        <p:spPr>
          <a:xfrm>
            <a:off x="7269645" y="4103526"/>
            <a:ext cx="900176" cy="4616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14" l="-678" r="-67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h142865916b425258_2_113"/>
          <p:cNvSpPr txBox="1"/>
          <p:nvPr/>
        </p:nvSpPr>
        <p:spPr>
          <a:xfrm>
            <a:off x="8169355" y="5684290"/>
            <a:ext cx="900176" cy="4616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h142865916b425258_2_113"/>
          <p:cNvSpPr txBox="1"/>
          <p:nvPr/>
        </p:nvSpPr>
        <p:spPr>
          <a:xfrm>
            <a:off x="916564" y="2212513"/>
            <a:ext cx="2571153" cy="121648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-2369" r="-236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h142865916b425258_2_113"/>
          <p:cNvSpPr txBox="1"/>
          <p:nvPr/>
        </p:nvSpPr>
        <p:spPr>
          <a:xfrm>
            <a:off x="912280" y="5392612"/>
            <a:ext cx="3097255" cy="107907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177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h142865916b425258_2_113"/>
          <p:cNvSpPr txBox="1"/>
          <p:nvPr/>
        </p:nvSpPr>
        <p:spPr>
          <a:xfrm>
            <a:off x="7452200" y="3171997"/>
            <a:ext cx="12709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h142865916b425258_2_113"/>
          <p:cNvSpPr txBox="1"/>
          <p:nvPr/>
        </p:nvSpPr>
        <p:spPr>
          <a:xfrm>
            <a:off x="9725046" y="5220320"/>
            <a:ext cx="12709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h142865916b425258_2_113"/>
          <p:cNvSpPr txBox="1"/>
          <p:nvPr/>
        </p:nvSpPr>
        <p:spPr>
          <a:xfrm>
            <a:off x="838200" y="1470236"/>
            <a:ext cx="4386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Transfer Characteristics (VTC)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h142865916b425258_2_113"/>
          <p:cNvSpPr/>
          <p:nvPr/>
        </p:nvSpPr>
        <p:spPr>
          <a:xfrm>
            <a:off x="838200" y="3601857"/>
            <a:ext cx="3693310" cy="1123712"/>
          </a:xfrm>
          <a:prstGeom prst="roundRect">
            <a:avLst>
              <a:gd fmla="val 16667" name="adj"/>
            </a:avLst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h142865916b425258_2_113"/>
          <p:cNvCxnSpPr/>
          <p:nvPr/>
        </p:nvCxnSpPr>
        <p:spPr>
          <a:xfrm>
            <a:off x="8829448" y="5141080"/>
            <a:ext cx="0" cy="10531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84" name="Google Shape;584;h142865916b425258_2_113"/>
          <p:cNvCxnSpPr/>
          <p:nvPr/>
        </p:nvCxnSpPr>
        <p:spPr>
          <a:xfrm>
            <a:off x="7598342" y="5141080"/>
            <a:ext cx="0" cy="10531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5" name="Google Shape;585;h142865916b425258_2_113"/>
          <p:cNvSpPr txBox="1"/>
          <p:nvPr/>
        </p:nvSpPr>
        <p:spPr>
          <a:xfrm>
            <a:off x="7975281" y="5213028"/>
            <a:ext cx="1822631" cy="436851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h142865916b425258_2_113"/>
          <p:cNvSpPr txBox="1"/>
          <p:nvPr/>
        </p:nvSpPr>
        <p:spPr>
          <a:xfrm>
            <a:off x="6683327" y="5213028"/>
            <a:ext cx="1822631" cy="436851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h142865916b425258_2_113"/>
          <p:cNvSpPr txBox="1"/>
          <p:nvPr/>
        </p:nvSpPr>
        <p:spPr>
          <a:xfrm>
            <a:off x="912279" y="1952263"/>
            <a:ext cx="26427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saturation: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h142865916b425258_2_113"/>
          <p:cNvSpPr txBox="1"/>
          <p:nvPr/>
        </p:nvSpPr>
        <p:spPr>
          <a:xfrm>
            <a:off x="912279" y="5086869"/>
            <a:ext cx="3097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saturation: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h142865916b425258_2_1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Circuit Modelling</a:t>
            </a:r>
            <a:endParaRPr/>
          </a:p>
        </p:txBody>
      </p:sp>
      <p:sp>
        <p:nvSpPr>
          <p:cNvPr id="594" name="Google Shape;594;h142865916b425258_2_141"/>
          <p:cNvSpPr txBox="1"/>
          <p:nvPr/>
        </p:nvSpPr>
        <p:spPr>
          <a:xfrm>
            <a:off x="3152053" y="1626354"/>
            <a:ext cx="588789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controlled voltage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h142865916b425258_2_141"/>
          <p:cNvSpPr txBox="1"/>
          <p:nvPr/>
        </p:nvSpPr>
        <p:spPr>
          <a:xfrm>
            <a:off x="4088591" y="2418502"/>
            <a:ext cx="40148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“Ideal”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op-amp approximation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h142865916b425258_2_141"/>
          <p:cNvSpPr txBox="1"/>
          <p:nvPr/>
        </p:nvSpPr>
        <p:spPr>
          <a:xfrm>
            <a:off x="5354103" y="5538857"/>
            <a:ext cx="1776255" cy="4972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3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h142865916b425258_2_141"/>
          <p:cNvSpPr txBox="1"/>
          <p:nvPr/>
        </p:nvSpPr>
        <p:spPr>
          <a:xfrm>
            <a:off x="5630809" y="6031210"/>
            <a:ext cx="1116972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8" name="Google Shape;598;h142865916b425258_2_141"/>
          <p:cNvGrpSpPr/>
          <p:nvPr/>
        </p:nvGrpSpPr>
        <p:grpSpPr>
          <a:xfrm>
            <a:off x="6266340" y="3193440"/>
            <a:ext cx="5680872" cy="2107154"/>
            <a:chOff x="838200" y="3388169"/>
            <a:chExt cx="5680872" cy="2107154"/>
          </a:xfrm>
        </p:grpSpPr>
        <p:grpSp>
          <p:nvGrpSpPr>
            <p:cNvPr id="599" name="Google Shape;599;h142865916b425258_2_141"/>
            <p:cNvGrpSpPr/>
            <p:nvPr/>
          </p:nvGrpSpPr>
          <p:grpSpPr>
            <a:xfrm>
              <a:off x="838200" y="3388169"/>
              <a:ext cx="4550057" cy="2107154"/>
              <a:chOff x="6494310" y="3529522"/>
              <a:chExt cx="4550057" cy="2317869"/>
            </a:xfrm>
          </p:grpSpPr>
          <p:pic>
            <p:nvPicPr>
              <p:cNvPr id="600" name="Google Shape;600;h142865916b425258_2_14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151617" y="3529522"/>
                <a:ext cx="3892750" cy="23178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1" name="Google Shape;601;h142865916b425258_2_141"/>
              <p:cNvSpPr txBox="1"/>
              <p:nvPr/>
            </p:nvSpPr>
            <p:spPr>
              <a:xfrm>
                <a:off x="6494310" y="4391950"/>
                <a:ext cx="974324" cy="507831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3946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02" name="Google Shape;602;h142865916b425258_2_14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45514" y="4191122"/>
              <a:ext cx="1973558" cy="54469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3" name="Google Shape;603;h142865916b425258_2_141"/>
          <p:cNvPicPr preferRelativeResize="0"/>
          <p:nvPr>
            <p:ph idx="1" type="body"/>
          </p:nvPr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69088" y="2924609"/>
            <a:ext cx="3387851" cy="2614248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h142865916b425258_2_141"/>
          <p:cNvSpPr txBox="1"/>
          <p:nvPr/>
        </p:nvSpPr>
        <p:spPr>
          <a:xfrm>
            <a:off x="2424736" y="3678904"/>
            <a:ext cx="420624" cy="9233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h142865916b425258_2_141"/>
          <p:cNvSpPr txBox="1"/>
          <p:nvPr/>
        </p:nvSpPr>
        <p:spPr>
          <a:xfrm>
            <a:off x="540107" y="4016898"/>
            <a:ext cx="2128981" cy="42966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142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h142865916b425258_2_141"/>
          <p:cNvCxnSpPr/>
          <p:nvPr/>
        </p:nvCxnSpPr>
        <p:spPr>
          <a:xfrm>
            <a:off x="6096000" y="3193440"/>
            <a:ext cx="0" cy="21071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h142865916b425258_2_158"/>
          <p:cNvSpPr txBox="1"/>
          <p:nvPr>
            <p:ph type="title"/>
          </p:nvPr>
        </p:nvSpPr>
        <p:spPr>
          <a:xfrm>
            <a:off x="66975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Circuit Model and VTC</a:t>
            </a:r>
            <a:endParaRPr/>
          </a:p>
        </p:txBody>
      </p:sp>
      <p:sp>
        <p:nvSpPr>
          <p:cNvPr id="612" name="Google Shape;612;h142865916b425258_2_158"/>
          <p:cNvSpPr txBox="1"/>
          <p:nvPr>
            <p:ph idx="1" type="body"/>
          </p:nvPr>
        </p:nvSpPr>
        <p:spPr>
          <a:xfrm>
            <a:off x="669758" y="1877029"/>
            <a:ext cx="7343274" cy="19148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8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aphicFrame>
        <p:nvGraphicFramePr>
          <p:cNvPr id="613" name="Google Shape;613;h142865916b425258_2_158"/>
          <p:cNvGraphicFramePr/>
          <p:nvPr/>
        </p:nvGraphicFramePr>
        <p:xfrm>
          <a:off x="7360983" y="20803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{DF25F28D-A42F-4931-BFEE-84CF95024A8A}</a:tableStyleId>
              </a:tblPr>
              <a:tblGrid>
                <a:gridCol w="1196000"/>
                <a:gridCol w="1755275"/>
                <a:gridCol w="10071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Parameter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Typical Range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Ideally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4" name="Google Shape;614;h142865916b425258_2_158"/>
          <p:cNvSpPr txBox="1"/>
          <p:nvPr/>
        </p:nvSpPr>
        <p:spPr>
          <a:xfrm>
            <a:off x="5728624" y="2016982"/>
            <a:ext cx="14982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Slope of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VTC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5" name="Google Shape;615;h142865916b425258_2_158"/>
          <p:cNvGrpSpPr/>
          <p:nvPr/>
        </p:nvGrpSpPr>
        <p:grpSpPr>
          <a:xfrm>
            <a:off x="7226919" y="3566528"/>
            <a:ext cx="4727971" cy="2842572"/>
            <a:chOff x="6268008" y="3441995"/>
            <a:chExt cx="4727971" cy="2842572"/>
          </a:xfrm>
        </p:grpSpPr>
        <p:cxnSp>
          <p:nvCxnSpPr>
            <p:cNvPr id="616" name="Google Shape;616;h142865916b425258_2_158"/>
            <p:cNvCxnSpPr/>
            <p:nvPr/>
          </p:nvCxnSpPr>
          <p:spPr>
            <a:xfrm>
              <a:off x="6550218" y="5195761"/>
              <a:ext cx="3547872" cy="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miter lim="8000"/>
              <a:headEnd len="sm" w="sm" type="none"/>
              <a:tailEnd len="lg" w="lg" type="stealth"/>
            </a:ln>
          </p:spPr>
        </p:cxnSp>
        <p:cxnSp>
          <p:nvCxnSpPr>
            <p:cNvPr id="617" name="Google Shape;617;h142865916b425258_2_158"/>
            <p:cNvCxnSpPr/>
            <p:nvPr/>
          </p:nvCxnSpPr>
          <p:spPr>
            <a:xfrm rot="10800000">
              <a:off x="8182467" y="3678527"/>
              <a:ext cx="0" cy="2606040"/>
            </a:xfrm>
            <a:prstGeom prst="straightConnector1">
              <a:avLst/>
            </a:prstGeom>
            <a:noFill/>
            <a:ln cap="flat" cmpd="sng" w="28575">
              <a:solidFill>
                <a:schemeClr val="dk1">
                  <a:alpha val="37647"/>
                </a:schemeClr>
              </a:solidFill>
              <a:prstDash val="solid"/>
              <a:miter lim="8000"/>
              <a:headEnd len="sm" w="sm" type="none"/>
              <a:tailEnd len="lg" w="lg" type="stealth"/>
            </a:ln>
          </p:spPr>
        </p:cxnSp>
        <p:sp>
          <p:nvSpPr>
            <p:cNvPr id="618" name="Google Shape;618;h142865916b425258_2_158"/>
            <p:cNvSpPr txBox="1"/>
            <p:nvPr/>
          </p:nvSpPr>
          <p:spPr>
            <a:xfrm>
              <a:off x="8169821" y="3441995"/>
              <a:ext cx="449622" cy="46166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5" l="-2702" r="-1756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9" name="Google Shape;619;h142865916b425258_2_158"/>
            <p:cNvCxnSpPr/>
            <p:nvPr/>
          </p:nvCxnSpPr>
          <p:spPr>
            <a:xfrm>
              <a:off x="8829448" y="4334360"/>
              <a:ext cx="1192775" cy="0"/>
            </a:xfrm>
            <a:prstGeom prst="straightConnector1">
              <a:avLst/>
            </a:prstGeom>
            <a:noFill/>
            <a:ln cap="rnd" cmpd="sng" w="317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0" name="Google Shape;620;h142865916b425258_2_158"/>
            <p:cNvCxnSpPr/>
            <p:nvPr/>
          </p:nvCxnSpPr>
          <p:spPr>
            <a:xfrm>
              <a:off x="6268008" y="5955384"/>
              <a:ext cx="1293357" cy="0"/>
            </a:xfrm>
            <a:prstGeom prst="straightConnector1">
              <a:avLst/>
            </a:prstGeom>
            <a:noFill/>
            <a:ln cap="flat" cmpd="sng" w="31750">
              <a:solidFill>
                <a:srgbClr val="7030A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1" name="Google Shape;621;h142865916b425258_2_158"/>
            <p:cNvCxnSpPr/>
            <p:nvPr/>
          </p:nvCxnSpPr>
          <p:spPr>
            <a:xfrm flipH="1">
              <a:off x="7561365" y="4334360"/>
              <a:ext cx="1268083" cy="1621024"/>
            </a:xfrm>
            <a:prstGeom prst="straightConnector1">
              <a:avLst/>
            </a:prstGeom>
            <a:noFill/>
            <a:ln cap="rnd" cmpd="sng" w="317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2" name="Google Shape;622;h142865916b425258_2_158"/>
            <p:cNvSpPr txBox="1"/>
            <p:nvPr/>
          </p:nvSpPr>
          <p:spPr>
            <a:xfrm>
              <a:off x="7269645" y="4103526"/>
              <a:ext cx="900176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314" l="-678" r="-67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h142865916b425258_2_158"/>
            <p:cNvSpPr txBox="1"/>
            <p:nvPr/>
          </p:nvSpPr>
          <p:spPr>
            <a:xfrm>
              <a:off x="8169355" y="5684290"/>
              <a:ext cx="900176" cy="46166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314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h142865916b425258_2_158"/>
            <p:cNvSpPr txBox="1"/>
            <p:nvPr/>
          </p:nvSpPr>
          <p:spPr>
            <a:xfrm>
              <a:off x="9725046" y="5220320"/>
              <a:ext cx="127093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Input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axis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5" name="Google Shape;625;h142865916b425258_2_158"/>
            <p:cNvCxnSpPr/>
            <p:nvPr/>
          </p:nvCxnSpPr>
          <p:spPr>
            <a:xfrm>
              <a:off x="8829448" y="5141080"/>
              <a:ext cx="0" cy="105310"/>
            </a:xfrm>
            <a:prstGeom prst="straightConnector1">
              <a:avLst/>
            </a:prstGeom>
            <a:noFill/>
            <a:ln cap="flat" cmpd="sng" w="57150">
              <a:solidFill>
                <a:srgbClr val="0000F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6" name="Google Shape;626;h142865916b425258_2_158"/>
            <p:cNvCxnSpPr/>
            <p:nvPr/>
          </p:nvCxnSpPr>
          <p:spPr>
            <a:xfrm>
              <a:off x="7598342" y="5141080"/>
              <a:ext cx="0" cy="105310"/>
            </a:xfrm>
            <a:prstGeom prst="straightConnector1">
              <a:avLst/>
            </a:prstGeom>
            <a:noFill/>
            <a:ln cap="flat" cmpd="sng" w="57150">
              <a:solidFill>
                <a:srgbClr val="0000F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627" name="Google Shape;627;h142865916b425258_2_158"/>
            <p:cNvSpPr txBox="1"/>
            <p:nvPr/>
          </p:nvSpPr>
          <p:spPr>
            <a:xfrm>
              <a:off x="7975281" y="5213028"/>
              <a:ext cx="1822631" cy="43685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38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h142865916b425258_2_158"/>
            <p:cNvSpPr txBox="1"/>
            <p:nvPr/>
          </p:nvSpPr>
          <p:spPr>
            <a:xfrm>
              <a:off x="6683327" y="5213028"/>
              <a:ext cx="1822631" cy="43685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138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9" name="Google Shape;629;h142865916b425258_2_158"/>
          <p:cNvGrpSpPr/>
          <p:nvPr/>
        </p:nvGrpSpPr>
        <p:grpSpPr>
          <a:xfrm>
            <a:off x="1057651" y="4205680"/>
            <a:ext cx="5601967" cy="2021796"/>
            <a:chOff x="680597" y="3388169"/>
            <a:chExt cx="5838475" cy="2107154"/>
          </a:xfrm>
        </p:grpSpPr>
        <p:grpSp>
          <p:nvGrpSpPr>
            <p:cNvPr id="630" name="Google Shape;630;h142865916b425258_2_158"/>
            <p:cNvGrpSpPr/>
            <p:nvPr/>
          </p:nvGrpSpPr>
          <p:grpSpPr>
            <a:xfrm>
              <a:off x="680597" y="3388169"/>
              <a:ext cx="4707660" cy="2107154"/>
              <a:chOff x="6336707" y="3529522"/>
              <a:chExt cx="4707660" cy="2317869"/>
            </a:xfrm>
          </p:grpSpPr>
          <p:pic>
            <p:nvPicPr>
              <p:cNvPr id="631" name="Google Shape;631;h142865916b425258_2_15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151617" y="3529522"/>
                <a:ext cx="3892750" cy="23178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2" name="Google Shape;632;h142865916b425258_2_158"/>
              <p:cNvSpPr txBox="1"/>
              <p:nvPr/>
            </p:nvSpPr>
            <p:spPr>
              <a:xfrm>
                <a:off x="6336707" y="4391950"/>
                <a:ext cx="1312046" cy="530173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33" name="Google Shape;633;h142865916b425258_2_15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545514" y="4191122"/>
              <a:ext cx="1973558" cy="5446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42865916b425258_2_184"/>
          <p:cNvSpPr txBox="1"/>
          <p:nvPr/>
        </p:nvSpPr>
        <p:spPr>
          <a:xfrm>
            <a:off x="7873958" y="5500116"/>
            <a:ext cx="1822631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94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9" name="Google Shape;639;h142865916b425258_2_18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7585" y="945366"/>
            <a:ext cx="3387851" cy="2614248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h142865916b425258_2_184"/>
          <p:cNvSpPr txBox="1"/>
          <p:nvPr/>
        </p:nvSpPr>
        <p:spPr>
          <a:xfrm>
            <a:off x="7643233" y="1699661"/>
            <a:ext cx="420624" cy="9233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h142865916b425258_2_184"/>
          <p:cNvSpPr txBox="1"/>
          <p:nvPr/>
        </p:nvSpPr>
        <p:spPr>
          <a:xfrm>
            <a:off x="5758604" y="2037655"/>
            <a:ext cx="2128981" cy="42966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12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2" name="Google Shape;642;h142865916b425258_2_184"/>
          <p:cNvCxnSpPr/>
          <p:nvPr/>
        </p:nvCxnSpPr>
        <p:spPr>
          <a:xfrm>
            <a:off x="5931674" y="5313381"/>
            <a:ext cx="293529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643" name="Google Shape;643;h142865916b425258_2_184"/>
          <p:cNvCxnSpPr/>
          <p:nvPr/>
        </p:nvCxnSpPr>
        <p:spPr>
          <a:xfrm rot="10800000">
            <a:off x="6951341" y="3796147"/>
            <a:ext cx="0" cy="2606040"/>
          </a:xfrm>
          <a:prstGeom prst="straightConnector1">
            <a:avLst/>
          </a:prstGeom>
          <a:noFill/>
          <a:ln cap="flat" cmpd="sng" w="28575">
            <a:solidFill>
              <a:schemeClr val="dk1">
                <a:alpha val="37647"/>
              </a:schemeClr>
            </a:solidFill>
            <a:prstDash val="solid"/>
            <a:miter lim="8000"/>
            <a:headEnd len="sm" w="sm" type="none"/>
            <a:tailEnd len="lg" w="lg" type="stealth"/>
          </a:ln>
        </p:spPr>
      </p:cxnSp>
      <p:cxnSp>
        <p:nvCxnSpPr>
          <p:cNvPr id="644" name="Google Shape;644;h142865916b425258_2_184"/>
          <p:cNvCxnSpPr/>
          <p:nvPr/>
        </p:nvCxnSpPr>
        <p:spPr>
          <a:xfrm>
            <a:off x="7598322" y="4451980"/>
            <a:ext cx="1192775" cy="0"/>
          </a:xfrm>
          <a:prstGeom prst="straightConnector1">
            <a:avLst/>
          </a:prstGeom>
          <a:noFill/>
          <a:ln cap="rnd" cmpd="sng" w="317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h142865916b425258_2_184"/>
          <p:cNvCxnSpPr/>
          <p:nvPr/>
        </p:nvCxnSpPr>
        <p:spPr>
          <a:xfrm>
            <a:off x="5931674" y="6073004"/>
            <a:ext cx="398565" cy="0"/>
          </a:xfrm>
          <a:prstGeom prst="straightConnector1">
            <a:avLst/>
          </a:prstGeom>
          <a:noFill/>
          <a:ln cap="flat" cmpd="sng" w="31750">
            <a:solidFill>
              <a:srgbClr val="7030A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46" name="Google Shape;646;h142865916b425258_2_184"/>
          <p:cNvCxnSpPr/>
          <p:nvPr/>
        </p:nvCxnSpPr>
        <p:spPr>
          <a:xfrm flipH="1">
            <a:off x="6330239" y="4451980"/>
            <a:ext cx="1268083" cy="1621024"/>
          </a:xfrm>
          <a:prstGeom prst="straightConnector1">
            <a:avLst/>
          </a:prstGeom>
          <a:noFill/>
          <a:ln cap="rnd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h142865916b425258_2_184"/>
          <p:cNvSpPr txBox="1"/>
          <p:nvPr/>
        </p:nvSpPr>
        <p:spPr>
          <a:xfrm>
            <a:off x="6038519" y="4221146"/>
            <a:ext cx="900176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14" l="-678" r="-67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h142865916b425258_2_184"/>
          <p:cNvSpPr txBox="1"/>
          <p:nvPr/>
        </p:nvSpPr>
        <p:spPr>
          <a:xfrm>
            <a:off x="6938229" y="5801910"/>
            <a:ext cx="900176" cy="4616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h142865916b425258_2_184"/>
          <p:cNvSpPr txBox="1"/>
          <p:nvPr/>
        </p:nvSpPr>
        <p:spPr>
          <a:xfrm>
            <a:off x="6744155" y="5330648"/>
            <a:ext cx="1822631" cy="43685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h142865916b425258_2_184"/>
          <p:cNvSpPr txBox="1"/>
          <p:nvPr/>
        </p:nvSpPr>
        <p:spPr>
          <a:xfrm>
            <a:off x="5452201" y="5330648"/>
            <a:ext cx="1822631" cy="43685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8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h142865916b425258_2_184"/>
          <p:cNvSpPr txBox="1"/>
          <p:nvPr>
            <p:ph type="title"/>
          </p:nvPr>
        </p:nvSpPr>
        <p:spPr>
          <a:xfrm>
            <a:off x="838200" y="365125"/>
            <a:ext cx="1079038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Circuit Model and VTC</a:t>
            </a:r>
            <a:endParaRPr/>
          </a:p>
        </p:txBody>
      </p:sp>
      <p:sp>
        <p:nvSpPr>
          <p:cNvPr id="652" name="Google Shape;652;h142865916b425258_2_184"/>
          <p:cNvSpPr txBox="1"/>
          <p:nvPr/>
        </p:nvSpPr>
        <p:spPr>
          <a:xfrm>
            <a:off x="916564" y="2212513"/>
            <a:ext cx="3092970" cy="55399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h142865916b425258_2_184"/>
          <p:cNvSpPr txBox="1"/>
          <p:nvPr/>
        </p:nvSpPr>
        <p:spPr>
          <a:xfrm>
            <a:off x="912280" y="5392612"/>
            <a:ext cx="3097255" cy="50783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h142865916b425258_2_184"/>
          <p:cNvSpPr txBox="1"/>
          <p:nvPr/>
        </p:nvSpPr>
        <p:spPr>
          <a:xfrm>
            <a:off x="838200" y="1470236"/>
            <a:ext cx="4386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Transfer Characteristics (VTC)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h142865916b425258_2_184"/>
          <p:cNvSpPr/>
          <p:nvPr/>
        </p:nvSpPr>
        <p:spPr>
          <a:xfrm>
            <a:off x="738372" y="3464657"/>
            <a:ext cx="3693310" cy="817245"/>
          </a:xfrm>
          <a:prstGeom prst="roundRect">
            <a:avLst>
              <a:gd fmla="val 16667" name="adj"/>
            </a:avLst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h142865916b425258_2_184"/>
          <p:cNvSpPr txBox="1"/>
          <p:nvPr/>
        </p:nvSpPr>
        <p:spPr>
          <a:xfrm>
            <a:off x="912279" y="1952263"/>
            <a:ext cx="26427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Positive saturation: 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h142865916b425258_2_184"/>
          <p:cNvSpPr txBox="1"/>
          <p:nvPr/>
        </p:nvSpPr>
        <p:spPr>
          <a:xfrm>
            <a:off x="912279" y="5086869"/>
            <a:ext cx="3097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Negative saturation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h142865916b425258_2_184"/>
          <p:cNvSpPr txBox="1"/>
          <p:nvPr/>
        </p:nvSpPr>
        <p:spPr>
          <a:xfrm>
            <a:off x="6938695" y="3559615"/>
            <a:ext cx="449622" cy="461665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314" l="-2702" r="-1756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h142865916b425258_2_184"/>
          <p:cNvPicPr preferRelativeResize="0"/>
          <p:nvPr/>
        </p:nvPicPr>
        <p:blipFill rotWithShape="1">
          <a:blip r:embed="rId15">
            <a:alphaModFix/>
          </a:blip>
          <a:srcRect b="1770" l="0" r="3151" t="2779"/>
          <a:stretch/>
        </p:blipFill>
        <p:spPr>
          <a:xfrm>
            <a:off x="5626503" y="3594960"/>
            <a:ext cx="3693311" cy="3022768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h142865916b425258_2_184"/>
          <p:cNvSpPr txBox="1"/>
          <p:nvPr/>
        </p:nvSpPr>
        <p:spPr>
          <a:xfrm>
            <a:off x="5316922" y="3088282"/>
            <a:ext cx="3693168" cy="461665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30665" l="-329" r="0" t="-106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1" name="Google Shape;661;h142865916b425258_2_184"/>
          <p:cNvCxnSpPr/>
          <p:nvPr/>
        </p:nvCxnSpPr>
        <p:spPr>
          <a:xfrm>
            <a:off x="668526" y="3145711"/>
            <a:ext cx="3916154" cy="1281737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62" name="Google Shape;662;h142865916b425258_2_184"/>
          <p:cNvCxnSpPr/>
          <p:nvPr/>
        </p:nvCxnSpPr>
        <p:spPr>
          <a:xfrm flipH="1" rot="10800000">
            <a:off x="659739" y="3197051"/>
            <a:ext cx="3924941" cy="126861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63" name="Google Shape;663;h142865916b425258_2_184"/>
          <p:cNvSpPr/>
          <p:nvPr/>
        </p:nvSpPr>
        <p:spPr>
          <a:xfrm>
            <a:off x="7143457" y="3986304"/>
            <a:ext cx="1423327" cy="2631424"/>
          </a:xfrm>
          <a:prstGeom prst="rect">
            <a:avLst/>
          </a:prstGeom>
          <a:solidFill>
            <a:srgbClr val="0000FF">
              <a:alpha val="3294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h142865916b425258_2_184"/>
          <p:cNvSpPr txBox="1"/>
          <p:nvPr/>
        </p:nvSpPr>
        <p:spPr>
          <a:xfrm>
            <a:off x="7295600" y="5027644"/>
            <a:ext cx="1231215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1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h142865916b425258_2_184"/>
          <p:cNvSpPr/>
          <p:nvPr/>
        </p:nvSpPr>
        <p:spPr>
          <a:xfrm>
            <a:off x="5719687" y="3986304"/>
            <a:ext cx="1423327" cy="2631424"/>
          </a:xfrm>
          <a:prstGeom prst="rect">
            <a:avLst/>
          </a:prstGeom>
          <a:solidFill>
            <a:srgbClr val="FF0000">
              <a:alpha val="3294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h142865916b425258_2_184"/>
          <p:cNvSpPr txBox="1"/>
          <p:nvPr/>
        </p:nvSpPr>
        <p:spPr>
          <a:xfrm>
            <a:off x="5871830" y="5027644"/>
            <a:ext cx="1231215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166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h142865916b425258_2_216"/>
          <p:cNvPicPr preferRelativeResize="0"/>
          <p:nvPr/>
        </p:nvPicPr>
        <p:blipFill rotWithShape="1">
          <a:blip r:embed="rId3">
            <a:alphaModFix/>
          </a:blip>
          <a:srcRect b="29928" l="-445" r="444" t="-7980"/>
          <a:stretch/>
        </p:blipFill>
        <p:spPr>
          <a:xfrm>
            <a:off x="7730084" y="1027906"/>
            <a:ext cx="4026107" cy="2468329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h142865916b425258_2_2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Op-Amp configuration</a:t>
            </a:r>
            <a:endParaRPr/>
          </a:p>
        </p:txBody>
      </p:sp>
      <p:sp>
        <p:nvSpPr>
          <p:cNvPr id="673" name="Google Shape;673;h142865916b425258_2_2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Open loop configuration: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No physical connection between input and output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Closed loop configuration: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Feedback from output terminal  </a:t>
            </a:r>
            <a:endParaRPr/>
          </a:p>
        </p:txBody>
      </p:sp>
      <p:pic>
        <p:nvPicPr>
          <p:cNvPr id="674" name="Google Shape;674;h142865916b425258_2_216"/>
          <p:cNvPicPr preferRelativeResize="0"/>
          <p:nvPr/>
        </p:nvPicPr>
        <p:blipFill rotWithShape="1">
          <a:blip r:embed="rId4">
            <a:alphaModFix/>
          </a:blip>
          <a:srcRect b="17368" l="0" r="0" t="8038"/>
          <a:stretch/>
        </p:blipFill>
        <p:spPr>
          <a:xfrm>
            <a:off x="7278320" y="4001294"/>
            <a:ext cx="4477871" cy="2180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h142865916b425258_2_2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Comparator</a:t>
            </a:r>
            <a:endParaRPr/>
          </a:p>
        </p:txBody>
      </p:sp>
      <p:sp>
        <p:nvSpPr>
          <p:cNvPr id="680" name="Google Shape;680;h142865916b425258_2_223"/>
          <p:cNvSpPr txBox="1"/>
          <p:nvPr/>
        </p:nvSpPr>
        <p:spPr>
          <a:xfrm>
            <a:off x="838200" y="1633714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Crossing Detector /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681" name="Google Shape;681;h142865916b425258_2_223"/>
          <p:cNvPicPr preferRelativeResize="0"/>
          <p:nvPr/>
        </p:nvPicPr>
        <p:blipFill rotWithShape="1">
          <a:blip r:embed="rId3">
            <a:alphaModFix/>
          </a:blip>
          <a:srcRect b="22646" l="38494" r="43764" t="6478"/>
          <a:stretch/>
        </p:blipFill>
        <p:spPr>
          <a:xfrm>
            <a:off x="7335331" y="1984016"/>
            <a:ext cx="2547710" cy="2218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682" name="Google Shape;682;h142865916b425258_2_223"/>
          <p:cNvPicPr preferRelativeResize="0"/>
          <p:nvPr/>
        </p:nvPicPr>
        <p:blipFill rotWithShape="1">
          <a:blip r:embed="rId3">
            <a:alphaModFix/>
          </a:blip>
          <a:srcRect b="31212" l="18102" r="62441" t="22668"/>
          <a:stretch/>
        </p:blipFill>
        <p:spPr>
          <a:xfrm>
            <a:off x="3511551" y="2387068"/>
            <a:ext cx="3477464" cy="173098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h142865916b425258_2_223"/>
          <p:cNvSpPr txBox="1"/>
          <p:nvPr/>
        </p:nvSpPr>
        <p:spPr>
          <a:xfrm>
            <a:off x="3184048" y="2586947"/>
            <a:ext cx="420624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h142865916b425258_2_223"/>
          <p:cNvSpPr txBox="1"/>
          <p:nvPr/>
        </p:nvSpPr>
        <p:spPr>
          <a:xfrm>
            <a:off x="1299419" y="2859958"/>
            <a:ext cx="1978298" cy="400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0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h142865916b425258_2_223"/>
          <p:cNvSpPr txBox="1"/>
          <p:nvPr/>
        </p:nvSpPr>
        <p:spPr>
          <a:xfrm>
            <a:off x="3119353" y="4737412"/>
            <a:ext cx="4878900" cy="10156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h142865916b425258_2_223"/>
          <p:cNvSpPr txBox="1"/>
          <p:nvPr/>
        </p:nvSpPr>
        <p:spPr>
          <a:xfrm>
            <a:off x="2644041" y="4063400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NON-INVERTING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h142865916b425258_2_2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Comparator</a:t>
            </a:r>
            <a:endParaRPr/>
          </a:p>
        </p:txBody>
      </p:sp>
      <p:sp>
        <p:nvSpPr>
          <p:cNvPr id="692" name="Google Shape;692;h142865916b425258_2_234"/>
          <p:cNvSpPr txBox="1"/>
          <p:nvPr/>
        </p:nvSpPr>
        <p:spPr>
          <a:xfrm>
            <a:off x="838200" y="1633714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Crossing Detector /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h142865916b425258_2_234"/>
          <p:cNvSpPr txBox="1"/>
          <p:nvPr/>
        </p:nvSpPr>
        <p:spPr>
          <a:xfrm>
            <a:off x="3585802" y="4813039"/>
            <a:ext cx="4878900" cy="10156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694" name="Google Shape;694;h142865916b425258_2_234"/>
          <p:cNvPicPr preferRelativeResize="0"/>
          <p:nvPr/>
        </p:nvPicPr>
        <p:blipFill rotWithShape="1">
          <a:blip r:embed="rId4">
            <a:alphaModFix/>
          </a:blip>
          <a:srcRect b="25190" l="76445" r="5078" t="0"/>
          <a:stretch/>
        </p:blipFill>
        <p:spPr>
          <a:xfrm>
            <a:off x="7316461" y="1834915"/>
            <a:ext cx="2547710" cy="2248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695" name="Google Shape;695;h142865916b425258_2_234"/>
          <p:cNvPicPr preferRelativeResize="0"/>
          <p:nvPr/>
        </p:nvPicPr>
        <p:blipFill rotWithShape="1">
          <a:blip r:embed="rId4">
            <a:alphaModFix/>
          </a:blip>
          <a:srcRect b="38853" l="56778" r="24121" t="19398"/>
          <a:stretch/>
        </p:blipFill>
        <p:spPr>
          <a:xfrm>
            <a:off x="3585802" y="2260920"/>
            <a:ext cx="3467883" cy="1652228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h142865916b425258_2_234"/>
          <p:cNvSpPr txBox="1"/>
          <p:nvPr/>
        </p:nvSpPr>
        <p:spPr>
          <a:xfrm>
            <a:off x="3197268" y="2548270"/>
            <a:ext cx="420624" cy="9233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h142865916b425258_2_234"/>
          <p:cNvSpPr txBox="1"/>
          <p:nvPr/>
        </p:nvSpPr>
        <p:spPr>
          <a:xfrm>
            <a:off x="1312639" y="2821281"/>
            <a:ext cx="1892441" cy="400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7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h142865916b425258_2_234"/>
          <p:cNvSpPr txBox="1"/>
          <p:nvPr/>
        </p:nvSpPr>
        <p:spPr>
          <a:xfrm>
            <a:off x="2644041" y="4063400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INVERTING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142865916b425258_2_2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Comparator</a:t>
            </a:r>
            <a:endParaRPr/>
          </a:p>
        </p:txBody>
      </p:sp>
      <p:pic>
        <p:nvPicPr>
          <p:cNvPr id="704" name="Google Shape;704;h142865916b425258_2_2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396436"/>
            <a:ext cx="10324605" cy="424849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h142865916b425258_2_245"/>
          <p:cNvSpPr txBox="1"/>
          <p:nvPr/>
        </p:nvSpPr>
        <p:spPr>
          <a:xfrm>
            <a:off x="838200" y="1455709"/>
            <a:ext cx="8803820" cy="15450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322" l="-1107" r="-68" t="-316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h142865916b425258_2_2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Comparator</a:t>
            </a:r>
            <a:endParaRPr/>
          </a:p>
        </p:txBody>
      </p:sp>
      <p:pic>
        <p:nvPicPr>
          <p:cNvPr id="711" name="Google Shape;711;h142865916b425258_2_2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46" y="2248119"/>
            <a:ext cx="10514054" cy="3940276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h142865916b425258_2_251"/>
          <p:cNvSpPr txBox="1"/>
          <p:nvPr/>
        </p:nvSpPr>
        <p:spPr>
          <a:xfrm>
            <a:off x="838200" y="1552174"/>
            <a:ext cx="261738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Crossing Detector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Inverting configuration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h142865916b425258_2_2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pic>
        <p:nvPicPr>
          <p:cNvPr descr="Diagram&#10;&#10;Description automatically generated" id="718" name="Google Shape;718;h142865916b425258_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126004"/>
            <a:ext cx="10663518" cy="2324537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h142865916b425258_2_257"/>
          <p:cNvSpPr txBox="1"/>
          <p:nvPr/>
        </p:nvSpPr>
        <p:spPr>
          <a:xfrm>
            <a:off x="838200" y="2076171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Crossing Detector /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720" name="Google Shape;720;h142865916b425258_2_257"/>
          <p:cNvPicPr preferRelativeResize="0"/>
          <p:nvPr/>
        </p:nvPicPr>
        <p:blipFill rotWithShape="1">
          <a:blip r:embed="rId3">
            <a:alphaModFix/>
          </a:blip>
          <a:srcRect b="22646" l="38494" r="43764" t="6478"/>
          <a:stretch/>
        </p:blipFill>
        <p:spPr>
          <a:xfrm>
            <a:off x="5095415" y="3429000"/>
            <a:ext cx="1891862" cy="164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h142865916b425258_2_26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726" name="Google Shape;726;h142865916b425258_2_26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h142865916b425258_4_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Operational Amplifier: Comparator Math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h142865916b425258_4_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737" name="Google Shape;737;h142865916b425258_4_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Op-Amp: Comparator (Recap)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 Loop Configuration: Example 1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 Loop Configuration: Example 2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 Loop Configuration: Example 3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42865916b425258_4_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Comparator (Recap)</a:t>
            </a:r>
            <a:endParaRPr/>
          </a:p>
        </p:txBody>
      </p:sp>
      <p:sp>
        <p:nvSpPr>
          <p:cNvPr id="743" name="Google Shape;743;h142865916b425258_4_10"/>
          <p:cNvSpPr txBox="1"/>
          <p:nvPr/>
        </p:nvSpPr>
        <p:spPr>
          <a:xfrm>
            <a:off x="838200" y="1633714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Crossing Detector /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744" name="Google Shape;744;h142865916b425258_4_10"/>
          <p:cNvPicPr preferRelativeResize="0"/>
          <p:nvPr/>
        </p:nvPicPr>
        <p:blipFill rotWithShape="1">
          <a:blip r:embed="rId3">
            <a:alphaModFix/>
          </a:blip>
          <a:srcRect b="22646" l="38494" r="43764" t="6478"/>
          <a:stretch/>
        </p:blipFill>
        <p:spPr>
          <a:xfrm>
            <a:off x="7335331" y="1984016"/>
            <a:ext cx="2547710" cy="2218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745" name="Google Shape;745;h142865916b425258_4_10"/>
          <p:cNvPicPr preferRelativeResize="0"/>
          <p:nvPr/>
        </p:nvPicPr>
        <p:blipFill rotWithShape="1">
          <a:blip r:embed="rId3">
            <a:alphaModFix/>
          </a:blip>
          <a:srcRect b="31212" l="18102" r="62441" t="22668"/>
          <a:stretch/>
        </p:blipFill>
        <p:spPr>
          <a:xfrm>
            <a:off x="3511551" y="2387068"/>
            <a:ext cx="3477464" cy="1730982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h142865916b425258_4_10"/>
          <p:cNvSpPr txBox="1"/>
          <p:nvPr/>
        </p:nvSpPr>
        <p:spPr>
          <a:xfrm>
            <a:off x="3184048" y="2586947"/>
            <a:ext cx="420624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h142865916b425258_4_10"/>
          <p:cNvSpPr txBox="1"/>
          <p:nvPr/>
        </p:nvSpPr>
        <p:spPr>
          <a:xfrm>
            <a:off x="1299419" y="2859958"/>
            <a:ext cx="1978298" cy="400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0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h142865916b425258_4_10"/>
          <p:cNvSpPr txBox="1"/>
          <p:nvPr/>
        </p:nvSpPr>
        <p:spPr>
          <a:xfrm>
            <a:off x="3119353" y="4737412"/>
            <a:ext cx="4878900" cy="10156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h142865916b425258_4_10"/>
          <p:cNvSpPr txBox="1"/>
          <p:nvPr/>
        </p:nvSpPr>
        <p:spPr>
          <a:xfrm>
            <a:off x="2644041" y="4063400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NON-INVERTING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h142865916b425258_4_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Comparator (Recap)</a:t>
            </a:r>
            <a:endParaRPr/>
          </a:p>
        </p:txBody>
      </p:sp>
      <p:sp>
        <p:nvSpPr>
          <p:cNvPr id="755" name="Google Shape;755;h142865916b425258_4_21"/>
          <p:cNvSpPr txBox="1"/>
          <p:nvPr/>
        </p:nvSpPr>
        <p:spPr>
          <a:xfrm>
            <a:off x="838200" y="1633714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Crossing Detector /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h142865916b425258_4_21"/>
          <p:cNvSpPr txBox="1"/>
          <p:nvPr/>
        </p:nvSpPr>
        <p:spPr>
          <a:xfrm>
            <a:off x="3585802" y="4813039"/>
            <a:ext cx="4878900" cy="10156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757" name="Google Shape;757;h142865916b425258_4_21"/>
          <p:cNvPicPr preferRelativeResize="0"/>
          <p:nvPr/>
        </p:nvPicPr>
        <p:blipFill rotWithShape="1">
          <a:blip r:embed="rId4">
            <a:alphaModFix/>
          </a:blip>
          <a:srcRect b="25190" l="76445" r="5078" t="0"/>
          <a:stretch/>
        </p:blipFill>
        <p:spPr>
          <a:xfrm>
            <a:off x="7316461" y="1834915"/>
            <a:ext cx="2547710" cy="2248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758" name="Google Shape;758;h142865916b425258_4_21"/>
          <p:cNvPicPr preferRelativeResize="0"/>
          <p:nvPr/>
        </p:nvPicPr>
        <p:blipFill rotWithShape="1">
          <a:blip r:embed="rId4">
            <a:alphaModFix/>
          </a:blip>
          <a:srcRect b="38853" l="56778" r="24121" t="19398"/>
          <a:stretch/>
        </p:blipFill>
        <p:spPr>
          <a:xfrm>
            <a:off x="3585802" y="2260920"/>
            <a:ext cx="3467883" cy="1652228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h142865916b425258_4_21"/>
          <p:cNvSpPr txBox="1"/>
          <p:nvPr/>
        </p:nvSpPr>
        <p:spPr>
          <a:xfrm>
            <a:off x="3197268" y="2548270"/>
            <a:ext cx="420624" cy="9233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h142865916b425258_4_21"/>
          <p:cNvSpPr txBox="1"/>
          <p:nvPr/>
        </p:nvSpPr>
        <p:spPr>
          <a:xfrm>
            <a:off x="1312639" y="2821281"/>
            <a:ext cx="1892441" cy="400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7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h142865916b425258_4_21"/>
          <p:cNvSpPr txBox="1"/>
          <p:nvPr/>
        </p:nvSpPr>
        <p:spPr>
          <a:xfrm>
            <a:off x="2644041" y="4063400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INVERTING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h142865916b425258_4_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Comparator (Recap)</a:t>
            </a:r>
            <a:endParaRPr/>
          </a:p>
        </p:txBody>
      </p:sp>
      <p:pic>
        <p:nvPicPr>
          <p:cNvPr descr="Diagram&#10;&#10;Description automatically generated" id="767" name="Google Shape;767;h142865916b425258_4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126004"/>
            <a:ext cx="10663518" cy="2324537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h142865916b425258_4_32"/>
          <p:cNvSpPr txBox="1"/>
          <p:nvPr/>
        </p:nvSpPr>
        <p:spPr>
          <a:xfrm>
            <a:off x="838200" y="2076171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Crossing Detector /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769" name="Google Shape;769;h142865916b425258_4_32"/>
          <p:cNvPicPr preferRelativeResize="0"/>
          <p:nvPr/>
        </p:nvPicPr>
        <p:blipFill rotWithShape="1">
          <a:blip r:embed="rId3">
            <a:alphaModFix/>
          </a:blip>
          <a:srcRect b="22646" l="38494" r="43764" t="6478"/>
          <a:stretch/>
        </p:blipFill>
        <p:spPr>
          <a:xfrm>
            <a:off x="5095415" y="3429000"/>
            <a:ext cx="1891862" cy="164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h142865916b425258_4_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Example 1</a:t>
            </a:r>
            <a:endParaRPr/>
          </a:p>
        </p:txBody>
      </p:sp>
      <p:sp>
        <p:nvSpPr>
          <p:cNvPr id="775" name="Google Shape;775;h142865916b425258_4_39"/>
          <p:cNvSpPr txBox="1"/>
          <p:nvPr>
            <p:ph idx="1" type="body"/>
          </p:nvPr>
        </p:nvSpPr>
        <p:spPr>
          <a:xfrm>
            <a:off x="838200" y="1825625"/>
            <a:ext cx="10724322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97" r="0" t="-12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776" name="Google Shape;776;h142865916b425258_4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9780" y="2861256"/>
            <a:ext cx="2941734" cy="298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h142865916b425258_4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0488" y="2615481"/>
            <a:ext cx="3188970" cy="3235355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h142865916b425258_4_39"/>
          <p:cNvSpPr txBox="1"/>
          <p:nvPr/>
        </p:nvSpPr>
        <p:spPr>
          <a:xfrm>
            <a:off x="6096000" y="2861256"/>
            <a:ext cx="13340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h142865916b425258_4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120" y="4115889"/>
            <a:ext cx="2434151" cy="207684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h142865916b425258_4_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Example 2</a:t>
            </a:r>
            <a:endParaRPr/>
          </a:p>
        </p:txBody>
      </p:sp>
      <p:sp>
        <p:nvSpPr>
          <p:cNvPr id="785" name="Google Shape;785;h142865916b425258_4_47"/>
          <p:cNvSpPr txBox="1"/>
          <p:nvPr>
            <p:ph idx="1" type="body"/>
          </p:nvPr>
        </p:nvSpPr>
        <p:spPr>
          <a:xfrm>
            <a:off x="838200" y="1825625"/>
            <a:ext cx="10515600" cy="83993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40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786" name="Google Shape;786;h142865916b425258_4_47"/>
          <p:cNvPicPr preferRelativeResize="0"/>
          <p:nvPr/>
        </p:nvPicPr>
        <p:blipFill rotWithShape="1">
          <a:blip r:embed="rId5">
            <a:alphaModFix/>
          </a:blip>
          <a:srcRect b="13665" l="6025" r="6243" t="9848"/>
          <a:stretch/>
        </p:blipFill>
        <p:spPr>
          <a:xfrm>
            <a:off x="944659" y="3219094"/>
            <a:ext cx="5151341" cy="3441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h142865916b425258_4_47"/>
          <p:cNvSpPr txBox="1"/>
          <p:nvPr/>
        </p:nvSpPr>
        <p:spPr>
          <a:xfrm>
            <a:off x="5973076" y="2901518"/>
            <a:ext cx="5553315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8" l="0" r="-108" t="-114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h142865916b425258_4_47"/>
          <p:cNvSpPr txBox="1"/>
          <p:nvPr/>
        </p:nvSpPr>
        <p:spPr>
          <a:xfrm>
            <a:off x="5973076" y="3278584"/>
            <a:ext cx="567616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64" l="0" r="0" t="-116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h142865916b425258_4_47"/>
          <p:cNvSpPr txBox="1"/>
          <p:nvPr/>
        </p:nvSpPr>
        <p:spPr>
          <a:xfrm>
            <a:off x="7199515" y="3762213"/>
            <a:ext cx="2927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INVERTING CONFIGURATION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h142865916b425258_4_47"/>
          <p:cNvSpPr txBox="1"/>
          <p:nvPr/>
        </p:nvSpPr>
        <p:spPr>
          <a:xfrm>
            <a:off x="5886816" y="2480662"/>
            <a:ext cx="13340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5" name="Google Shape;795;h142865916b425258_4_58"/>
          <p:cNvCxnSpPr/>
          <p:nvPr/>
        </p:nvCxnSpPr>
        <p:spPr>
          <a:xfrm>
            <a:off x="7236626" y="3438147"/>
            <a:ext cx="0" cy="965578"/>
          </a:xfrm>
          <a:prstGeom prst="straightConnector1">
            <a:avLst/>
          </a:prstGeom>
          <a:noFill/>
          <a:ln cap="rnd" cmpd="sng" w="57150">
            <a:solidFill>
              <a:srgbClr val="FF0000"/>
            </a:solidFill>
            <a:prstDash val="dash"/>
            <a:miter lim="8000"/>
            <a:headEnd len="sm" w="sm" type="none"/>
            <a:tailEnd len="sm" w="sm" type="none"/>
          </a:ln>
        </p:spPr>
      </p:cxnSp>
      <p:grpSp>
        <p:nvGrpSpPr>
          <p:cNvPr id="796" name="Google Shape;796;h142865916b425258_4_58"/>
          <p:cNvGrpSpPr/>
          <p:nvPr/>
        </p:nvGrpSpPr>
        <p:grpSpPr>
          <a:xfrm>
            <a:off x="5492727" y="3688080"/>
            <a:ext cx="5591607" cy="1505212"/>
            <a:chOff x="5492727" y="3429000"/>
            <a:chExt cx="5591607" cy="1505212"/>
          </a:xfrm>
        </p:grpSpPr>
        <p:cxnSp>
          <p:nvCxnSpPr>
            <p:cNvPr id="797" name="Google Shape;797;h142865916b425258_4_58"/>
            <p:cNvCxnSpPr/>
            <p:nvPr/>
          </p:nvCxnSpPr>
          <p:spPr>
            <a:xfrm flipH="1" rot="10800000">
              <a:off x="5492727" y="3429000"/>
              <a:ext cx="2400443" cy="1493520"/>
            </a:xfrm>
            <a:prstGeom prst="bentConnector3">
              <a:avLst>
                <a:gd fmla="val 46508" name="adj1"/>
              </a:avLst>
            </a:prstGeom>
            <a:noFill/>
            <a:ln cap="flat" cmpd="sng" w="57150">
              <a:solidFill>
                <a:srgbClr val="00B05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98" name="Google Shape;798;h142865916b425258_4_58"/>
            <p:cNvCxnSpPr/>
            <p:nvPr/>
          </p:nvCxnSpPr>
          <p:spPr>
            <a:xfrm>
              <a:off x="7893170" y="3429000"/>
              <a:ext cx="3191164" cy="1505212"/>
            </a:xfrm>
            <a:prstGeom prst="bentConnector3">
              <a:avLst>
                <a:gd fmla="val -1100" name="adj1"/>
              </a:avLst>
            </a:prstGeom>
            <a:noFill/>
            <a:ln cap="flat" cmpd="sng" w="57150">
              <a:solidFill>
                <a:srgbClr val="00B05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799" name="Google Shape;799;h142865916b425258_4_58"/>
          <p:cNvGrpSpPr/>
          <p:nvPr/>
        </p:nvGrpSpPr>
        <p:grpSpPr>
          <a:xfrm>
            <a:off x="5978106" y="2985806"/>
            <a:ext cx="2518194" cy="1471894"/>
            <a:chOff x="5978106" y="5554981"/>
            <a:chExt cx="5106228" cy="1471894"/>
          </a:xfrm>
        </p:grpSpPr>
        <p:cxnSp>
          <p:nvCxnSpPr>
            <p:cNvPr id="800" name="Google Shape;800;h142865916b425258_4_58"/>
            <p:cNvCxnSpPr/>
            <p:nvPr/>
          </p:nvCxnSpPr>
          <p:spPr>
            <a:xfrm>
              <a:off x="5978106" y="5629874"/>
              <a:ext cx="0" cy="28467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01" name="Google Shape;801;h142865916b425258_4_58"/>
            <p:cNvCxnSpPr/>
            <p:nvPr/>
          </p:nvCxnSpPr>
          <p:spPr>
            <a:xfrm>
              <a:off x="5978106" y="5767765"/>
              <a:ext cx="5106228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802" name="Google Shape;802;h142865916b425258_4_58"/>
            <p:cNvSpPr/>
            <p:nvPr/>
          </p:nvSpPr>
          <p:spPr>
            <a:xfrm>
              <a:off x="7777757" y="5554981"/>
              <a:ext cx="1375153" cy="40528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9091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3" name="Google Shape;803;h142865916b425258_4_58"/>
            <p:cNvCxnSpPr/>
            <p:nvPr/>
          </p:nvCxnSpPr>
          <p:spPr>
            <a:xfrm>
              <a:off x="11084334" y="5554981"/>
              <a:ext cx="0" cy="1471894"/>
            </a:xfrm>
            <a:prstGeom prst="straightConnector1">
              <a:avLst/>
            </a:prstGeom>
            <a:noFill/>
            <a:ln cap="rnd" cmpd="sng" w="57150">
              <a:solidFill>
                <a:srgbClr val="FF0000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804" name="Google Shape;804;h142865916b425258_4_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Example 3</a:t>
            </a:r>
            <a:endParaRPr/>
          </a:p>
        </p:txBody>
      </p:sp>
      <p:sp>
        <p:nvSpPr>
          <p:cNvPr id="805" name="Google Shape;805;h142865916b425258_4_58"/>
          <p:cNvSpPr txBox="1"/>
          <p:nvPr>
            <p:ph idx="1" type="body"/>
          </p:nvPr>
        </p:nvSpPr>
        <p:spPr>
          <a:xfrm>
            <a:off x="838200" y="1825625"/>
            <a:ext cx="10515600" cy="103383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2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06" name="Google Shape;806;h142865916b425258_4_58"/>
          <p:cNvSpPr txBox="1"/>
          <p:nvPr/>
        </p:nvSpPr>
        <p:spPr>
          <a:xfrm>
            <a:off x="10483048" y="3253481"/>
            <a:ext cx="120257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h142865916b425258_4_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533" y="3060699"/>
            <a:ext cx="4319474" cy="2361663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h142865916b425258_4_58"/>
          <p:cNvSpPr/>
          <p:nvPr/>
        </p:nvSpPr>
        <p:spPr>
          <a:xfrm>
            <a:off x="1625748" y="5008064"/>
            <a:ext cx="1333944" cy="564736"/>
          </a:xfrm>
          <a:custGeom>
            <a:rect b="b" l="l" r="r" t="t"/>
            <a:pathLst>
              <a:path extrusionOk="0" h="564736" w="1333944">
                <a:moveTo>
                  <a:pt x="0" y="94125"/>
                </a:moveTo>
                <a:cubicBezTo>
                  <a:pt x="-577" y="43076"/>
                  <a:pt x="47906" y="-12229"/>
                  <a:pt x="94125" y="0"/>
                </a:cubicBezTo>
                <a:cubicBezTo>
                  <a:pt x="253706" y="-13978"/>
                  <a:pt x="503886" y="420"/>
                  <a:pt x="632601" y="0"/>
                </a:cubicBezTo>
                <a:cubicBezTo>
                  <a:pt x="761316" y="-420"/>
                  <a:pt x="1040629" y="25345"/>
                  <a:pt x="1239819" y="0"/>
                </a:cubicBezTo>
                <a:cubicBezTo>
                  <a:pt x="1291932" y="-5099"/>
                  <a:pt x="1332039" y="43253"/>
                  <a:pt x="1333944" y="94125"/>
                </a:cubicBezTo>
                <a:cubicBezTo>
                  <a:pt x="1362955" y="260488"/>
                  <a:pt x="1320465" y="321667"/>
                  <a:pt x="1333944" y="470611"/>
                </a:cubicBezTo>
                <a:cubicBezTo>
                  <a:pt x="1336661" y="528464"/>
                  <a:pt x="1301745" y="572579"/>
                  <a:pt x="1239819" y="564736"/>
                </a:cubicBezTo>
                <a:cubicBezTo>
                  <a:pt x="1102663" y="586589"/>
                  <a:pt x="921854" y="557371"/>
                  <a:pt x="655515" y="564736"/>
                </a:cubicBezTo>
                <a:cubicBezTo>
                  <a:pt x="389176" y="572101"/>
                  <a:pt x="231506" y="555082"/>
                  <a:pt x="94125" y="564736"/>
                </a:cubicBezTo>
                <a:cubicBezTo>
                  <a:pt x="35704" y="563085"/>
                  <a:pt x="-1991" y="522697"/>
                  <a:pt x="0" y="470611"/>
                </a:cubicBezTo>
                <a:cubicBezTo>
                  <a:pt x="-44354" y="322848"/>
                  <a:pt x="42435" y="182774"/>
                  <a:pt x="0" y="94125"/>
                </a:cubicBez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9" name="Google Shape;809;h142865916b425258_4_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92727" y="3034076"/>
            <a:ext cx="6192894" cy="26796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h142865916b425258_4_58"/>
          <p:cNvGrpSpPr/>
          <p:nvPr/>
        </p:nvGrpSpPr>
        <p:grpSpPr>
          <a:xfrm>
            <a:off x="5978106" y="5814061"/>
            <a:ext cx="5106228" cy="405285"/>
            <a:chOff x="5978106" y="5554981"/>
            <a:chExt cx="5106228" cy="405285"/>
          </a:xfrm>
        </p:grpSpPr>
        <p:cxnSp>
          <p:nvCxnSpPr>
            <p:cNvPr id="811" name="Google Shape;811;h142865916b425258_4_58"/>
            <p:cNvCxnSpPr/>
            <p:nvPr/>
          </p:nvCxnSpPr>
          <p:spPr>
            <a:xfrm>
              <a:off x="5978106" y="5629874"/>
              <a:ext cx="0" cy="28467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12" name="Google Shape;812;h142865916b425258_4_58"/>
            <p:cNvCxnSpPr/>
            <p:nvPr/>
          </p:nvCxnSpPr>
          <p:spPr>
            <a:xfrm>
              <a:off x="5978106" y="5767765"/>
              <a:ext cx="5106228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813" name="Google Shape;813;h142865916b425258_4_58"/>
            <p:cNvSpPr/>
            <p:nvPr/>
          </p:nvSpPr>
          <p:spPr>
            <a:xfrm>
              <a:off x="7893170" y="5554981"/>
              <a:ext cx="1061049" cy="40528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4" name="Google Shape;814;h142865916b425258_4_58"/>
            <p:cNvCxnSpPr/>
            <p:nvPr/>
          </p:nvCxnSpPr>
          <p:spPr>
            <a:xfrm>
              <a:off x="11084334" y="5675594"/>
              <a:ext cx="0" cy="2146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cxnSp>
        <p:nvCxnSpPr>
          <p:cNvPr id="815" name="Google Shape;815;h142865916b425258_4_58"/>
          <p:cNvCxnSpPr/>
          <p:nvPr/>
        </p:nvCxnSpPr>
        <p:spPr>
          <a:xfrm>
            <a:off x="5978106" y="5040239"/>
            <a:ext cx="0" cy="284672"/>
          </a:xfrm>
          <a:prstGeom prst="straightConnector1">
            <a:avLst/>
          </a:prstGeom>
          <a:noFill/>
          <a:ln cap="flat" cmpd="sng" w="5715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16" name="Google Shape;816;h142865916b425258_4_58"/>
          <p:cNvCxnSpPr/>
          <p:nvPr/>
        </p:nvCxnSpPr>
        <p:spPr>
          <a:xfrm>
            <a:off x="11084334" y="5085959"/>
            <a:ext cx="0" cy="214666"/>
          </a:xfrm>
          <a:prstGeom prst="straightConnector1">
            <a:avLst/>
          </a:prstGeom>
          <a:noFill/>
          <a:ln cap="flat" cmpd="sng" w="5715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817" name="Google Shape;817;h142865916b425258_4_58"/>
          <p:cNvGrpSpPr/>
          <p:nvPr/>
        </p:nvGrpSpPr>
        <p:grpSpPr>
          <a:xfrm>
            <a:off x="6624652" y="5167515"/>
            <a:ext cx="1217021" cy="405285"/>
            <a:chOff x="5978106" y="5554981"/>
            <a:chExt cx="5106228" cy="405285"/>
          </a:xfrm>
        </p:grpSpPr>
        <p:cxnSp>
          <p:nvCxnSpPr>
            <p:cNvPr id="818" name="Google Shape;818;h142865916b425258_4_58"/>
            <p:cNvCxnSpPr/>
            <p:nvPr/>
          </p:nvCxnSpPr>
          <p:spPr>
            <a:xfrm>
              <a:off x="5978106" y="5629874"/>
              <a:ext cx="0" cy="28467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19" name="Google Shape;819;h142865916b425258_4_58"/>
            <p:cNvCxnSpPr/>
            <p:nvPr/>
          </p:nvCxnSpPr>
          <p:spPr>
            <a:xfrm>
              <a:off x="5978106" y="5767765"/>
              <a:ext cx="5106228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820" name="Google Shape;820;h142865916b425258_4_58"/>
            <p:cNvSpPr/>
            <p:nvPr/>
          </p:nvSpPr>
          <p:spPr>
            <a:xfrm>
              <a:off x="7429425" y="5554981"/>
              <a:ext cx="1988541" cy="40528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1" name="Google Shape;821;h142865916b425258_4_58"/>
            <p:cNvCxnSpPr/>
            <p:nvPr/>
          </p:nvCxnSpPr>
          <p:spPr>
            <a:xfrm>
              <a:off x="11084334" y="5675594"/>
              <a:ext cx="0" cy="2146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822" name="Google Shape;822;h142865916b425258_4_58"/>
          <p:cNvSpPr/>
          <p:nvPr/>
        </p:nvSpPr>
        <p:spPr>
          <a:xfrm>
            <a:off x="6569104" y="3632532"/>
            <a:ext cx="111096" cy="111096"/>
          </a:xfrm>
          <a:prstGeom prst="ellipse">
            <a:avLst/>
          </a:prstGeom>
          <a:solidFill>
            <a:srgbClr val="FF0000"/>
          </a:solidFill>
          <a:ln cap="flat" cmpd="sng" w="5715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h142865916b425258_4_58"/>
          <p:cNvSpPr txBox="1"/>
          <p:nvPr/>
        </p:nvSpPr>
        <p:spPr>
          <a:xfrm>
            <a:off x="6069118" y="3341474"/>
            <a:ext cx="647700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1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h142865916b425258_4_58"/>
          <p:cNvSpPr txBox="1"/>
          <p:nvPr/>
        </p:nvSpPr>
        <p:spPr>
          <a:xfrm>
            <a:off x="9316364" y="3632532"/>
            <a:ext cx="2068614" cy="492443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46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h142865916b425258_4_58"/>
          <p:cNvSpPr txBox="1"/>
          <p:nvPr/>
        </p:nvSpPr>
        <p:spPr>
          <a:xfrm>
            <a:off x="6941716" y="4544572"/>
            <a:ext cx="647700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h142865916b425258_4_58"/>
          <p:cNvSpPr txBox="1"/>
          <p:nvPr/>
        </p:nvSpPr>
        <p:spPr>
          <a:xfrm>
            <a:off x="10825948" y="4526021"/>
            <a:ext cx="381836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oogle Shape;831;h142865916b425258_4_93"/>
          <p:cNvGrpSpPr/>
          <p:nvPr/>
        </p:nvGrpSpPr>
        <p:grpSpPr>
          <a:xfrm>
            <a:off x="5492727" y="3688080"/>
            <a:ext cx="5591607" cy="1505212"/>
            <a:chOff x="5492727" y="3429000"/>
            <a:chExt cx="5591607" cy="1505212"/>
          </a:xfrm>
        </p:grpSpPr>
        <p:cxnSp>
          <p:nvCxnSpPr>
            <p:cNvPr id="832" name="Google Shape;832;h142865916b425258_4_93"/>
            <p:cNvCxnSpPr/>
            <p:nvPr/>
          </p:nvCxnSpPr>
          <p:spPr>
            <a:xfrm flipH="1" rot="10800000">
              <a:off x="5492727" y="3429000"/>
              <a:ext cx="2400443" cy="1493520"/>
            </a:xfrm>
            <a:prstGeom prst="bentConnector3">
              <a:avLst>
                <a:gd fmla="val 46508" name="adj1"/>
              </a:avLst>
            </a:prstGeom>
            <a:noFill/>
            <a:ln cap="flat" cmpd="sng" w="57150">
              <a:solidFill>
                <a:srgbClr val="00B05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33" name="Google Shape;833;h142865916b425258_4_93"/>
            <p:cNvCxnSpPr/>
            <p:nvPr/>
          </p:nvCxnSpPr>
          <p:spPr>
            <a:xfrm>
              <a:off x="7893170" y="3429000"/>
              <a:ext cx="3191164" cy="1505212"/>
            </a:xfrm>
            <a:prstGeom prst="bentConnector3">
              <a:avLst>
                <a:gd fmla="val -1100" name="adj1"/>
              </a:avLst>
            </a:prstGeom>
            <a:noFill/>
            <a:ln cap="flat" cmpd="sng" w="57150">
              <a:solidFill>
                <a:srgbClr val="00B05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834" name="Google Shape;834;h142865916b425258_4_93"/>
          <p:cNvGrpSpPr/>
          <p:nvPr/>
        </p:nvGrpSpPr>
        <p:grpSpPr>
          <a:xfrm>
            <a:off x="5978106" y="2985806"/>
            <a:ext cx="2518194" cy="1471894"/>
            <a:chOff x="5978106" y="5554981"/>
            <a:chExt cx="5106228" cy="1471894"/>
          </a:xfrm>
        </p:grpSpPr>
        <p:cxnSp>
          <p:nvCxnSpPr>
            <p:cNvPr id="835" name="Google Shape;835;h142865916b425258_4_93"/>
            <p:cNvCxnSpPr/>
            <p:nvPr/>
          </p:nvCxnSpPr>
          <p:spPr>
            <a:xfrm>
              <a:off x="5978106" y="5629874"/>
              <a:ext cx="0" cy="28467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36" name="Google Shape;836;h142865916b425258_4_93"/>
            <p:cNvCxnSpPr/>
            <p:nvPr/>
          </p:nvCxnSpPr>
          <p:spPr>
            <a:xfrm>
              <a:off x="5978106" y="5767765"/>
              <a:ext cx="5106228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837" name="Google Shape;837;h142865916b425258_4_93"/>
            <p:cNvSpPr/>
            <p:nvPr/>
          </p:nvSpPr>
          <p:spPr>
            <a:xfrm>
              <a:off x="7777757" y="5554981"/>
              <a:ext cx="1375153" cy="40528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9091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8" name="Google Shape;838;h142865916b425258_4_93"/>
            <p:cNvCxnSpPr/>
            <p:nvPr/>
          </p:nvCxnSpPr>
          <p:spPr>
            <a:xfrm>
              <a:off x="11084334" y="5554981"/>
              <a:ext cx="0" cy="1471894"/>
            </a:xfrm>
            <a:prstGeom prst="straightConnector1">
              <a:avLst/>
            </a:prstGeom>
            <a:noFill/>
            <a:ln cap="rnd" cmpd="sng" w="57150">
              <a:solidFill>
                <a:srgbClr val="FF0000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839" name="Google Shape;839;h142865916b425258_4_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Example 3</a:t>
            </a:r>
            <a:endParaRPr/>
          </a:p>
        </p:txBody>
      </p:sp>
      <p:sp>
        <p:nvSpPr>
          <p:cNvPr id="840" name="Google Shape;840;h142865916b425258_4_93"/>
          <p:cNvSpPr txBox="1"/>
          <p:nvPr>
            <p:ph idx="1" type="body"/>
          </p:nvPr>
        </p:nvSpPr>
        <p:spPr>
          <a:xfrm>
            <a:off x="838200" y="1825625"/>
            <a:ext cx="10515600" cy="103383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2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41" name="Google Shape;841;h142865916b425258_4_93"/>
          <p:cNvSpPr txBox="1"/>
          <p:nvPr/>
        </p:nvSpPr>
        <p:spPr>
          <a:xfrm>
            <a:off x="10483048" y="3253481"/>
            <a:ext cx="120257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2" name="Google Shape;842;h142865916b425258_4_93"/>
          <p:cNvGrpSpPr/>
          <p:nvPr/>
        </p:nvGrpSpPr>
        <p:grpSpPr>
          <a:xfrm>
            <a:off x="877018" y="4129970"/>
            <a:ext cx="3826827" cy="2225589"/>
            <a:chOff x="1088366" y="3429000"/>
            <a:chExt cx="4225506" cy="2457451"/>
          </a:xfrm>
        </p:grpSpPr>
        <p:pic>
          <p:nvPicPr>
            <p:cNvPr id="843" name="Google Shape;843;h142865916b425258_4_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88366" y="3429000"/>
              <a:ext cx="4225506" cy="2310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4" name="Google Shape;844;h142865916b425258_4_93"/>
            <p:cNvSpPr/>
            <p:nvPr/>
          </p:nvSpPr>
          <p:spPr>
            <a:xfrm>
              <a:off x="1781174" y="5334001"/>
              <a:ext cx="1304925" cy="552450"/>
            </a:xfrm>
            <a:custGeom>
              <a:rect b="b" l="l" r="r" t="t"/>
              <a:pathLst>
                <a:path extrusionOk="0" h="500326" w="1181805">
                  <a:moveTo>
                    <a:pt x="0" y="83389"/>
                  </a:moveTo>
                  <a:cubicBezTo>
                    <a:pt x="-2156" y="40825"/>
                    <a:pt x="40044" y="-5747"/>
                    <a:pt x="83389" y="0"/>
                  </a:cubicBezTo>
                  <a:cubicBezTo>
                    <a:pt x="293901" y="-30875"/>
                    <a:pt x="343147" y="9351"/>
                    <a:pt x="560452" y="0"/>
                  </a:cubicBezTo>
                  <a:cubicBezTo>
                    <a:pt x="777757" y="-9351"/>
                    <a:pt x="877588" y="55701"/>
                    <a:pt x="1098416" y="0"/>
                  </a:cubicBezTo>
                  <a:cubicBezTo>
                    <a:pt x="1144677" y="-8172"/>
                    <a:pt x="1179594" y="38625"/>
                    <a:pt x="1181805" y="83389"/>
                  </a:cubicBezTo>
                  <a:cubicBezTo>
                    <a:pt x="1185902" y="180653"/>
                    <a:pt x="1177728" y="277970"/>
                    <a:pt x="1181805" y="416937"/>
                  </a:cubicBezTo>
                  <a:cubicBezTo>
                    <a:pt x="1182444" y="464372"/>
                    <a:pt x="1152893" y="506970"/>
                    <a:pt x="1098416" y="500326"/>
                  </a:cubicBezTo>
                  <a:cubicBezTo>
                    <a:pt x="925334" y="504210"/>
                    <a:pt x="793254" y="465019"/>
                    <a:pt x="580752" y="500326"/>
                  </a:cubicBezTo>
                  <a:cubicBezTo>
                    <a:pt x="368250" y="535633"/>
                    <a:pt x="284908" y="479131"/>
                    <a:pt x="83389" y="500326"/>
                  </a:cubicBezTo>
                  <a:cubicBezTo>
                    <a:pt x="34515" y="499603"/>
                    <a:pt x="-8442" y="463422"/>
                    <a:pt x="0" y="416937"/>
                  </a:cubicBezTo>
                  <a:cubicBezTo>
                    <a:pt x="-37792" y="267641"/>
                    <a:pt x="27597" y="230934"/>
                    <a:pt x="0" y="83389"/>
                  </a:cubicBez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45" name="Google Shape;845;h142865916b425258_4_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92727" y="3034076"/>
            <a:ext cx="6192894" cy="26796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6" name="Google Shape;846;h142865916b425258_4_93"/>
          <p:cNvGrpSpPr/>
          <p:nvPr/>
        </p:nvGrpSpPr>
        <p:grpSpPr>
          <a:xfrm>
            <a:off x="5978106" y="5814061"/>
            <a:ext cx="5106228" cy="405285"/>
            <a:chOff x="5978106" y="5554981"/>
            <a:chExt cx="5106228" cy="405285"/>
          </a:xfrm>
        </p:grpSpPr>
        <p:cxnSp>
          <p:nvCxnSpPr>
            <p:cNvPr id="847" name="Google Shape;847;h142865916b425258_4_93"/>
            <p:cNvCxnSpPr/>
            <p:nvPr/>
          </p:nvCxnSpPr>
          <p:spPr>
            <a:xfrm>
              <a:off x="5978106" y="5629874"/>
              <a:ext cx="0" cy="28467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48" name="Google Shape;848;h142865916b425258_4_93"/>
            <p:cNvCxnSpPr/>
            <p:nvPr/>
          </p:nvCxnSpPr>
          <p:spPr>
            <a:xfrm>
              <a:off x="5978106" y="5767765"/>
              <a:ext cx="5106228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849" name="Google Shape;849;h142865916b425258_4_93"/>
            <p:cNvSpPr/>
            <p:nvPr/>
          </p:nvSpPr>
          <p:spPr>
            <a:xfrm>
              <a:off x="7893170" y="5554981"/>
              <a:ext cx="1061049" cy="40528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0" name="Google Shape;850;h142865916b425258_4_93"/>
            <p:cNvCxnSpPr/>
            <p:nvPr/>
          </p:nvCxnSpPr>
          <p:spPr>
            <a:xfrm>
              <a:off x="11084334" y="5675594"/>
              <a:ext cx="0" cy="2146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cxnSp>
        <p:nvCxnSpPr>
          <p:cNvPr id="851" name="Google Shape;851;h142865916b425258_4_93"/>
          <p:cNvCxnSpPr/>
          <p:nvPr/>
        </p:nvCxnSpPr>
        <p:spPr>
          <a:xfrm>
            <a:off x="5978106" y="5040239"/>
            <a:ext cx="0" cy="284672"/>
          </a:xfrm>
          <a:prstGeom prst="straightConnector1">
            <a:avLst/>
          </a:prstGeom>
          <a:noFill/>
          <a:ln cap="flat" cmpd="sng" w="5715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52" name="Google Shape;852;h142865916b425258_4_93"/>
          <p:cNvCxnSpPr/>
          <p:nvPr/>
        </p:nvCxnSpPr>
        <p:spPr>
          <a:xfrm>
            <a:off x="11084334" y="5085959"/>
            <a:ext cx="0" cy="214666"/>
          </a:xfrm>
          <a:prstGeom prst="straightConnector1">
            <a:avLst/>
          </a:prstGeom>
          <a:noFill/>
          <a:ln cap="flat" cmpd="sng" w="5715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853" name="Google Shape;853;h142865916b425258_4_93"/>
          <p:cNvGrpSpPr/>
          <p:nvPr/>
        </p:nvGrpSpPr>
        <p:grpSpPr>
          <a:xfrm>
            <a:off x="6624652" y="5167515"/>
            <a:ext cx="1217021" cy="405285"/>
            <a:chOff x="5978106" y="5554981"/>
            <a:chExt cx="5106228" cy="405285"/>
          </a:xfrm>
        </p:grpSpPr>
        <p:cxnSp>
          <p:nvCxnSpPr>
            <p:cNvPr id="854" name="Google Shape;854;h142865916b425258_4_93"/>
            <p:cNvCxnSpPr/>
            <p:nvPr/>
          </p:nvCxnSpPr>
          <p:spPr>
            <a:xfrm>
              <a:off x="5978106" y="5629874"/>
              <a:ext cx="0" cy="28467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55" name="Google Shape;855;h142865916b425258_4_93"/>
            <p:cNvCxnSpPr/>
            <p:nvPr/>
          </p:nvCxnSpPr>
          <p:spPr>
            <a:xfrm>
              <a:off x="5978106" y="5767765"/>
              <a:ext cx="5106228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856" name="Google Shape;856;h142865916b425258_4_93"/>
            <p:cNvSpPr/>
            <p:nvPr/>
          </p:nvSpPr>
          <p:spPr>
            <a:xfrm>
              <a:off x="7429425" y="5554981"/>
              <a:ext cx="1988541" cy="40528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7" name="Google Shape;857;h142865916b425258_4_93"/>
            <p:cNvCxnSpPr/>
            <p:nvPr/>
          </p:nvCxnSpPr>
          <p:spPr>
            <a:xfrm>
              <a:off x="11084334" y="5675594"/>
              <a:ext cx="0" cy="2146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858" name="Google Shape;858;h142865916b425258_4_93"/>
          <p:cNvSpPr/>
          <p:nvPr/>
        </p:nvSpPr>
        <p:spPr>
          <a:xfrm>
            <a:off x="6569104" y="3632532"/>
            <a:ext cx="111096" cy="111096"/>
          </a:xfrm>
          <a:prstGeom prst="ellipse">
            <a:avLst/>
          </a:prstGeom>
          <a:solidFill>
            <a:srgbClr val="FF0000"/>
          </a:solidFill>
          <a:ln cap="flat" cmpd="sng" w="5715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h142865916b425258_4_93"/>
          <p:cNvSpPr txBox="1"/>
          <p:nvPr/>
        </p:nvSpPr>
        <p:spPr>
          <a:xfrm>
            <a:off x="6069118" y="3341474"/>
            <a:ext cx="647700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1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h142865916b425258_4_93"/>
          <p:cNvSpPr txBox="1"/>
          <p:nvPr/>
        </p:nvSpPr>
        <p:spPr>
          <a:xfrm>
            <a:off x="3732994" y="3341474"/>
            <a:ext cx="2208490" cy="618374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1" name="Google Shape;861;h142865916b425258_4_93"/>
          <p:cNvCxnSpPr/>
          <p:nvPr/>
        </p:nvCxnSpPr>
        <p:spPr>
          <a:xfrm>
            <a:off x="5920312" y="3650661"/>
            <a:ext cx="97107" cy="1"/>
          </a:xfrm>
          <a:prstGeom prst="straightConnector1">
            <a:avLst/>
          </a:prstGeom>
          <a:noFill/>
          <a:ln cap="rnd" cmpd="sng" w="5715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62" name="Google Shape;862;h142865916b425258_4_93"/>
          <p:cNvSpPr txBox="1"/>
          <p:nvPr/>
        </p:nvSpPr>
        <p:spPr>
          <a:xfrm>
            <a:off x="9316364" y="3632532"/>
            <a:ext cx="2068614" cy="49244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46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h142865916b425258_4_1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Loop Configuration: Example 3</a:t>
            </a:r>
            <a:endParaRPr/>
          </a:p>
        </p:txBody>
      </p:sp>
      <p:sp>
        <p:nvSpPr>
          <p:cNvPr id="868" name="Google Shape;868;h142865916b425258_4_128"/>
          <p:cNvSpPr txBox="1"/>
          <p:nvPr>
            <p:ph idx="1" type="body"/>
          </p:nvPr>
        </p:nvSpPr>
        <p:spPr>
          <a:xfrm>
            <a:off x="838200" y="1825625"/>
            <a:ext cx="10515600" cy="103383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2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869" name="Google Shape;869;h142865916b425258_4_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366" y="3429000"/>
            <a:ext cx="4225506" cy="2310286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h142865916b425258_4_128"/>
          <p:cNvSpPr txBox="1"/>
          <p:nvPr/>
        </p:nvSpPr>
        <p:spPr>
          <a:xfrm>
            <a:off x="5902321" y="4476018"/>
            <a:ext cx="2208490" cy="61837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1" name="Google Shape;871;h142865916b425258_4_1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6200" y="2776538"/>
            <a:ext cx="287655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h142865916b425258_4_1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877" name="Google Shape;877;h142865916b425258_4_1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h142865916b425258_6_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Operational Amplifier: Comparator Application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h142865916b425258_6_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88" name="Google Shape;888;h142865916b425258_6_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Op-Amp: Comparator (Recap)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Comparator Application - Smoke Detectors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Smoke Detector – Operation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Comparator Application – Automatic AC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General Principle - Comparator</a:t>
            </a:r>
            <a:endParaRPr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h142865916b425258_6_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Comparator (Recap)</a:t>
            </a:r>
            <a:endParaRPr/>
          </a:p>
        </p:txBody>
      </p:sp>
      <p:sp>
        <p:nvSpPr>
          <p:cNvPr id="894" name="Google Shape;894;h142865916b425258_6_10"/>
          <p:cNvSpPr txBox="1"/>
          <p:nvPr/>
        </p:nvSpPr>
        <p:spPr>
          <a:xfrm>
            <a:off x="838200" y="1633714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Crossing Detector /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895" name="Google Shape;895;h142865916b425258_6_10"/>
          <p:cNvPicPr preferRelativeResize="0"/>
          <p:nvPr/>
        </p:nvPicPr>
        <p:blipFill rotWithShape="1">
          <a:blip r:embed="rId3">
            <a:alphaModFix/>
          </a:blip>
          <a:srcRect b="22646" l="38494" r="43764" t="6478"/>
          <a:stretch/>
        </p:blipFill>
        <p:spPr>
          <a:xfrm>
            <a:off x="7335331" y="1984016"/>
            <a:ext cx="2547710" cy="2218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896" name="Google Shape;896;h142865916b425258_6_10"/>
          <p:cNvPicPr preferRelativeResize="0"/>
          <p:nvPr/>
        </p:nvPicPr>
        <p:blipFill rotWithShape="1">
          <a:blip r:embed="rId3">
            <a:alphaModFix/>
          </a:blip>
          <a:srcRect b="31212" l="18102" r="62441" t="22668"/>
          <a:stretch/>
        </p:blipFill>
        <p:spPr>
          <a:xfrm>
            <a:off x="3511551" y="2387068"/>
            <a:ext cx="3477464" cy="173098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h142865916b425258_6_10"/>
          <p:cNvSpPr txBox="1"/>
          <p:nvPr/>
        </p:nvSpPr>
        <p:spPr>
          <a:xfrm>
            <a:off x="3184048" y="2586947"/>
            <a:ext cx="420624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h142865916b425258_6_10"/>
          <p:cNvSpPr txBox="1"/>
          <p:nvPr/>
        </p:nvSpPr>
        <p:spPr>
          <a:xfrm>
            <a:off x="1299419" y="2859958"/>
            <a:ext cx="1978298" cy="400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0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h142865916b425258_6_10"/>
          <p:cNvSpPr txBox="1"/>
          <p:nvPr/>
        </p:nvSpPr>
        <p:spPr>
          <a:xfrm>
            <a:off x="3119353" y="4737412"/>
            <a:ext cx="4878900" cy="10156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h142865916b425258_6_10"/>
          <p:cNvSpPr txBox="1"/>
          <p:nvPr/>
        </p:nvSpPr>
        <p:spPr>
          <a:xfrm>
            <a:off x="2644041" y="4063400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NON-INVERTING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h142865916b425258_6_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Op-Amp: Comparator (Recap)</a:t>
            </a:r>
            <a:endParaRPr/>
          </a:p>
        </p:txBody>
      </p:sp>
      <p:sp>
        <p:nvSpPr>
          <p:cNvPr id="906" name="Google Shape;906;h142865916b425258_6_21"/>
          <p:cNvSpPr txBox="1"/>
          <p:nvPr/>
        </p:nvSpPr>
        <p:spPr>
          <a:xfrm>
            <a:off x="838200" y="1633714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Crossing Detector /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h142865916b425258_6_21"/>
          <p:cNvSpPr txBox="1"/>
          <p:nvPr/>
        </p:nvSpPr>
        <p:spPr>
          <a:xfrm>
            <a:off x="3585802" y="4813039"/>
            <a:ext cx="4878900" cy="10156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908" name="Google Shape;908;h142865916b425258_6_21"/>
          <p:cNvPicPr preferRelativeResize="0"/>
          <p:nvPr/>
        </p:nvPicPr>
        <p:blipFill rotWithShape="1">
          <a:blip r:embed="rId4">
            <a:alphaModFix/>
          </a:blip>
          <a:srcRect b="25190" l="76445" r="5078" t="0"/>
          <a:stretch/>
        </p:blipFill>
        <p:spPr>
          <a:xfrm>
            <a:off x="7316461" y="1834915"/>
            <a:ext cx="2547710" cy="2248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909" name="Google Shape;909;h142865916b425258_6_21"/>
          <p:cNvPicPr preferRelativeResize="0"/>
          <p:nvPr/>
        </p:nvPicPr>
        <p:blipFill rotWithShape="1">
          <a:blip r:embed="rId4">
            <a:alphaModFix/>
          </a:blip>
          <a:srcRect b="38853" l="56778" r="24121" t="19398"/>
          <a:stretch/>
        </p:blipFill>
        <p:spPr>
          <a:xfrm>
            <a:off x="3585802" y="2260920"/>
            <a:ext cx="3467883" cy="1652228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h142865916b425258_6_21"/>
          <p:cNvSpPr txBox="1"/>
          <p:nvPr/>
        </p:nvSpPr>
        <p:spPr>
          <a:xfrm>
            <a:off x="3197268" y="2548270"/>
            <a:ext cx="420624" cy="9233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h142865916b425258_6_21"/>
          <p:cNvSpPr txBox="1"/>
          <p:nvPr/>
        </p:nvSpPr>
        <p:spPr>
          <a:xfrm>
            <a:off x="1312639" y="2821281"/>
            <a:ext cx="1892441" cy="400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7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h142865916b425258_6_21"/>
          <p:cNvSpPr txBox="1"/>
          <p:nvPr/>
        </p:nvSpPr>
        <p:spPr>
          <a:xfrm>
            <a:off x="2644041" y="4063400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INVERTING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h142865916b425258_6_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Comparator Application - Smoke Detectors</a:t>
            </a:r>
            <a:endParaRPr/>
          </a:p>
        </p:txBody>
      </p:sp>
      <p:sp>
        <p:nvSpPr>
          <p:cNvPr id="918" name="Google Shape;918;h142865916b425258_6_32"/>
          <p:cNvSpPr txBox="1"/>
          <p:nvPr>
            <p:ph idx="1" type="body"/>
          </p:nvPr>
        </p:nvSpPr>
        <p:spPr>
          <a:xfrm>
            <a:off x="838200" y="1825625"/>
            <a:ext cx="7164199" cy="28391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637" r="0" t="-514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descr="A white smoke detector with a round top&#10;&#10;Description automatically generated with medium confidence" id="919" name="Google Shape;919;h142865916b425258_6_32"/>
          <p:cNvPicPr preferRelativeResize="0"/>
          <p:nvPr/>
        </p:nvPicPr>
        <p:blipFill rotWithShape="1">
          <a:blip r:embed="rId4">
            <a:alphaModFix/>
          </a:blip>
          <a:srcRect b="19593" l="17091" r="22044" t="22290"/>
          <a:stretch/>
        </p:blipFill>
        <p:spPr>
          <a:xfrm>
            <a:off x="8002399" y="1825625"/>
            <a:ext cx="3351401" cy="3200085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h142865916b425258_6_32"/>
          <p:cNvSpPr txBox="1"/>
          <p:nvPr/>
        </p:nvSpPr>
        <p:spPr>
          <a:xfrm>
            <a:off x="4499120" y="5874444"/>
            <a:ext cx="3193759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0665" l="-2480" r="-2479" t="-106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h142865916b425258_6_32"/>
          <p:cNvSpPr txBox="1"/>
          <p:nvPr/>
        </p:nvSpPr>
        <p:spPr>
          <a:xfrm>
            <a:off x="838200" y="5111739"/>
            <a:ext cx="10515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alarm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electrically driven device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 need some method to convert smoke levels to proportionate voltage.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h142865916b425258_6_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Comparator Application - Smoke Detectors</a:t>
            </a:r>
            <a:endParaRPr/>
          </a:p>
        </p:txBody>
      </p:sp>
      <p:pic>
        <p:nvPicPr>
          <p:cNvPr id="927" name="Google Shape;927;h142865916b425258_6_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359069"/>
            <a:ext cx="9984763" cy="5141739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h142865916b425258_6_40"/>
          <p:cNvSpPr/>
          <p:nvPr/>
        </p:nvSpPr>
        <p:spPr>
          <a:xfrm>
            <a:off x="3726610" y="2684632"/>
            <a:ext cx="3554083" cy="3816176"/>
          </a:xfrm>
          <a:custGeom>
            <a:rect b="b" l="l" r="r" t="t"/>
            <a:pathLst>
              <a:path extrusionOk="0" h="3816176" w="3554083">
                <a:moveTo>
                  <a:pt x="0" y="592359"/>
                </a:moveTo>
                <a:cubicBezTo>
                  <a:pt x="268" y="219594"/>
                  <a:pt x="254764" y="36803"/>
                  <a:pt x="592359" y="0"/>
                </a:cubicBezTo>
                <a:cubicBezTo>
                  <a:pt x="724094" y="-73489"/>
                  <a:pt x="939666" y="40006"/>
                  <a:pt x="1232088" y="0"/>
                </a:cubicBezTo>
                <a:cubicBezTo>
                  <a:pt x="1524510" y="-40006"/>
                  <a:pt x="1586239" y="50008"/>
                  <a:pt x="1753348" y="0"/>
                </a:cubicBezTo>
                <a:cubicBezTo>
                  <a:pt x="1920457" y="-50008"/>
                  <a:pt x="2089522" y="58315"/>
                  <a:pt x="2369383" y="0"/>
                </a:cubicBezTo>
                <a:cubicBezTo>
                  <a:pt x="2649244" y="-58315"/>
                  <a:pt x="2743521" y="9108"/>
                  <a:pt x="2961724" y="0"/>
                </a:cubicBezTo>
                <a:cubicBezTo>
                  <a:pt x="3296967" y="-1479"/>
                  <a:pt x="3531024" y="276787"/>
                  <a:pt x="3554083" y="592359"/>
                </a:cubicBezTo>
                <a:cubicBezTo>
                  <a:pt x="3594460" y="827106"/>
                  <a:pt x="3515973" y="852543"/>
                  <a:pt x="3554083" y="1066021"/>
                </a:cubicBezTo>
                <a:cubicBezTo>
                  <a:pt x="3592193" y="1279499"/>
                  <a:pt x="3496369" y="1334179"/>
                  <a:pt x="3554083" y="1565998"/>
                </a:cubicBezTo>
                <a:cubicBezTo>
                  <a:pt x="3611797" y="1797817"/>
                  <a:pt x="3500309" y="1971707"/>
                  <a:pt x="3554083" y="2092290"/>
                </a:cubicBezTo>
                <a:cubicBezTo>
                  <a:pt x="3607857" y="2212873"/>
                  <a:pt x="3505190" y="2345253"/>
                  <a:pt x="3554083" y="2565953"/>
                </a:cubicBezTo>
                <a:cubicBezTo>
                  <a:pt x="3602976" y="2786653"/>
                  <a:pt x="3509948" y="2911748"/>
                  <a:pt x="3554083" y="3223817"/>
                </a:cubicBezTo>
                <a:cubicBezTo>
                  <a:pt x="3533724" y="3613848"/>
                  <a:pt x="3289843" y="3874992"/>
                  <a:pt x="2961724" y="3816176"/>
                </a:cubicBezTo>
                <a:cubicBezTo>
                  <a:pt x="2722703" y="3860210"/>
                  <a:pt x="2573707" y="3800945"/>
                  <a:pt x="2393076" y="3816176"/>
                </a:cubicBezTo>
                <a:cubicBezTo>
                  <a:pt x="2212445" y="3831407"/>
                  <a:pt x="2097633" y="3811329"/>
                  <a:pt x="1824429" y="3816176"/>
                </a:cubicBezTo>
                <a:cubicBezTo>
                  <a:pt x="1551225" y="3821023"/>
                  <a:pt x="1336189" y="3784590"/>
                  <a:pt x="1184700" y="3816176"/>
                </a:cubicBezTo>
                <a:cubicBezTo>
                  <a:pt x="1033211" y="3847762"/>
                  <a:pt x="796522" y="3766557"/>
                  <a:pt x="592359" y="3816176"/>
                </a:cubicBezTo>
                <a:cubicBezTo>
                  <a:pt x="331475" y="3754975"/>
                  <a:pt x="-919" y="3514086"/>
                  <a:pt x="0" y="3223817"/>
                </a:cubicBezTo>
                <a:cubicBezTo>
                  <a:pt x="-64330" y="3068551"/>
                  <a:pt x="38164" y="2893970"/>
                  <a:pt x="0" y="2644896"/>
                </a:cubicBezTo>
                <a:cubicBezTo>
                  <a:pt x="-38164" y="2395822"/>
                  <a:pt x="24451" y="2353440"/>
                  <a:pt x="0" y="2118605"/>
                </a:cubicBezTo>
                <a:cubicBezTo>
                  <a:pt x="-24451" y="1883770"/>
                  <a:pt x="38709" y="1814117"/>
                  <a:pt x="0" y="1539684"/>
                </a:cubicBezTo>
                <a:cubicBezTo>
                  <a:pt x="-38709" y="1265251"/>
                  <a:pt x="83239" y="886984"/>
                  <a:pt x="0" y="592359"/>
                </a:cubicBez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h142865916b425258_6_40"/>
          <p:cNvSpPr/>
          <p:nvPr/>
        </p:nvSpPr>
        <p:spPr>
          <a:xfrm>
            <a:off x="7403298" y="2684632"/>
            <a:ext cx="2189275" cy="3816176"/>
          </a:xfrm>
          <a:custGeom>
            <a:rect b="b" l="l" r="r" t="t"/>
            <a:pathLst>
              <a:path extrusionOk="0" h="3816176" w="2189275">
                <a:moveTo>
                  <a:pt x="0" y="364886"/>
                </a:moveTo>
                <a:cubicBezTo>
                  <a:pt x="355" y="103045"/>
                  <a:pt x="160951" y="8507"/>
                  <a:pt x="364886" y="0"/>
                </a:cubicBezTo>
                <a:cubicBezTo>
                  <a:pt x="576827" y="-54772"/>
                  <a:pt x="711190" y="23478"/>
                  <a:pt x="880577" y="0"/>
                </a:cubicBezTo>
                <a:cubicBezTo>
                  <a:pt x="1049964" y="-23478"/>
                  <a:pt x="1145247" y="48172"/>
                  <a:pt x="1323293" y="0"/>
                </a:cubicBezTo>
                <a:cubicBezTo>
                  <a:pt x="1501339" y="-48172"/>
                  <a:pt x="1704040" y="23795"/>
                  <a:pt x="1824389" y="0"/>
                </a:cubicBezTo>
                <a:cubicBezTo>
                  <a:pt x="2021205" y="15871"/>
                  <a:pt x="2172537" y="155832"/>
                  <a:pt x="2189275" y="364886"/>
                </a:cubicBezTo>
                <a:cubicBezTo>
                  <a:pt x="2193686" y="594337"/>
                  <a:pt x="2185691" y="668956"/>
                  <a:pt x="2189275" y="848423"/>
                </a:cubicBezTo>
                <a:cubicBezTo>
                  <a:pt x="2192859" y="1027890"/>
                  <a:pt x="2177783" y="1252175"/>
                  <a:pt x="2189275" y="1424551"/>
                </a:cubicBezTo>
                <a:cubicBezTo>
                  <a:pt x="2200767" y="1596927"/>
                  <a:pt x="2174279" y="1801437"/>
                  <a:pt x="2189275" y="1908088"/>
                </a:cubicBezTo>
                <a:cubicBezTo>
                  <a:pt x="2204271" y="2014739"/>
                  <a:pt x="2176696" y="2178909"/>
                  <a:pt x="2189275" y="2422489"/>
                </a:cubicBezTo>
                <a:cubicBezTo>
                  <a:pt x="2201854" y="2666069"/>
                  <a:pt x="2185145" y="2723603"/>
                  <a:pt x="2189275" y="2875161"/>
                </a:cubicBezTo>
                <a:cubicBezTo>
                  <a:pt x="2193405" y="3026719"/>
                  <a:pt x="2137742" y="3178210"/>
                  <a:pt x="2189275" y="3451290"/>
                </a:cubicBezTo>
                <a:cubicBezTo>
                  <a:pt x="2174101" y="3699676"/>
                  <a:pt x="2026481" y="3850848"/>
                  <a:pt x="1824389" y="3816176"/>
                </a:cubicBezTo>
                <a:cubicBezTo>
                  <a:pt x="1591212" y="3864447"/>
                  <a:pt x="1545894" y="3780075"/>
                  <a:pt x="1352483" y="3816176"/>
                </a:cubicBezTo>
                <a:cubicBezTo>
                  <a:pt x="1159072" y="3852277"/>
                  <a:pt x="997794" y="3767758"/>
                  <a:pt x="880577" y="3816176"/>
                </a:cubicBezTo>
                <a:cubicBezTo>
                  <a:pt x="763360" y="3864594"/>
                  <a:pt x="498423" y="3792940"/>
                  <a:pt x="364886" y="3816176"/>
                </a:cubicBezTo>
                <a:cubicBezTo>
                  <a:pt x="156408" y="3808624"/>
                  <a:pt x="22393" y="3679992"/>
                  <a:pt x="0" y="3451290"/>
                </a:cubicBezTo>
                <a:cubicBezTo>
                  <a:pt x="-18649" y="3270924"/>
                  <a:pt x="40586" y="3032912"/>
                  <a:pt x="0" y="2906025"/>
                </a:cubicBezTo>
                <a:cubicBezTo>
                  <a:pt x="-40586" y="2779138"/>
                  <a:pt x="52287" y="2566579"/>
                  <a:pt x="0" y="2453353"/>
                </a:cubicBezTo>
                <a:cubicBezTo>
                  <a:pt x="-52287" y="2340127"/>
                  <a:pt x="40860" y="2052289"/>
                  <a:pt x="0" y="1938952"/>
                </a:cubicBezTo>
                <a:cubicBezTo>
                  <a:pt x="-40860" y="1825615"/>
                  <a:pt x="64998" y="1636594"/>
                  <a:pt x="0" y="1362823"/>
                </a:cubicBezTo>
                <a:cubicBezTo>
                  <a:pt x="-64998" y="1089052"/>
                  <a:pt x="33228" y="788899"/>
                  <a:pt x="0" y="364886"/>
                </a:cubicBezTo>
                <a:close/>
              </a:path>
            </a:pathLst>
          </a:custGeom>
          <a:noFill/>
          <a:ln cap="flat" cmpd="sng" w="57150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h142865916b425258_6_40"/>
          <p:cNvSpPr txBox="1"/>
          <p:nvPr/>
        </p:nvSpPr>
        <p:spPr>
          <a:xfrm>
            <a:off x="4626636" y="6123543"/>
            <a:ext cx="16439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Voltage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h142865916b425258_6_40"/>
          <p:cNvSpPr txBox="1"/>
          <p:nvPr/>
        </p:nvSpPr>
        <p:spPr>
          <a:xfrm>
            <a:off x="7440381" y="6105078"/>
            <a:ext cx="2152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Op-Amp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h142865916b425258_6_40"/>
          <p:cNvSpPr/>
          <p:nvPr/>
        </p:nvSpPr>
        <p:spPr>
          <a:xfrm>
            <a:off x="1095554" y="2398143"/>
            <a:ext cx="2484407" cy="4102665"/>
          </a:xfrm>
          <a:custGeom>
            <a:rect b="b" l="l" r="r" t="t"/>
            <a:pathLst>
              <a:path extrusionOk="0" h="4102665" w="2484407">
                <a:moveTo>
                  <a:pt x="0" y="414076"/>
                </a:moveTo>
                <a:cubicBezTo>
                  <a:pt x="325" y="130237"/>
                  <a:pt x="171437" y="49162"/>
                  <a:pt x="414076" y="0"/>
                </a:cubicBezTo>
                <a:cubicBezTo>
                  <a:pt x="613353" y="-58357"/>
                  <a:pt x="794665" y="40192"/>
                  <a:pt x="999286" y="0"/>
                </a:cubicBezTo>
                <a:cubicBezTo>
                  <a:pt x="1203907" y="-40192"/>
                  <a:pt x="1271043" y="28683"/>
                  <a:pt x="1501683" y="0"/>
                </a:cubicBezTo>
                <a:cubicBezTo>
                  <a:pt x="1732323" y="-28683"/>
                  <a:pt x="1912726" y="58137"/>
                  <a:pt x="2070331" y="0"/>
                </a:cubicBezTo>
                <a:cubicBezTo>
                  <a:pt x="2281982" y="57470"/>
                  <a:pt x="2425014" y="158657"/>
                  <a:pt x="2484407" y="414076"/>
                </a:cubicBezTo>
                <a:cubicBezTo>
                  <a:pt x="2498879" y="537353"/>
                  <a:pt x="2457194" y="770420"/>
                  <a:pt x="2484407" y="927083"/>
                </a:cubicBezTo>
                <a:cubicBezTo>
                  <a:pt x="2511620" y="1083746"/>
                  <a:pt x="2435329" y="1384109"/>
                  <a:pt x="2484407" y="1538325"/>
                </a:cubicBezTo>
                <a:cubicBezTo>
                  <a:pt x="2533485" y="1692541"/>
                  <a:pt x="2427715" y="1845373"/>
                  <a:pt x="2484407" y="2051332"/>
                </a:cubicBezTo>
                <a:cubicBezTo>
                  <a:pt x="2541099" y="2257291"/>
                  <a:pt x="2467254" y="2353577"/>
                  <a:pt x="2484407" y="2597085"/>
                </a:cubicBezTo>
                <a:cubicBezTo>
                  <a:pt x="2501560" y="2840593"/>
                  <a:pt x="2474983" y="2847938"/>
                  <a:pt x="2484407" y="3077347"/>
                </a:cubicBezTo>
                <a:cubicBezTo>
                  <a:pt x="2493831" y="3306756"/>
                  <a:pt x="2466685" y="3389511"/>
                  <a:pt x="2484407" y="3688589"/>
                </a:cubicBezTo>
                <a:cubicBezTo>
                  <a:pt x="2472955" y="3952647"/>
                  <a:pt x="2299624" y="4139412"/>
                  <a:pt x="2070331" y="4102665"/>
                </a:cubicBezTo>
                <a:cubicBezTo>
                  <a:pt x="1911444" y="4148100"/>
                  <a:pt x="1797549" y="4074286"/>
                  <a:pt x="1534809" y="4102665"/>
                </a:cubicBezTo>
                <a:cubicBezTo>
                  <a:pt x="1272069" y="4131044"/>
                  <a:pt x="1140181" y="4043084"/>
                  <a:pt x="999286" y="4102665"/>
                </a:cubicBezTo>
                <a:cubicBezTo>
                  <a:pt x="858391" y="4162246"/>
                  <a:pt x="670679" y="4076395"/>
                  <a:pt x="414076" y="4102665"/>
                </a:cubicBezTo>
                <a:cubicBezTo>
                  <a:pt x="148568" y="4062697"/>
                  <a:pt x="35908" y="3960863"/>
                  <a:pt x="0" y="3688589"/>
                </a:cubicBezTo>
                <a:cubicBezTo>
                  <a:pt x="-52485" y="3408654"/>
                  <a:pt x="58175" y="3287490"/>
                  <a:pt x="0" y="3110092"/>
                </a:cubicBezTo>
                <a:cubicBezTo>
                  <a:pt x="-58175" y="2932694"/>
                  <a:pt x="13355" y="2868027"/>
                  <a:pt x="0" y="2629830"/>
                </a:cubicBezTo>
                <a:cubicBezTo>
                  <a:pt x="-13355" y="2391633"/>
                  <a:pt x="36271" y="2240270"/>
                  <a:pt x="0" y="2084078"/>
                </a:cubicBezTo>
                <a:cubicBezTo>
                  <a:pt x="-36271" y="1927886"/>
                  <a:pt x="15156" y="1752990"/>
                  <a:pt x="0" y="1472835"/>
                </a:cubicBezTo>
                <a:cubicBezTo>
                  <a:pt x="-15156" y="1192680"/>
                  <a:pt x="83956" y="754878"/>
                  <a:pt x="0" y="414076"/>
                </a:cubicBezTo>
                <a:close/>
              </a:path>
            </a:pathLst>
          </a:custGeom>
          <a:noFill/>
          <a:ln cap="flat" cmpd="sng" w="5715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h142865916b425258_6_40"/>
          <p:cNvSpPr txBox="1"/>
          <p:nvPr/>
        </p:nvSpPr>
        <p:spPr>
          <a:xfrm>
            <a:off x="1734899" y="6123543"/>
            <a:ext cx="1205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LED Circuit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4" name="Google Shape;934;h142865916b425258_6_40"/>
          <p:cNvGrpSpPr/>
          <p:nvPr/>
        </p:nvGrpSpPr>
        <p:grpSpPr>
          <a:xfrm>
            <a:off x="2790645" y="1984897"/>
            <a:ext cx="1093242" cy="1108886"/>
            <a:chOff x="2790645" y="1984897"/>
            <a:chExt cx="1093242" cy="1108886"/>
          </a:xfrm>
        </p:grpSpPr>
        <p:cxnSp>
          <p:nvCxnSpPr>
            <p:cNvPr id="935" name="Google Shape;935;h142865916b425258_6_40"/>
            <p:cNvCxnSpPr/>
            <p:nvPr/>
          </p:nvCxnSpPr>
          <p:spPr>
            <a:xfrm flipH="1" rot="10800000">
              <a:off x="2790645" y="1984897"/>
              <a:ext cx="237227" cy="699735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36" name="Google Shape;936;h142865916b425258_6_40"/>
            <p:cNvCxnSpPr/>
            <p:nvPr/>
          </p:nvCxnSpPr>
          <p:spPr>
            <a:xfrm flipH="1" rot="10800000">
              <a:off x="2855343" y="1984897"/>
              <a:ext cx="465827" cy="763113"/>
            </a:xfrm>
            <a:prstGeom prst="straightConnector1">
              <a:avLst/>
            </a:prstGeom>
            <a:noFill/>
            <a:ln cap="flat" cmpd="sng" w="38100">
              <a:solidFill>
                <a:srgbClr val="FFCC66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37" name="Google Shape;937;h142865916b425258_6_40"/>
            <p:cNvCxnSpPr/>
            <p:nvPr/>
          </p:nvCxnSpPr>
          <p:spPr>
            <a:xfrm flipH="1" rot="10800000">
              <a:off x="2915728" y="1984897"/>
              <a:ext cx="662796" cy="818688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38" name="Google Shape;938;h142865916b425258_6_40"/>
            <p:cNvCxnSpPr/>
            <p:nvPr/>
          </p:nvCxnSpPr>
          <p:spPr>
            <a:xfrm flipH="1" rot="10800000">
              <a:off x="2984739" y="2009952"/>
              <a:ext cx="838763" cy="862644"/>
            </a:xfrm>
            <a:prstGeom prst="straightConnector1">
              <a:avLst/>
            </a:prstGeom>
            <a:noFill/>
            <a:ln cap="flat" cmpd="sng" w="38100">
              <a:solidFill>
                <a:srgbClr val="FF66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39" name="Google Shape;939;h142865916b425258_6_40"/>
            <p:cNvCxnSpPr/>
            <p:nvPr/>
          </p:nvCxnSpPr>
          <p:spPr>
            <a:xfrm flipH="1" rot="10800000">
              <a:off x="3045124" y="2234242"/>
              <a:ext cx="838763" cy="707365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40" name="Google Shape;940;h142865916b425258_6_40"/>
            <p:cNvCxnSpPr/>
            <p:nvPr/>
          </p:nvCxnSpPr>
          <p:spPr>
            <a:xfrm flipH="1" rot="10800000">
              <a:off x="3119560" y="2553419"/>
              <a:ext cx="703942" cy="471353"/>
            </a:xfrm>
            <a:prstGeom prst="straightConnector1">
              <a:avLst/>
            </a:prstGeom>
            <a:noFill/>
            <a:ln cap="flat" cmpd="sng" w="38100">
              <a:solidFill>
                <a:srgbClr val="FFCC66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41" name="Google Shape;941;h142865916b425258_6_40"/>
            <p:cNvCxnSpPr/>
            <p:nvPr/>
          </p:nvCxnSpPr>
          <p:spPr>
            <a:xfrm flipH="1" rot="10800000">
              <a:off x="3162692" y="2823601"/>
              <a:ext cx="617390" cy="270182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grpSp>
        <p:nvGrpSpPr>
          <p:cNvPr id="942" name="Google Shape;942;h142865916b425258_6_40"/>
          <p:cNvGrpSpPr/>
          <p:nvPr/>
        </p:nvGrpSpPr>
        <p:grpSpPr>
          <a:xfrm>
            <a:off x="6488444" y="1701045"/>
            <a:ext cx="5437633" cy="699735"/>
            <a:chOff x="6523167" y="1984897"/>
            <a:chExt cx="5437633" cy="699735"/>
          </a:xfrm>
        </p:grpSpPr>
        <p:pic>
          <p:nvPicPr>
            <p:cNvPr id="943" name="Google Shape;943;h142865916b425258_6_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23167" y="1984897"/>
              <a:ext cx="5437633" cy="6997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h142865916b425258_6_40"/>
            <p:cNvSpPr/>
            <p:nvPr/>
          </p:nvSpPr>
          <p:spPr>
            <a:xfrm>
              <a:off x="6523167" y="1984897"/>
              <a:ext cx="1154342" cy="24934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h142865916b425258_6_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Smoke Detector - Operation</a:t>
            </a:r>
            <a:endParaRPr/>
          </a:p>
        </p:txBody>
      </p:sp>
      <p:sp>
        <p:nvSpPr>
          <p:cNvPr id="950" name="Google Shape;950;h142865916b425258_6_62"/>
          <p:cNvSpPr txBox="1"/>
          <p:nvPr/>
        </p:nvSpPr>
        <p:spPr>
          <a:xfrm>
            <a:off x="917185" y="1837042"/>
            <a:ext cx="361303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from the LED is reflected off the smoke particles on to the photoconductor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Dependent Resistor (LDR)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h142865916b425258_6_62"/>
          <p:cNvSpPr txBox="1"/>
          <p:nvPr/>
        </p:nvSpPr>
        <p:spPr>
          <a:xfrm>
            <a:off x="4496137" y="1702260"/>
            <a:ext cx="3839705" cy="183575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30" r="-7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h142865916b425258_6_62"/>
          <p:cNvSpPr txBox="1"/>
          <p:nvPr/>
        </p:nvSpPr>
        <p:spPr>
          <a:xfrm>
            <a:off x="8110622" y="1764776"/>
            <a:ext cx="3893886" cy="134023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363" l="-1407" r="-7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3" name="Google Shape;953;h142865916b425258_6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4508" y="3627518"/>
            <a:ext cx="3404685" cy="2273251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h142865916b425258_6_62"/>
          <p:cNvSpPr txBox="1"/>
          <p:nvPr/>
        </p:nvSpPr>
        <p:spPr>
          <a:xfrm>
            <a:off x="1644101" y="6073514"/>
            <a:ext cx="1205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LED Circuit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5" name="Google Shape;955;h142865916b425258_6_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0585" y="3792789"/>
            <a:ext cx="2847824" cy="228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6" name="Google Shape;956;h142865916b425258_6_62"/>
          <p:cNvGrpSpPr/>
          <p:nvPr/>
        </p:nvGrpSpPr>
        <p:grpSpPr>
          <a:xfrm rot="3600000">
            <a:off x="4132756" y="4461376"/>
            <a:ext cx="1093242" cy="1108886"/>
            <a:chOff x="2790645" y="1984897"/>
            <a:chExt cx="1093242" cy="1108886"/>
          </a:xfrm>
        </p:grpSpPr>
        <p:cxnSp>
          <p:nvCxnSpPr>
            <p:cNvPr id="957" name="Google Shape;957;h142865916b425258_6_62"/>
            <p:cNvCxnSpPr/>
            <p:nvPr/>
          </p:nvCxnSpPr>
          <p:spPr>
            <a:xfrm flipH="1" rot="10800000">
              <a:off x="2790645" y="1984897"/>
              <a:ext cx="237227" cy="699735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58" name="Google Shape;958;h142865916b425258_6_62"/>
            <p:cNvCxnSpPr/>
            <p:nvPr/>
          </p:nvCxnSpPr>
          <p:spPr>
            <a:xfrm flipH="1" rot="10800000">
              <a:off x="2855343" y="1984897"/>
              <a:ext cx="465827" cy="763113"/>
            </a:xfrm>
            <a:prstGeom prst="straightConnector1">
              <a:avLst/>
            </a:prstGeom>
            <a:noFill/>
            <a:ln cap="flat" cmpd="sng" w="38100">
              <a:solidFill>
                <a:srgbClr val="FFCC66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59" name="Google Shape;959;h142865916b425258_6_62"/>
            <p:cNvCxnSpPr/>
            <p:nvPr/>
          </p:nvCxnSpPr>
          <p:spPr>
            <a:xfrm flipH="1" rot="10800000">
              <a:off x="2915728" y="1984897"/>
              <a:ext cx="662796" cy="818688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60" name="Google Shape;960;h142865916b425258_6_62"/>
            <p:cNvCxnSpPr/>
            <p:nvPr/>
          </p:nvCxnSpPr>
          <p:spPr>
            <a:xfrm flipH="1" rot="10800000">
              <a:off x="2984739" y="2009952"/>
              <a:ext cx="838763" cy="862644"/>
            </a:xfrm>
            <a:prstGeom prst="straightConnector1">
              <a:avLst/>
            </a:prstGeom>
            <a:noFill/>
            <a:ln cap="flat" cmpd="sng" w="38100">
              <a:solidFill>
                <a:srgbClr val="FF66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61" name="Google Shape;961;h142865916b425258_6_62"/>
            <p:cNvCxnSpPr/>
            <p:nvPr/>
          </p:nvCxnSpPr>
          <p:spPr>
            <a:xfrm flipH="1" rot="10800000">
              <a:off x="3045124" y="2234242"/>
              <a:ext cx="838763" cy="707365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62" name="Google Shape;962;h142865916b425258_6_62"/>
            <p:cNvCxnSpPr/>
            <p:nvPr/>
          </p:nvCxnSpPr>
          <p:spPr>
            <a:xfrm flipH="1" rot="10800000">
              <a:off x="3119560" y="2553419"/>
              <a:ext cx="703942" cy="471353"/>
            </a:xfrm>
            <a:prstGeom prst="straightConnector1">
              <a:avLst/>
            </a:prstGeom>
            <a:noFill/>
            <a:ln cap="flat" cmpd="sng" w="38100">
              <a:solidFill>
                <a:srgbClr val="FFCC66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63" name="Google Shape;963;h142865916b425258_6_62"/>
            <p:cNvCxnSpPr/>
            <p:nvPr/>
          </p:nvCxnSpPr>
          <p:spPr>
            <a:xfrm flipH="1" rot="10800000">
              <a:off x="3162692" y="2823601"/>
              <a:ext cx="617390" cy="270182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grpSp>
        <p:nvGrpSpPr>
          <p:cNvPr id="964" name="Google Shape;964;h142865916b425258_6_62"/>
          <p:cNvGrpSpPr/>
          <p:nvPr/>
        </p:nvGrpSpPr>
        <p:grpSpPr>
          <a:xfrm rot="-3367537">
            <a:off x="7737812" y="4009573"/>
            <a:ext cx="887698" cy="907774"/>
            <a:chOff x="8228568" y="4842110"/>
            <a:chExt cx="887699" cy="907774"/>
          </a:xfrm>
        </p:grpSpPr>
        <p:cxnSp>
          <p:nvCxnSpPr>
            <p:cNvPr id="965" name="Google Shape;965;h142865916b425258_6_62"/>
            <p:cNvCxnSpPr/>
            <p:nvPr/>
          </p:nvCxnSpPr>
          <p:spPr>
            <a:xfrm flipH="1" rot="-5400000">
              <a:off x="8375524" y="4764164"/>
              <a:ext cx="662796" cy="818688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66" name="Google Shape;966;h142865916b425258_6_62"/>
            <p:cNvCxnSpPr/>
            <p:nvPr/>
          </p:nvCxnSpPr>
          <p:spPr>
            <a:xfrm flipH="1" rot="-5400000">
              <a:off x="8240508" y="4899181"/>
              <a:ext cx="838763" cy="862644"/>
            </a:xfrm>
            <a:prstGeom prst="straightConnector1">
              <a:avLst/>
            </a:prstGeom>
            <a:noFill/>
            <a:ln cap="flat" cmpd="sng" w="38100">
              <a:solidFill>
                <a:srgbClr val="FF66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grpSp>
        <p:nvGrpSpPr>
          <p:cNvPr id="967" name="Google Shape;967;h142865916b425258_6_62"/>
          <p:cNvGrpSpPr/>
          <p:nvPr/>
        </p:nvGrpSpPr>
        <p:grpSpPr>
          <a:xfrm rot="-1445802">
            <a:off x="8004582" y="5398633"/>
            <a:ext cx="887698" cy="907774"/>
            <a:chOff x="8228568" y="4842110"/>
            <a:chExt cx="887699" cy="907774"/>
          </a:xfrm>
        </p:grpSpPr>
        <p:cxnSp>
          <p:nvCxnSpPr>
            <p:cNvPr id="968" name="Google Shape;968;h142865916b425258_6_62"/>
            <p:cNvCxnSpPr/>
            <p:nvPr/>
          </p:nvCxnSpPr>
          <p:spPr>
            <a:xfrm flipH="1" rot="-5400000">
              <a:off x="8375524" y="4764164"/>
              <a:ext cx="662796" cy="818688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69" name="Google Shape;969;h142865916b425258_6_62"/>
            <p:cNvCxnSpPr/>
            <p:nvPr/>
          </p:nvCxnSpPr>
          <p:spPr>
            <a:xfrm flipH="1" rot="-5400000">
              <a:off x="8240508" y="4899181"/>
              <a:ext cx="838763" cy="862644"/>
            </a:xfrm>
            <a:prstGeom prst="straightConnector1">
              <a:avLst/>
            </a:prstGeom>
            <a:noFill/>
            <a:ln cap="flat" cmpd="sng" w="38100">
              <a:solidFill>
                <a:srgbClr val="FF66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sp>
        <p:nvSpPr>
          <p:cNvPr id="970" name="Google Shape;970;h142865916b425258_6_62"/>
          <p:cNvSpPr txBox="1"/>
          <p:nvPr/>
        </p:nvSpPr>
        <p:spPr>
          <a:xfrm>
            <a:off x="9577212" y="3841963"/>
            <a:ext cx="11299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Voltage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h142865916b425258_6_62"/>
          <p:cNvCxnSpPr/>
          <p:nvPr/>
        </p:nvCxnSpPr>
        <p:spPr>
          <a:xfrm>
            <a:off x="5482071" y="5185347"/>
            <a:ext cx="2212951" cy="491184"/>
          </a:xfrm>
          <a:prstGeom prst="straightConnector1">
            <a:avLst/>
          </a:prstGeom>
          <a:noFill/>
          <a:ln cap="flat" cmpd="sng" w="38100">
            <a:solidFill>
              <a:srgbClr val="FFCC66"/>
            </a:solidFill>
            <a:prstDash val="dashDot"/>
            <a:miter lim="8000"/>
            <a:headEnd len="sm" w="sm" type="none"/>
            <a:tailEnd len="sm" w="sm" type="none"/>
          </a:ln>
        </p:spPr>
      </p:cxnSp>
      <p:cxnSp>
        <p:nvCxnSpPr>
          <p:cNvPr id="972" name="Google Shape;972;h142865916b425258_6_62"/>
          <p:cNvCxnSpPr/>
          <p:nvPr/>
        </p:nvCxnSpPr>
        <p:spPr>
          <a:xfrm>
            <a:off x="5419818" y="5044406"/>
            <a:ext cx="2394470" cy="508814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dashDot"/>
            <a:miter lim="8000"/>
            <a:headEnd len="sm" w="sm" type="none"/>
            <a:tailEnd len="sm" w="sm" type="none"/>
          </a:ln>
        </p:spPr>
      </p:cxnSp>
      <p:sp>
        <p:nvSpPr>
          <p:cNvPr id="973" name="Google Shape;973;h142865916b425258_6_62"/>
          <p:cNvSpPr txBox="1"/>
          <p:nvPr/>
        </p:nvSpPr>
        <p:spPr>
          <a:xfrm>
            <a:off x="8861281" y="4004376"/>
            <a:ext cx="9429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LDR 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h142865916b425258_6_62"/>
          <p:cNvSpPr txBox="1"/>
          <p:nvPr/>
        </p:nvSpPr>
        <p:spPr>
          <a:xfrm>
            <a:off x="9101521" y="5690340"/>
            <a:ext cx="25410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is lost in the environment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h142865916b425258_6_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Smoke Detector - Operation</a:t>
            </a:r>
            <a:endParaRPr/>
          </a:p>
        </p:txBody>
      </p:sp>
      <p:sp>
        <p:nvSpPr>
          <p:cNvPr id="980" name="Google Shape;980;h142865916b425258_6_91"/>
          <p:cNvSpPr txBox="1"/>
          <p:nvPr/>
        </p:nvSpPr>
        <p:spPr>
          <a:xfrm>
            <a:off x="2295525" y="1402970"/>
            <a:ext cx="4310219" cy="27590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7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h142865916b425258_6_91"/>
          <p:cNvSpPr txBox="1"/>
          <p:nvPr/>
        </p:nvSpPr>
        <p:spPr>
          <a:xfrm>
            <a:off x="6550187" y="1386715"/>
            <a:ext cx="4201791" cy="22108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305" r="-57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" id="982" name="Google Shape;982;h142865916b425258_6_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2541" y="3800816"/>
            <a:ext cx="3588119" cy="230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h142865916b425258_6_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2880" y="3735639"/>
            <a:ext cx="2847824" cy="228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4" name="Google Shape;984;h142865916b425258_6_91"/>
          <p:cNvGrpSpPr/>
          <p:nvPr/>
        </p:nvGrpSpPr>
        <p:grpSpPr>
          <a:xfrm rot="3600000">
            <a:off x="1045051" y="4404226"/>
            <a:ext cx="1093242" cy="1108886"/>
            <a:chOff x="2790645" y="1984897"/>
            <a:chExt cx="1093242" cy="1108886"/>
          </a:xfrm>
        </p:grpSpPr>
        <p:cxnSp>
          <p:nvCxnSpPr>
            <p:cNvPr id="985" name="Google Shape;985;h142865916b425258_6_91"/>
            <p:cNvCxnSpPr/>
            <p:nvPr/>
          </p:nvCxnSpPr>
          <p:spPr>
            <a:xfrm flipH="1" rot="10800000">
              <a:off x="2790645" y="1984897"/>
              <a:ext cx="237227" cy="699735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86" name="Google Shape;986;h142865916b425258_6_91"/>
            <p:cNvCxnSpPr/>
            <p:nvPr/>
          </p:nvCxnSpPr>
          <p:spPr>
            <a:xfrm flipH="1" rot="10800000">
              <a:off x="2855343" y="1984897"/>
              <a:ext cx="465827" cy="763113"/>
            </a:xfrm>
            <a:prstGeom prst="straightConnector1">
              <a:avLst/>
            </a:prstGeom>
            <a:noFill/>
            <a:ln cap="flat" cmpd="sng" w="38100">
              <a:solidFill>
                <a:srgbClr val="FFCC66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87" name="Google Shape;987;h142865916b425258_6_91"/>
            <p:cNvCxnSpPr/>
            <p:nvPr/>
          </p:nvCxnSpPr>
          <p:spPr>
            <a:xfrm flipH="1" rot="10800000">
              <a:off x="2915728" y="1984897"/>
              <a:ext cx="662796" cy="818688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88" name="Google Shape;988;h142865916b425258_6_91"/>
            <p:cNvCxnSpPr/>
            <p:nvPr/>
          </p:nvCxnSpPr>
          <p:spPr>
            <a:xfrm flipH="1" rot="10800000">
              <a:off x="2984739" y="2009952"/>
              <a:ext cx="838763" cy="862644"/>
            </a:xfrm>
            <a:prstGeom prst="straightConnector1">
              <a:avLst/>
            </a:prstGeom>
            <a:noFill/>
            <a:ln cap="flat" cmpd="sng" w="38100">
              <a:solidFill>
                <a:srgbClr val="FF66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89" name="Google Shape;989;h142865916b425258_6_91"/>
            <p:cNvCxnSpPr/>
            <p:nvPr/>
          </p:nvCxnSpPr>
          <p:spPr>
            <a:xfrm flipH="1" rot="10800000">
              <a:off x="3045124" y="2234242"/>
              <a:ext cx="838763" cy="707365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90" name="Google Shape;990;h142865916b425258_6_91"/>
            <p:cNvCxnSpPr/>
            <p:nvPr/>
          </p:nvCxnSpPr>
          <p:spPr>
            <a:xfrm flipH="1" rot="10800000">
              <a:off x="3119560" y="2553419"/>
              <a:ext cx="703942" cy="471353"/>
            </a:xfrm>
            <a:prstGeom prst="straightConnector1">
              <a:avLst/>
            </a:prstGeom>
            <a:noFill/>
            <a:ln cap="flat" cmpd="sng" w="38100">
              <a:solidFill>
                <a:srgbClr val="FFCC66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91" name="Google Shape;991;h142865916b425258_6_91"/>
            <p:cNvCxnSpPr/>
            <p:nvPr/>
          </p:nvCxnSpPr>
          <p:spPr>
            <a:xfrm flipH="1" rot="10800000">
              <a:off x="3162692" y="2823601"/>
              <a:ext cx="617390" cy="270182"/>
            </a:xfrm>
            <a:prstGeom prst="straightConnector1">
              <a:avLst/>
            </a:prstGeom>
            <a:noFill/>
            <a:ln cap="flat" cmpd="sng" w="38100">
              <a:solidFill>
                <a:srgbClr val="FFCC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grpSp>
        <p:nvGrpSpPr>
          <p:cNvPr id="992" name="Google Shape;992;h142865916b425258_6_91"/>
          <p:cNvGrpSpPr/>
          <p:nvPr/>
        </p:nvGrpSpPr>
        <p:grpSpPr>
          <a:xfrm rot="-3367537">
            <a:off x="4650107" y="3952423"/>
            <a:ext cx="887698" cy="907774"/>
            <a:chOff x="8228568" y="4842110"/>
            <a:chExt cx="887699" cy="907774"/>
          </a:xfrm>
        </p:grpSpPr>
        <p:cxnSp>
          <p:nvCxnSpPr>
            <p:cNvPr id="993" name="Google Shape;993;h142865916b425258_6_91"/>
            <p:cNvCxnSpPr/>
            <p:nvPr/>
          </p:nvCxnSpPr>
          <p:spPr>
            <a:xfrm flipH="1" rot="-5400000">
              <a:off x="8375524" y="4764164"/>
              <a:ext cx="662796" cy="818688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94" name="Google Shape;994;h142865916b425258_6_91"/>
            <p:cNvCxnSpPr/>
            <p:nvPr/>
          </p:nvCxnSpPr>
          <p:spPr>
            <a:xfrm flipH="1" rot="-5400000">
              <a:off x="8240508" y="4899181"/>
              <a:ext cx="838763" cy="862644"/>
            </a:xfrm>
            <a:prstGeom prst="straightConnector1">
              <a:avLst/>
            </a:prstGeom>
            <a:noFill/>
            <a:ln cap="flat" cmpd="sng" w="38100">
              <a:solidFill>
                <a:srgbClr val="FF66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grpSp>
        <p:nvGrpSpPr>
          <p:cNvPr id="995" name="Google Shape;995;h142865916b425258_6_91"/>
          <p:cNvGrpSpPr/>
          <p:nvPr/>
        </p:nvGrpSpPr>
        <p:grpSpPr>
          <a:xfrm rot="-1445802">
            <a:off x="4916877" y="5341483"/>
            <a:ext cx="887698" cy="907774"/>
            <a:chOff x="8228568" y="4842110"/>
            <a:chExt cx="887699" cy="907774"/>
          </a:xfrm>
        </p:grpSpPr>
        <p:cxnSp>
          <p:nvCxnSpPr>
            <p:cNvPr id="996" name="Google Shape;996;h142865916b425258_6_91"/>
            <p:cNvCxnSpPr/>
            <p:nvPr/>
          </p:nvCxnSpPr>
          <p:spPr>
            <a:xfrm flipH="1" rot="-5400000">
              <a:off x="8375524" y="4764164"/>
              <a:ext cx="662796" cy="818688"/>
            </a:xfrm>
            <a:prstGeom prst="straightConnector1">
              <a:avLst/>
            </a:prstGeom>
            <a:noFill/>
            <a:ln cap="flat" cmpd="sng" w="38100">
              <a:solidFill>
                <a:srgbClr val="FF9933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997" name="Google Shape;997;h142865916b425258_6_91"/>
            <p:cNvCxnSpPr/>
            <p:nvPr/>
          </p:nvCxnSpPr>
          <p:spPr>
            <a:xfrm flipH="1" rot="-5400000">
              <a:off x="8240508" y="4899181"/>
              <a:ext cx="838763" cy="862644"/>
            </a:xfrm>
            <a:prstGeom prst="straightConnector1">
              <a:avLst/>
            </a:prstGeom>
            <a:noFill/>
            <a:ln cap="flat" cmpd="sng" w="38100">
              <a:solidFill>
                <a:srgbClr val="FF66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sp>
        <p:nvSpPr>
          <p:cNvPr id="998" name="Google Shape;998;h142865916b425258_6_91"/>
          <p:cNvSpPr txBox="1"/>
          <p:nvPr/>
        </p:nvSpPr>
        <p:spPr>
          <a:xfrm>
            <a:off x="6489507" y="3784813"/>
            <a:ext cx="11299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Voltage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h142865916b425258_6_91"/>
          <p:cNvSpPr txBox="1"/>
          <p:nvPr/>
        </p:nvSpPr>
        <p:spPr>
          <a:xfrm>
            <a:off x="5773576" y="3947226"/>
            <a:ext cx="9429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LDR 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h142865916b425258_6_91"/>
          <p:cNvSpPr txBox="1"/>
          <p:nvPr/>
        </p:nvSpPr>
        <p:spPr>
          <a:xfrm>
            <a:off x="6013816" y="5633190"/>
            <a:ext cx="25410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is lost in the environment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h142865916b425258_6_91"/>
          <p:cNvSpPr/>
          <p:nvPr/>
        </p:nvSpPr>
        <p:spPr>
          <a:xfrm>
            <a:off x="5723061" y="3747739"/>
            <a:ext cx="1940460" cy="768305"/>
          </a:xfrm>
          <a:custGeom>
            <a:rect b="b" l="l" r="r" t="t"/>
            <a:pathLst>
              <a:path extrusionOk="0" h="768305" w="1940460">
                <a:moveTo>
                  <a:pt x="0" y="128053"/>
                </a:moveTo>
                <a:cubicBezTo>
                  <a:pt x="101" y="40118"/>
                  <a:pt x="52677" y="16399"/>
                  <a:pt x="128053" y="0"/>
                </a:cubicBezTo>
                <a:cubicBezTo>
                  <a:pt x="275965" y="-44967"/>
                  <a:pt x="478907" y="41181"/>
                  <a:pt x="723191" y="0"/>
                </a:cubicBezTo>
                <a:cubicBezTo>
                  <a:pt x="967475" y="-41181"/>
                  <a:pt x="1048582" y="24862"/>
                  <a:pt x="1234112" y="0"/>
                </a:cubicBezTo>
                <a:cubicBezTo>
                  <a:pt x="1419642" y="-24862"/>
                  <a:pt x="1684467" y="41521"/>
                  <a:pt x="1812407" y="0"/>
                </a:cubicBezTo>
                <a:cubicBezTo>
                  <a:pt x="1878304" y="16277"/>
                  <a:pt x="1921392" y="48749"/>
                  <a:pt x="1940460" y="128053"/>
                </a:cubicBezTo>
                <a:cubicBezTo>
                  <a:pt x="1987311" y="341813"/>
                  <a:pt x="1880408" y="535812"/>
                  <a:pt x="1940460" y="640252"/>
                </a:cubicBezTo>
                <a:cubicBezTo>
                  <a:pt x="1940490" y="721017"/>
                  <a:pt x="1885953" y="786975"/>
                  <a:pt x="1812407" y="768305"/>
                </a:cubicBezTo>
                <a:cubicBezTo>
                  <a:pt x="1557765" y="768554"/>
                  <a:pt x="1480486" y="740634"/>
                  <a:pt x="1267799" y="768305"/>
                </a:cubicBezTo>
                <a:cubicBezTo>
                  <a:pt x="1055112" y="795976"/>
                  <a:pt x="859812" y="759994"/>
                  <a:pt x="740035" y="768305"/>
                </a:cubicBezTo>
                <a:cubicBezTo>
                  <a:pt x="620258" y="776616"/>
                  <a:pt x="423933" y="714262"/>
                  <a:pt x="128053" y="768305"/>
                </a:cubicBezTo>
                <a:cubicBezTo>
                  <a:pt x="54539" y="776928"/>
                  <a:pt x="142" y="719612"/>
                  <a:pt x="0" y="640252"/>
                </a:cubicBezTo>
                <a:cubicBezTo>
                  <a:pt x="-17230" y="421868"/>
                  <a:pt x="43632" y="241180"/>
                  <a:pt x="0" y="128053"/>
                </a:cubicBez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h142865916b425258_6_91"/>
          <p:cNvSpPr/>
          <p:nvPr/>
        </p:nvSpPr>
        <p:spPr>
          <a:xfrm>
            <a:off x="6550187" y="2691681"/>
            <a:ext cx="4249538" cy="583640"/>
          </a:xfrm>
          <a:custGeom>
            <a:rect b="b" l="l" r="r" t="t"/>
            <a:pathLst>
              <a:path extrusionOk="0" h="583640" w="4249538">
                <a:moveTo>
                  <a:pt x="0" y="97275"/>
                </a:moveTo>
                <a:cubicBezTo>
                  <a:pt x="49" y="35304"/>
                  <a:pt x="39437" y="14503"/>
                  <a:pt x="97275" y="0"/>
                </a:cubicBezTo>
                <a:cubicBezTo>
                  <a:pt x="236444" y="-28789"/>
                  <a:pt x="617647" y="40800"/>
                  <a:pt x="757659" y="0"/>
                </a:cubicBezTo>
                <a:cubicBezTo>
                  <a:pt x="897671" y="-40800"/>
                  <a:pt x="1108762" y="21297"/>
                  <a:pt x="1215293" y="0"/>
                </a:cubicBezTo>
                <a:cubicBezTo>
                  <a:pt x="1321824" y="-21297"/>
                  <a:pt x="1587622" y="42470"/>
                  <a:pt x="1835127" y="0"/>
                </a:cubicBezTo>
                <a:cubicBezTo>
                  <a:pt x="2082632" y="-42470"/>
                  <a:pt x="2091643" y="19814"/>
                  <a:pt x="2292761" y="0"/>
                </a:cubicBezTo>
                <a:cubicBezTo>
                  <a:pt x="2493879" y="-19814"/>
                  <a:pt x="2749389" y="20775"/>
                  <a:pt x="2912595" y="0"/>
                </a:cubicBezTo>
                <a:cubicBezTo>
                  <a:pt x="3075801" y="-20775"/>
                  <a:pt x="3337168" y="7852"/>
                  <a:pt x="3451329" y="0"/>
                </a:cubicBezTo>
                <a:cubicBezTo>
                  <a:pt x="3565490" y="-7852"/>
                  <a:pt x="3900921" y="47989"/>
                  <a:pt x="4152263" y="0"/>
                </a:cubicBezTo>
                <a:cubicBezTo>
                  <a:pt x="4211678" y="5219"/>
                  <a:pt x="4252601" y="43370"/>
                  <a:pt x="4249538" y="97275"/>
                </a:cubicBezTo>
                <a:cubicBezTo>
                  <a:pt x="4263681" y="179741"/>
                  <a:pt x="4219994" y="405106"/>
                  <a:pt x="4249538" y="486365"/>
                </a:cubicBezTo>
                <a:cubicBezTo>
                  <a:pt x="4249855" y="550616"/>
                  <a:pt x="4211558" y="588945"/>
                  <a:pt x="4152263" y="583640"/>
                </a:cubicBezTo>
                <a:cubicBezTo>
                  <a:pt x="4033674" y="612905"/>
                  <a:pt x="3768079" y="520830"/>
                  <a:pt x="3572979" y="583640"/>
                </a:cubicBezTo>
                <a:cubicBezTo>
                  <a:pt x="3377879" y="646450"/>
                  <a:pt x="3282242" y="532941"/>
                  <a:pt x="3074795" y="583640"/>
                </a:cubicBezTo>
                <a:cubicBezTo>
                  <a:pt x="2867348" y="634339"/>
                  <a:pt x="2727383" y="539906"/>
                  <a:pt x="2536061" y="583640"/>
                </a:cubicBezTo>
                <a:cubicBezTo>
                  <a:pt x="2344739" y="627374"/>
                  <a:pt x="2055931" y="526675"/>
                  <a:pt x="1875677" y="583640"/>
                </a:cubicBezTo>
                <a:cubicBezTo>
                  <a:pt x="1695423" y="640605"/>
                  <a:pt x="1527523" y="515176"/>
                  <a:pt x="1255843" y="583640"/>
                </a:cubicBezTo>
                <a:cubicBezTo>
                  <a:pt x="984163" y="652104"/>
                  <a:pt x="967758" y="551816"/>
                  <a:pt x="757659" y="583640"/>
                </a:cubicBezTo>
                <a:cubicBezTo>
                  <a:pt x="547560" y="615464"/>
                  <a:pt x="368353" y="528724"/>
                  <a:pt x="97275" y="583640"/>
                </a:cubicBezTo>
                <a:cubicBezTo>
                  <a:pt x="44630" y="596164"/>
                  <a:pt x="1045" y="550653"/>
                  <a:pt x="0" y="486365"/>
                </a:cubicBezTo>
                <a:cubicBezTo>
                  <a:pt x="-37598" y="346337"/>
                  <a:pt x="40795" y="224324"/>
                  <a:pt x="0" y="97275"/>
                </a:cubicBez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h142865916b425258_6_91"/>
          <p:cNvSpPr/>
          <p:nvPr/>
        </p:nvSpPr>
        <p:spPr>
          <a:xfrm>
            <a:off x="5950446" y="5541407"/>
            <a:ext cx="1940460" cy="768305"/>
          </a:xfrm>
          <a:custGeom>
            <a:rect b="b" l="l" r="r" t="t"/>
            <a:pathLst>
              <a:path extrusionOk="0" h="768305" w="1940460">
                <a:moveTo>
                  <a:pt x="0" y="128053"/>
                </a:moveTo>
                <a:cubicBezTo>
                  <a:pt x="101" y="40118"/>
                  <a:pt x="52677" y="16399"/>
                  <a:pt x="128053" y="0"/>
                </a:cubicBezTo>
                <a:cubicBezTo>
                  <a:pt x="275965" y="-44967"/>
                  <a:pt x="478907" y="41181"/>
                  <a:pt x="723191" y="0"/>
                </a:cubicBezTo>
                <a:cubicBezTo>
                  <a:pt x="967475" y="-41181"/>
                  <a:pt x="1048582" y="24862"/>
                  <a:pt x="1234112" y="0"/>
                </a:cubicBezTo>
                <a:cubicBezTo>
                  <a:pt x="1419642" y="-24862"/>
                  <a:pt x="1684467" y="41521"/>
                  <a:pt x="1812407" y="0"/>
                </a:cubicBezTo>
                <a:cubicBezTo>
                  <a:pt x="1878304" y="16277"/>
                  <a:pt x="1921392" y="48749"/>
                  <a:pt x="1940460" y="128053"/>
                </a:cubicBezTo>
                <a:cubicBezTo>
                  <a:pt x="1987311" y="341813"/>
                  <a:pt x="1880408" y="535812"/>
                  <a:pt x="1940460" y="640252"/>
                </a:cubicBezTo>
                <a:cubicBezTo>
                  <a:pt x="1940490" y="721017"/>
                  <a:pt x="1885953" y="786975"/>
                  <a:pt x="1812407" y="768305"/>
                </a:cubicBezTo>
                <a:cubicBezTo>
                  <a:pt x="1557765" y="768554"/>
                  <a:pt x="1480486" y="740634"/>
                  <a:pt x="1267799" y="768305"/>
                </a:cubicBezTo>
                <a:cubicBezTo>
                  <a:pt x="1055112" y="795976"/>
                  <a:pt x="859812" y="759994"/>
                  <a:pt x="740035" y="768305"/>
                </a:cubicBezTo>
                <a:cubicBezTo>
                  <a:pt x="620258" y="776616"/>
                  <a:pt x="423933" y="714262"/>
                  <a:pt x="128053" y="768305"/>
                </a:cubicBezTo>
                <a:cubicBezTo>
                  <a:pt x="54539" y="776928"/>
                  <a:pt x="142" y="719612"/>
                  <a:pt x="0" y="640252"/>
                </a:cubicBezTo>
                <a:cubicBezTo>
                  <a:pt x="-17230" y="421868"/>
                  <a:pt x="43632" y="241180"/>
                  <a:pt x="0" y="128053"/>
                </a:cubicBezTo>
                <a:close/>
              </a:path>
            </a:pathLst>
          </a:custGeom>
          <a:noFill/>
          <a:ln cap="flat" cmpd="sng" w="57150">
            <a:solidFill>
              <a:srgbClr val="FFCC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h142865916b425258_6_91"/>
          <p:cNvSpPr/>
          <p:nvPr/>
        </p:nvSpPr>
        <p:spPr>
          <a:xfrm>
            <a:off x="2184718" y="2760042"/>
            <a:ext cx="4249538" cy="583640"/>
          </a:xfrm>
          <a:custGeom>
            <a:rect b="b" l="l" r="r" t="t"/>
            <a:pathLst>
              <a:path extrusionOk="0" h="583640" w="4249538">
                <a:moveTo>
                  <a:pt x="0" y="97275"/>
                </a:moveTo>
                <a:cubicBezTo>
                  <a:pt x="49" y="35304"/>
                  <a:pt x="39437" y="14503"/>
                  <a:pt x="97275" y="0"/>
                </a:cubicBezTo>
                <a:cubicBezTo>
                  <a:pt x="236444" y="-28789"/>
                  <a:pt x="617647" y="40800"/>
                  <a:pt x="757659" y="0"/>
                </a:cubicBezTo>
                <a:cubicBezTo>
                  <a:pt x="897671" y="-40800"/>
                  <a:pt x="1108762" y="21297"/>
                  <a:pt x="1215293" y="0"/>
                </a:cubicBezTo>
                <a:cubicBezTo>
                  <a:pt x="1321824" y="-21297"/>
                  <a:pt x="1587622" y="42470"/>
                  <a:pt x="1835127" y="0"/>
                </a:cubicBezTo>
                <a:cubicBezTo>
                  <a:pt x="2082632" y="-42470"/>
                  <a:pt x="2091643" y="19814"/>
                  <a:pt x="2292761" y="0"/>
                </a:cubicBezTo>
                <a:cubicBezTo>
                  <a:pt x="2493879" y="-19814"/>
                  <a:pt x="2749389" y="20775"/>
                  <a:pt x="2912595" y="0"/>
                </a:cubicBezTo>
                <a:cubicBezTo>
                  <a:pt x="3075801" y="-20775"/>
                  <a:pt x="3337168" y="7852"/>
                  <a:pt x="3451329" y="0"/>
                </a:cubicBezTo>
                <a:cubicBezTo>
                  <a:pt x="3565490" y="-7852"/>
                  <a:pt x="3900921" y="47989"/>
                  <a:pt x="4152263" y="0"/>
                </a:cubicBezTo>
                <a:cubicBezTo>
                  <a:pt x="4211678" y="5219"/>
                  <a:pt x="4252601" y="43370"/>
                  <a:pt x="4249538" y="97275"/>
                </a:cubicBezTo>
                <a:cubicBezTo>
                  <a:pt x="4263681" y="179741"/>
                  <a:pt x="4219994" y="405106"/>
                  <a:pt x="4249538" y="486365"/>
                </a:cubicBezTo>
                <a:cubicBezTo>
                  <a:pt x="4249855" y="550616"/>
                  <a:pt x="4211558" y="588945"/>
                  <a:pt x="4152263" y="583640"/>
                </a:cubicBezTo>
                <a:cubicBezTo>
                  <a:pt x="4033674" y="612905"/>
                  <a:pt x="3768079" y="520830"/>
                  <a:pt x="3572979" y="583640"/>
                </a:cubicBezTo>
                <a:cubicBezTo>
                  <a:pt x="3377879" y="646450"/>
                  <a:pt x="3282242" y="532941"/>
                  <a:pt x="3074795" y="583640"/>
                </a:cubicBezTo>
                <a:cubicBezTo>
                  <a:pt x="2867348" y="634339"/>
                  <a:pt x="2727383" y="539906"/>
                  <a:pt x="2536061" y="583640"/>
                </a:cubicBezTo>
                <a:cubicBezTo>
                  <a:pt x="2344739" y="627374"/>
                  <a:pt x="2055931" y="526675"/>
                  <a:pt x="1875677" y="583640"/>
                </a:cubicBezTo>
                <a:cubicBezTo>
                  <a:pt x="1695423" y="640605"/>
                  <a:pt x="1527523" y="515176"/>
                  <a:pt x="1255843" y="583640"/>
                </a:cubicBezTo>
                <a:cubicBezTo>
                  <a:pt x="984163" y="652104"/>
                  <a:pt x="967758" y="551816"/>
                  <a:pt x="757659" y="583640"/>
                </a:cubicBezTo>
                <a:cubicBezTo>
                  <a:pt x="547560" y="615464"/>
                  <a:pt x="368353" y="528724"/>
                  <a:pt x="97275" y="583640"/>
                </a:cubicBezTo>
                <a:cubicBezTo>
                  <a:pt x="44630" y="596164"/>
                  <a:pt x="1045" y="550653"/>
                  <a:pt x="0" y="486365"/>
                </a:cubicBezTo>
                <a:cubicBezTo>
                  <a:pt x="-37598" y="346337"/>
                  <a:pt x="40795" y="224324"/>
                  <a:pt x="0" y="97275"/>
                </a:cubicBezTo>
                <a:close/>
              </a:path>
            </a:pathLst>
          </a:custGeom>
          <a:noFill/>
          <a:ln cap="flat" cmpd="sng" w="57150">
            <a:solidFill>
              <a:srgbClr val="FFCC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h142865916b425258_6_91"/>
          <p:cNvSpPr/>
          <p:nvPr/>
        </p:nvSpPr>
        <p:spPr>
          <a:xfrm flipH="1">
            <a:off x="8648699" y="4276725"/>
            <a:ext cx="45719" cy="1581150"/>
          </a:xfrm>
          <a:custGeom>
            <a:rect b="b" l="l" r="r" t="t"/>
            <a:pathLst>
              <a:path extrusionOk="0" h="1581150" w="45719">
                <a:moveTo>
                  <a:pt x="45719" y="0"/>
                </a:moveTo>
                <a:cubicBezTo>
                  <a:pt x="66918" y="231499"/>
                  <a:pt x="25722" y="272985"/>
                  <a:pt x="45719" y="471911"/>
                </a:cubicBezTo>
                <a:cubicBezTo>
                  <a:pt x="65716" y="670837"/>
                  <a:pt x="32897" y="722833"/>
                  <a:pt x="45719" y="943822"/>
                </a:cubicBezTo>
                <a:cubicBezTo>
                  <a:pt x="58541" y="1164811"/>
                  <a:pt x="22032" y="1303409"/>
                  <a:pt x="45719" y="1459518"/>
                </a:cubicBezTo>
                <a:cubicBezTo>
                  <a:pt x="39493" y="1701098"/>
                  <a:pt x="-61689" y="1518722"/>
                  <a:pt x="45719" y="1450726"/>
                </a:cubicBezTo>
              </a:path>
            </a:pathLst>
          </a:custGeom>
          <a:noFill/>
          <a:ln cap="flat" cmpd="sng" w="57150">
            <a:solidFill>
              <a:srgbClr val="FFC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h142865916b425258_6_91"/>
          <p:cNvSpPr/>
          <p:nvPr/>
        </p:nvSpPr>
        <p:spPr>
          <a:xfrm flipH="1">
            <a:off x="10975410" y="5698330"/>
            <a:ext cx="45719" cy="168777"/>
          </a:xfrm>
          <a:custGeom>
            <a:rect b="b" l="l" r="r" t="t"/>
            <a:pathLst>
              <a:path extrusionOk="0" h="168777" w="45719">
                <a:moveTo>
                  <a:pt x="45719" y="0"/>
                </a:moveTo>
                <a:cubicBezTo>
                  <a:pt x="37938" y="57039"/>
                  <a:pt x="51198" y="91646"/>
                  <a:pt x="45719" y="155793"/>
                </a:cubicBezTo>
                <a:cubicBezTo>
                  <a:pt x="49950" y="191799"/>
                  <a:pt x="-66079" y="170017"/>
                  <a:pt x="45719" y="154855"/>
                </a:cubicBez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h142865916b425258_6_1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Smoke Detector - Operation</a:t>
            </a:r>
            <a:endParaRPr/>
          </a:p>
        </p:txBody>
      </p:sp>
      <p:sp>
        <p:nvSpPr>
          <p:cNvPr id="1012" name="Google Shape;1012;h142865916b425258_6_122"/>
          <p:cNvSpPr txBox="1"/>
          <p:nvPr/>
        </p:nvSpPr>
        <p:spPr>
          <a:xfrm>
            <a:off x="1652732" y="1294331"/>
            <a:ext cx="4194803" cy="32207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06" r="-7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h142865916b425258_6_122"/>
          <p:cNvSpPr txBox="1"/>
          <p:nvPr/>
        </p:nvSpPr>
        <p:spPr>
          <a:xfrm>
            <a:off x="6577346" y="1278076"/>
            <a:ext cx="4144083" cy="26725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323" r="-58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" id="1014" name="Google Shape;1014;h142865916b425258_6_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1515" y="4101927"/>
            <a:ext cx="3588119" cy="2307733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h142865916b425258_6_122"/>
          <p:cNvSpPr/>
          <p:nvPr/>
        </p:nvSpPr>
        <p:spPr>
          <a:xfrm>
            <a:off x="6577346" y="2670772"/>
            <a:ext cx="4249538" cy="407406"/>
          </a:xfrm>
          <a:custGeom>
            <a:rect b="b" l="l" r="r" t="t"/>
            <a:pathLst>
              <a:path extrusionOk="0" h="407406" w="4249538">
                <a:moveTo>
                  <a:pt x="0" y="67902"/>
                </a:moveTo>
                <a:cubicBezTo>
                  <a:pt x="40" y="23533"/>
                  <a:pt x="27560" y="10013"/>
                  <a:pt x="67902" y="0"/>
                </a:cubicBezTo>
                <a:cubicBezTo>
                  <a:pt x="282771" y="-64749"/>
                  <a:pt x="572842" y="7125"/>
                  <a:pt x="737853" y="0"/>
                </a:cubicBezTo>
                <a:cubicBezTo>
                  <a:pt x="902864" y="-7125"/>
                  <a:pt x="1084950" y="33414"/>
                  <a:pt x="1202117" y="0"/>
                </a:cubicBezTo>
                <a:cubicBezTo>
                  <a:pt x="1319284" y="-33414"/>
                  <a:pt x="1640335" y="40855"/>
                  <a:pt x="1830931" y="0"/>
                </a:cubicBezTo>
                <a:cubicBezTo>
                  <a:pt x="2021527" y="-40855"/>
                  <a:pt x="2104503" y="51720"/>
                  <a:pt x="2295195" y="0"/>
                </a:cubicBezTo>
                <a:cubicBezTo>
                  <a:pt x="2485887" y="-51720"/>
                  <a:pt x="2771979" y="13416"/>
                  <a:pt x="2924009" y="0"/>
                </a:cubicBezTo>
                <a:cubicBezTo>
                  <a:pt x="3076039" y="-13416"/>
                  <a:pt x="3272806" y="50815"/>
                  <a:pt x="3470548" y="0"/>
                </a:cubicBezTo>
                <a:cubicBezTo>
                  <a:pt x="3668290" y="-50815"/>
                  <a:pt x="3951800" y="55898"/>
                  <a:pt x="4181636" y="0"/>
                </a:cubicBezTo>
                <a:cubicBezTo>
                  <a:pt x="4226609" y="6850"/>
                  <a:pt x="4255543" y="30044"/>
                  <a:pt x="4249538" y="67902"/>
                </a:cubicBezTo>
                <a:cubicBezTo>
                  <a:pt x="4251242" y="166144"/>
                  <a:pt x="4243100" y="222287"/>
                  <a:pt x="4249538" y="339504"/>
                </a:cubicBezTo>
                <a:cubicBezTo>
                  <a:pt x="4249782" y="385110"/>
                  <a:pt x="4223836" y="411880"/>
                  <a:pt x="4181636" y="407406"/>
                </a:cubicBezTo>
                <a:cubicBezTo>
                  <a:pt x="3917763" y="463648"/>
                  <a:pt x="3736940" y="395777"/>
                  <a:pt x="3593960" y="407406"/>
                </a:cubicBezTo>
                <a:cubicBezTo>
                  <a:pt x="3450980" y="419035"/>
                  <a:pt x="3206283" y="357042"/>
                  <a:pt x="3088558" y="407406"/>
                </a:cubicBezTo>
                <a:cubicBezTo>
                  <a:pt x="2970833" y="457770"/>
                  <a:pt x="2666277" y="382399"/>
                  <a:pt x="2542019" y="407406"/>
                </a:cubicBezTo>
                <a:cubicBezTo>
                  <a:pt x="2417761" y="432413"/>
                  <a:pt x="2063651" y="401905"/>
                  <a:pt x="1872068" y="407406"/>
                </a:cubicBezTo>
                <a:cubicBezTo>
                  <a:pt x="1680485" y="412907"/>
                  <a:pt x="1471817" y="393505"/>
                  <a:pt x="1243255" y="407406"/>
                </a:cubicBezTo>
                <a:cubicBezTo>
                  <a:pt x="1014693" y="421307"/>
                  <a:pt x="893560" y="355884"/>
                  <a:pt x="737853" y="407406"/>
                </a:cubicBezTo>
                <a:cubicBezTo>
                  <a:pt x="582146" y="458928"/>
                  <a:pt x="271154" y="388735"/>
                  <a:pt x="67902" y="407406"/>
                </a:cubicBezTo>
                <a:cubicBezTo>
                  <a:pt x="31254" y="417315"/>
                  <a:pt x="922" y="386323"/>
                  <a:pt x="0" y="339504"/>
                </a:cubicBezTo>
                <a:cubicBezTo>
                  <a:pt x="-4483" y="276380"/>
                  <a:pt x="15674" y="192690"/>
                  <a:pt x="0" y="67902"/>
                </a:cubicBez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h142865916b425258_6_122"/>
          <p:cNvSpPr/>
          <p:nvPr/>
        </p:nvSpPr>
        <p:spPr>
          <a:xfrm>
            <a:off x="1541925" y="2734147"/>
            <a:ext cx="4249538" cy="410778"/>
          </a:xfrm>
          <a:custGeom>
            <a:rect b="b" l="l" r="r" t="t"/>
            <a:pathLst>
              <a:path extrusionOk="0" h="410778" w="4249538">
                <a:moveTo>
                  <a:pt x="0" y="68464"/>
                </a:moveTo>
                <a:cubicBezTo>
                  <a:pt x="52" y="21746"/>
                  <a:pt x="28275" y="8375"/>
                  <a:pt x="68464" y="0"/>
                </a:cubicBezTo>
                <a:cubicBezTo>
                  <a:pt x="334531" y="-52261"/>
                  <a:pt x="577325" y="37857"/>
                  <a:pt x="738232" y="0"/>
                </a:cubicBezTo>
                <a:cubicBezTo>
                  <a:pt x="899139" y="-37857"/>
                  <a:pt x="1012613" y="28709"/>
                  <a:pt x="1202369" y="0"/>
                </a:cubicBezTo>
                <a:cubicBezTo>
                  <a:pt x="1392125" y="-28709"/>
                  <a:pt x="1525700" y="55202"/>
                  <a:pt x="1831011" y="0"/>
                </a:cubicBezTo>
                <a:cubicBezTo>
                  <a:pt x="2136322" y="-55202"/>
                  <a:pt x="2198189" y="45302"/>
                  <a:pt x="2295149" y="0"/>
                </a:cubicBezTo>
                <a:cubicBezTo>
                  <a:pt x="2392109" y="-45302"/>
                  <a:pt x="2663035" y="22757"/>
                  <a:pt x="2923790" y="0"/>
                </a:cubicBezTo>
                <a:cubicBezTo>
                  <a:pt x="3184545" y="-22757"/>
                  <a:pt x="3356948" y="42865"/>
                  <a:pt x="3470180" y="0"/>
                </a:cubicBezTo>
                <a:cubicBezTo>
                  <a:pt x="3583412" y="-42865"/>
                  <a:pt x="3896913" y="5389"/>
                  <a:pt x="4181074" y="0"/>
                </a:cubicBezTo>
                <a:cubicBezTo>
                  <a:pt x="4220393" y="1382"/>
                  <a:pt x="4259687" y="30049"/>
                  <a:pt x="4249538" y="68464"/>
                </a:cubicBezTo>
                <a:cubicBezTo>
                  <a:pt x="4264885" y="141566"/>
                  <a:pt x="4239225" y="265811"/>
                  <a:pt x="4249538" y="342314"/>
                </a:cubicBezTo>
                <a:cubicBezTo>
                  <a:pt x="4249718" y="386094"/>
                  <a:pt x="4219838" y="411684"/>
                  <a:pt x="4181074" y="410778"/>
                </a:cubicBezTo>
                <a:cubicBezTo>
                  <a:pt x="3927168" y="432016"/>
                  <a:pt x="3754746" y="388316"/>
                  <a:pt x="3593558" y="410778"/>
                </a:cubicBezTo>
                <a:cubicBezTo>
                  <a:pt x="3432370" y="433240"/>
                  <a:pt x="3245151" y="387269"/>
                  <a:pt x="3088295" y="410778"/>
                </a:cubicBezTo>
                <a:cubicBezTo>
                  <a:pt x="2931439" y="434287"/>
                  <a:pt x="2697170" y="407177"/>
                  <a:pt x="2541905" y="410778"/>
                </a:cubicBezTo>
                <a:cubicBezTo>
                  <a:pt x="2386640" y="414379"/>
                  <a:pt x="2082778" y="339111"/>
                  <a:pt x="1872137" y="410778"/>
                </a:cubicBezTo>
                <a:cubicBezTo>
                  <a:pt x="1661496" y="482445"/>
                  <a:pt x="1452602" y="352314"/>
                  <a:pt x="1243495" y="410778"/>
                </a:cubicBezTo>
                <a:cubicBezTo>
                  <a:pt x="1034388" y="469242"/>
                  <a:pt x="960216" y="410660"/>
                  <a:pt x="738232" y="410778"/>
                </a:cubicBezTo>
                <a:cubicBezTo>
                  <a:pt x="516248" y="410896"/>
                  <a:pt x="295833" y="330878"/>
                  <a:pt x="68464" y="410778"/>
                </a:cubicBezTo>
                <a:cubicBezTo>
                  <a:pt x="30991" y="414718"/>
                  <a:pt x="224" y="382390"/>
                  <a:pt x="0" y="342314"/>
                </a:cubicBezTo>
                <a:cubicBezTo>
                  <a:pt x="-32275" y="226490"/>
                  <a:pt x="1629" y="153281"/>
                  <a:pt x="0" y="68464"/>
                </a:cubicBezTo>
                <a:close/>
              </a:path>
            </a:pathLst>
          </a:custGeom>
          <a:noFill/>
          <a:ln cap="flat" cmpd="sng" w="57150">
            <a:solidFill>
              <a:srgbClr val="FFCC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h142865916b425258_6_122"/>
          <p:cNvSpPr/>
          <p:nvPr/>
        </p:nvSpPr>
        <p:spPr>
          <a:xfrm flipH="1">
            <a:off x="2247673" y="4577836"/>
            <a:ext cx="45719" cy="1581150"/>
          </a:xfrm>
          <a:custGeom>
            <a:rect b="b" l="l" r="r" t="t"/>
            <a:pathLst>
              <a:path extrusionOk="0" h="1581150" w="45719">
                <a:moveTo>
                  <a:pt x="45719" y="0"/>
                </a:moveTo>
                <a:cubicBezTo>
                  <a:pt x="66918" y="231499"/>
                  <a:pt x="25722" y="272985"/>
                  <a:pt x="45719" y="471911"/>
                </a:cubicBezTo>
                <a:cubicBezTo>
                  <a:pt x="65716" y="670837"/>
                  <a:pt x="32897" y="722833"/>
                  <a:pt x="45719" y="943822"/>
                </a:cubicBezTo>
                <a:cubicBezTo>
                  <a:pt x="58541" y="1164811"/>
                  <a:pt x="22032" y="1303409"/>
                  <a:pt x="45719" y="1459518"/>
                </a:cubicBezTo>
                <a:cubicBezTo>
                  <a:pt x="39493" y="1701098"/>
                  <a:pt x="-61689" y="1518722"/>
                  <a:pt x="45719" y="1450726"/>
                </a:cubicBezTo>
              </a:path>
            </a:pathLst>
          </a:custGeom>
          <a:noFill/>
          <a:ln cap="flat" cmpd="sng" w="57150">
            <a:solidFill>
              <a:srgbClr val="FFC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h142865916b425258_6_122"/>
          <p:cNvSpPr/>
          <p:nvPr/>
        </p:nvSpPr>
        <p:spPr>
          <a:xfrm flipH="1">
            <a:off x="4574384" y="5999441"/>
            <a:ext cx="45719" cy="168777"/>
          </a:xfrm>
          <a:custGeom>
            <a:rect b="b" l="l" r="r" t="t"/>
            <a:pathLst>
              <a:path extrusionOk="0" h="168777" w="45719">
                <a:moveTo>
                  <a:pt x="45719" y="0"/>
                </a:moveTo>
                <a:cubicBezTo>
                  <a:pt x="37938" y="57039"/>
                  <a:pt x="51198" y="91646"/>
                  <a:pt x="45719" y="155793"/>
                </a:cubicBezTo>
                <a:cubicBezTo>
                  <a:pt x="49950" y="191799"/>
                  <a:pt x="-66079" y="170017"/>
                  <a:pt x="45719" y="154855"/>
                </a:cubicBez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9" name="Google Shape;1019;h142865916b425258_6_122"/>
          <p:cNvPicPr preferRelativeResize="0"/>
          <p:nvPr/>
        </p:nvPicPr>
        <p:blipFill rotWithShape="1">
          <a:blip r:embed="rId6">
            <a:alphaModFix/>
          </a:blip>
          <a:srcRect b="0" l="2598" r="0" t="0"/>
          <a:stretch/>
        </p:blipFill>
        <p:spPr>
          <a:xfrm>
            <a:off x="6901095" y="3144925"/>
            <a:ext cx="4319309" cy="32013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h142865916b425258_6_122"/>
          <p:cNvSpPr txBox="1"/>
          <p:nvPr/>
        </p:nvSpPr>
        <p:spPr>
          <a:xfrm>
            <a:off x="8595232" y="5271082"/>
            <a:ext cx="11648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Voltage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h142865916b425258_6_122"/>
          <p:cNvSpPr txBox="1"/>
          <p:nvPr/>
        </p:nvSpPr>
        <p:spPr>
          <a:xfrm>
            <a:off x="3104662" y="4287652"/>
            <a:ext cx="3716210" cy="66364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h142865916b425258_6_1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Smoke Detector - Operation</a:t>
            </a:r>
            <a:endParaRPr/>
          </a:p>
        </p:txBody>
      </p:sp>
      <p:sp>
        <p:nvSpPr>
          <p:cNvPr id="1027" name="Google Shape;1027;h142865916b425258_6_136"/>
          <p:cNvSpPr txBox="1"/>
          <p:nvPr/>
        </p:nvSpPr>
        <p:spPr>
          <a:xfrm>
            <a:off x="910360" y="1294331"/>
            <a:ext cx="4194803" cy="46057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06" r="-7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h142865916b425258_6_136"/>
          <p:cNvSpPr txBox="1"/>
          <p:nvPr/>
        </p:nvSpPr>
        <p:spPr>
          <a:xfrm>
            <a:off x="7446478" y="1278076"/>
            <a:ext cx="4144083" cy="45191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324" r="-73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h142865916b425258_6_136"/>
          <p:cNvSpPr/>
          <p:nvPr/>
        </p:nvSpPr>
        <p:spPr>
          <a:xfrm>
            <a:off x="7446478" y="2670772"/>
            <a:ext cx="4144083" cy="407406"/>
          </a:xfrm>
          <a:custGeom>
            <a:rect b="b" l="l" r="r" t="t"/>
            <a:pathLst>
              <a:path extrusionOk="0" h="407406" w="4144083">
                <a:moveTo>
                  <a:pt x="0" y="67902"/>
                </a:moveTo>
                <a:cubicBezTo>
                  <a:pt x="40" y="23533"/>
                  <a:pt x="27560" y="10013"/>
                  <a:pt x="67902" y="0"/>
                </a:cubicBezTo>
                <a:cubicBezTo>
                  <a:pt x="279545" y="-75870"/>
                  <a:pt x="466820" y="73441"/>
                  <a:pt x="720679" y="0"/>
                </a:cubicBezTo>
                <a:cubicBezTo>
                  <a:pt x="974538" y="-73441"/>
                  <a:pt x="1023684" y="30481"/>
                  <a:pt x="1173042" y="0"/>
                </a:cubicBezTo>
                <a:cubicBezTo>
                  <a:pt x="1322400" y="-30481"/>
                  <a:pt x="1563827" y="318"/>
                  <a:pt x="1785736" y="0"/>
                </a:cubicBezTo>
                <a:cubicBezTo>
                  <a:pt x="2007645" y="-318"/>
                  <a:pt x="2079418" y="8853"/>
                  <a:pt x="2238099" y="0"/>
                </a:cubicBezTo>
                <a:cubicBezTo>
                  <a:pt x="2396780" y="-8853"/>
                  <a:pt x="2715728" y="32228"/>
                  <a:pt x="2850793" y="0"/>
                </a:cubicBezTo>
                <a:cubicBezTo>
                  <a:pt x="2985858" y="-32228"/>
                  <a:pt x="3221247" y="53316"/>
                  <a:pt x="3383321" y="0"/>
                </a:cubicBezTo>
                <a:cubicBezTo>
                  <a:pt x="3545395" y="-53316"/>
                  <a:pt x="3735108" y="17537"/>
                  <a:pt x="4076181" y="0"/>
                </a:cubicBezTo>
                <a:cubicBezTo>
                  <a:pt x="4121154" y="6850"/>
                  <a:pt x="4150088" y="30044"/>
                  <a:pt x="4144083" y="67902"/>
                </a:cubicBezTo>
                <a:cubicBezTo>
                  <a:pt x="4145787" y="166144"/>
                  <a:pt x="4137645" y="222287"/>
                  <a:pt x="4144083" y="339504"/>
                </a:cubicBezTo>
                <a:cubicBezTo>
                  <a:pt x="4144327" y="385110"/>
                  <a:pt x="4118381" y="411880"/>
                  <a:pt x="4076181" y="407406"/>
                </a:cubicBezTo>
                <a:cubicBezTo>
                  <a:pt x="3953206" y="463593"/>
                  <a:pt x="3710577" y="347628"/>
                  <a:pt x="3503570" y="407406"/>
                </a:cubicBezTo>
                <a:cubicBezTo>
                  <a:pt x="3296563" y="467184"/>
                  <a:pt x="3111260" y="362262"/>
                  <a:pt x="3011124" y="407406"/>
                </a:cubicBezTo>
                <a:cubicBezTo>
                  <a:pt x="2910988" y="452550"/>
                  <a:pt x="2737757" y="388352"/>
                  <a:pt x="2478596" y="407406"/>
                </a:cubicBezTo>
                <a:cubicBezTo>
                  <a:pt x="2219435" y="426460"/>
                  <a:pt x="2012346" y="380799"/>
                  <a:pt x="1825819" y="407406"/>
                </a:cubicBezTo>
                <a:cubicBezTo>
                  <a:pt x="1639292" y="434013"/>
                  <a:pt x="1338666" y="340819"/>
                  <a:pt x="1213125" y="407406"/>
                </a:cubicBezTo>
                <a:cubicBezTo>
                  <a:pt x="1087584" y="473993"/>
                  <a:pt x="917302" y="373097"/>
                  <a:pt x="720679" y="407406"/>
                </a:cubicBezTo>
                <a:cubicBezTo>
                  <a:pt x="524056" y="441715"/>
                  <a:pt x="323534" y="371172"/>
                  <a:pt x="67902" y="407406"/>
                </a:cubicBezTo>
                <a:cubicBezTo>
                  <a:pt x="31254" y="417315"/>
                  <a:pt x="922" y="386323"/>
                  <a:pt x="0" y="339504"/>
                </a:cubicBezTo>
                <a:cubicBezTo>
                  <a:pt x="-4483" y="276380"/>
                  <a:pt x="15674" y="192690"/>
                  <a:pt x="0" y="67902"/>
                </a:cubicBez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h142865916b425258_6_136"/>
          <p:cNvSpPr/>
          <p:nvPr/>
        </p:nvSpPr>
        <p:spPr>
          <a:xfrm>
            <a:off x="910359" y="2734147"/>
            <a:ext cx="4138731" cy="410778"/>
          </a:xfrm>
          <a:custGeom>
            <a:rect b="b" l="l" r="r" t="t"/>
            <a:pathLst>
              <a:path extrusionOk="0" h="410778" w="4138731">
                <a:moveTo>
                  <a:pt x="0" y="68464"/>
                </a:moveTo>
                <a:cubicBezTo>
                  <a:pt x="52" y="21746"/>
                  <a:pt x="28275" y="8375"/>
                  <a:pt x="68464" y="0"/>
                </a:cubicBezTo>
                <a:cubicBezTo>
                  <a:pt x="270726" y="-17191"/>
                  <a:pt x="522245" y="64634"/>
                  <a:pt x="720186" y="0"/>
                </a:cubicBezTo>
                <a:cubicBezTo>
                  <a:pt x="918127" y="-64634"/>
                  <a:pt x="1057812" y="2293"/>
                  <a:pt x="1171818" y="0"/>
                </a:cubicBezTo>
                <a:cubicBezTo>
                  <a:pt x="1285824" y="-2293"/>
                  <a:pt x="1644054" y="16928"/>
                  <a:pt x="1783522" y="0"/>
                </a:cubicBezTo>
                <a:cubicBezTo>
                  <a:pt x="1922990" y="-16928"/>
                  <a:pt x="2092556" y="15891"/>
                  <a:pt x="2235154" y="0"/>
                </a:cubicBezTo>
                <a:cubicBezTo>
                  <a:pt x="2377752" y="-15891"/>
                  <a:pt x="2635263" y="22293"/>
                  <a:pt x="2846859" y="0"/>
                </a:cubicBezTo>
                <a:cubicBezTo>
                  <a:pt x="3058456" y="-22293"/>
                  <a:pt x="3252487" y="20748"/>
                  <a:pt x="3378527" y="0"/>
                </a:cubicBezTo>
                <a:cubicBezTo>
                  <a:pt x="3504567" y="-20748"/>
                  <a:pt x="3915030" y="79965"/>
                  <a:pt x="4070267" y="0"/>
                </a:cubicBezTo>
                <a:cubicBezTo>
                  <a:pt x="4109586" y="1382"/>
                  <a:pt x="4148880" y="30049"/>
                  <a:pt x="4138731" y="68464"/>
                </a:cubicBezTo>
                <a:cubicBezTo>
                  <a:pt x="4154078" y="141566"/>
                  <a:pt x="4128418" y="265811"/>
                  <a:pt x="4138731" y="342314"/>
                </a:cubicBezTo>
                <a:cubicBezTo>
                  <a:pt x="4138911" y="386094"/>
                  <a:pt x="4109031" y="411684"/>
                  <a:pt x="4070267" y="410778"/>
                </a:cubicBezTo>
                <a:cubicBezTo>
                  <a:pt x="3905722" y="431588"/>
                  <a:pt x="3625264" y="370419"/>
                  <a:pt x="3498581" y="410778"/>
                </a:cubicBezTo>
                <a:cubicBezTo>
                  <a:pt x="3371898" y="451137"/>
                  <a:pt x="3154172" y="400738"/>
                  <a:pt x="3006931" y="410778"/>
                </a:cubicBezTo>
                <a:cubicBezTo>
                  <a:pt x="2859690" y="420818"/>
                  <a:pt x="2688445" y="362944"/>
                  <a:pt x="2475263" y="410778"/>
                </a:cubicBezTo>
                <a:cubicBezTo>
                  <a:pt x="2262081" y="458612"/>
                  <a:pt x="2064264" y="384129"/>
                  <a:pt x="1823540" y="410778"/>
                </a:cubicBezTo>
                <a:cubicBezTo>
                  <a:pt x="1582816" y="437427"/>
                  <a:pt x="1491429" y="407499"/>
                  <a:pt x="1211836" y="410778"/>
                </a:cubicBezTo>
                <a:cubicBezTo>
                  <a:pt x="932243" y="414057"/>
                  <a:pt x="840175" y="402429"/>
                  <a:pt x="720186" y="410778"/>
                </a:cubicBezTo>
                <a:cubicBezTo>
                  <a:pt x="600197" y="419127"/>
                  <a:pt x="255440" y="384439"/>
                  <a:pt x="68464" y="410778"/>
                </a:cubicBezTo>
                <a:cubicBezTo>
                  <a:pt x="30991" y="414718"/>
                  <a:pt x="224" y="382390"/>
                  <a:pt x="0" y="342314"/>
                </a:cubicBezTo>
                <a:cubicBezTo>
                  <a:pt x="-32275" y="226490"/>
                  <a:pt x="1629" y="153281"/>
                  <a:pt x="0" y="68464"/>
                </a:cubicBezTo>
                <a:close/>
              </a:path>
            </a:pathLst>
          </a:custGeom>
          <a:noFill/>
          <a:ln cap="flat" cmpd="sng" w="57150">
            <a:solidFill>
              <a:srgbClr val="FFCC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1" name="Google Shape;1031;h142865916b425258_6_1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848" y="4015854"/>
            <a:ext cx="5247021" cy="2770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h142865916b425258_6_136"/>
          <p:cNvSpPr txBox="1"/>
          <p:nvPr/>
        </p:nvSpPr>
        <p:spPr>
          <a:xfrm>
            <a:off x="5300869" y="5665935"/>
            <a:ext cx="39034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Non-inverting Op-Amp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Google Shape;1037;h142865916b425258_6_146"/>
          <p:cNvGrpSpPr/>
          <p:nvPr/>
        </p:nvGrpSpPr>
        <p:grpSpPr>
          <a:xfrm>
            <a:off x="6197437" y="2014619"/>
            <a:ext cx="4682553" cy="2044394"/>
            <a:chOff x="6197437" y="2014619"/>
            <a:chExt cx="4682553" cy="2044394"/>
          </a:xfrm>
        </p:grpSpPr>
        <p:grpSp>
          <p:nvGrpSpPr>
            <p:cNvPr id="1038" name="Google Shape;1038;h142865916b425258_6_146"/>
            <p:cNvGrpSpPr/>
            <p:nvPr/>
          </p:nvGrpSpPr>
          <p:grpSpPr>
            <a:xfrm>
              <a:off x="6197437" y="2014619"/>
              <a:ext cx="4682553" cy="1980751"/>
              <a:chOff x="6197437" y="2014619"/>
              <a:chExt cx="4682553" cy="1980751"/>
            </a:xfrm>
          </p:grpSpPr>
          <p:grpSp>
            <p:nvGrpSpPr>
              <p:cNvPr id="1039" name="Google Shape;1039;h142865916b425258_6_146"/>
              <p:cNvGrpSpPr/>
              <p:nvPr/>
            </p:nvGrpSpPr>
            <p:grpSpPr>
              <a:xfrm>
                <a:off x="6197437" y="2014619"/>
                <a:ext cx="4333181" cy="1980751"/>
                <a:chOff x="6197437" y="2014619"/>
                <a:chExt cx="4333181" cy="1980751"/>
              </a:xfrm>
            </p:grpSpPr>
            <p:pic>
              <p:nvPicPr>
                <p:cNvPr id="1040" name="Google Shape;1040;h142865916b425258_6_1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10803" l="0" r="0" t="0"/>
                <a:stretch/>
              </p:blipFill>
              <p:spPr>
                <a:xfrm>
                  <a:off x="6197437" y="2014619"/>
                  <a:ext cx="4206303" cy="1980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041" name="Google Shape;1041;h142865916b425258_6_146"/>
                <p:cNvCxnSpPr/>
                <p:nvPr/>
              </p:nvCxnSpPr>
              <p:spPr>
                <a:xfrm rot="10800000">
                  <a:off x="8004701" y="3088198"/>
                  <a:ext cx="2525917" cy="0"/>
                </a:xfrm>
                <a:prstGeom prst="straightConnector1">
                  <a:avLst/>
                </a:prstGeom>
                <a:noFill/>
                <a:ln cap="flat" cmpd="sng" w="298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pic>
            <p:nvPicPr>
              <p:cNvPr id="1042" name="Google Shape;1042;h142865916b425258_6_14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8440" y="2787139"/>
                <a:ext cx="971550" cy="981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43" name="Google Shape;1043;h142865916b425258_6_146"/>
            <p:cNvSpPr txBox="1"/>
            <p:nvPr/>
          </p:nvSpPr>
          <p:spPr>
            <a:xfrm>
              <a:off x="7634027" y="2170110"/>
              <a:ext cx="724173" cy="33855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h142865916b425258_6_146"/>
            <p:cNvSpPr txBox="1"/>
            <p:nvPr/>
          </p:nvSpPr>
          <p:spPr>
            <a:xfrm>
              <a:off x="7634026" y="3720459"/>
              <a:ext cx="724173" cy="33855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5" name="Google Shape;1045;h142865916b425258_6_1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Smoke Detector - Operation</a:t>
            </a:r>
            <a:endParaRPr/>
          </a:p>
        </p:txBody>
      </p:sp>
      <p:pic>
        <p:nvPicPr>
          <p:cNvPr descr="Picture" id="1046" name="Google Shape;1046;h142865916b425258_6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6924" y="3889736"/>
            <a:ext cx="2257464" cy="1531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h142865916b425258_6_146"/>
          <p:cNvPicPr preferRelativeResize="0"/>
          <p:nvPr/>
        </p:nvPicPr>
        <p:blipFill rotWithShape="1">
          <a:blip r:embed="rId8">
            <a:alphaModFix/>
          </a:blip>
          <a:srcRect b="0" l="2598" r="0" t="0"/>
          <a:stretch/>
        </p:blipFill>
        <p:spPr>
          <a:xfrm>
            <a:off x="4667909" y="3660108"/>
            <a:ext cx="3690291" cy="2735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h142865916b425258_6_146"/>
          <p:cNvSpPr txBox="1"/>
          <p:nvPr/>
        </p:nvSpPr>
        <p:spPr>
          <a:xfrm>
            <a:off x="3476924" y="5748876"/>
            <a:ext cx="10879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Voltage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h142865916b425258_6_146"/>
          <p:cNvSpPr txBox="1"/>
          <p:nvPr/>
        </p:nvSpPr>
        <p:spPr>
          <a:xfrm>
            <a:off x="7487216" y="3280173"/>
            <a:ext cx="24426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Non-inverting Op-Amp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0" name="Google Shape;1050;h142865916b425258_6_1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8681" y="2228249"/>
            <a:ext cx="2217583" cy="1480643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h142865916b425258_6_146"/>
          <p:cNvSpPr txBox="1"/>
          <p:nvPr/>
        </p:nvSpPr>
        <p:spPr>
          <a:xfrm>
            <a:off x="1576016" y="3826907"/>
            <a:ext cx="1205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LED Circuit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h142865916b425258_6_146"/>
          <p:cNvSpPr txBox="1"/>
          <p:nvPr/>
        </p:nvSpPr>
        <p:spPr>
          <a:xfrm>
            <a:off x="838200" y="1452154"/>
            <a:ext cx="10515599" cy="46307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1052" l="-52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3" name="Google Shape;1053;h142865916b425258_6_146"/>
          <p:cNvCxnSpPr/>
          <p:nvPr/>
        </p:nvCxnSpPr>
        <p:spPr>
          <a:xfrm>
            <a:off x="2792319" y="3583234"/>
            <a:ext cx="548410" cy="613005"/>
          </a:xfrm>
          <a:prstGeom prst="straightConnector1">
            <a:avLst/>
          </a:prstGeom>
          <a:noFill/>
          <a:ln cap="rnd" cmpd="sng" w="571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054" name="Google Shape;1054;h142865916b425258_6_146"/>
          <p:cNvCxnSpPr/>
          <p:nvPr/>
        </p:nvCxnSpPr>
        <p:spPr>
          <a:xfrm flipH="1" rot="10800000">
            <a:off x="7378700" y="4150861"/>
            <a:ext cx="307975" cy="275089"/>
          </a:xfrm>
          <a:prstGeom prst="straightConnector1">
            <a:avLst/>
          </a:prstGeom>
          <a:noFill/>
          <a:ln cap="rnd" cmpd="sng" w="571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055" name="Google Shape;1055;h142865916b425258_6_146"/>
          <p:cNvSpPr/>
          <p:nvPr/>
        </p:nvSpPr>
        <p:spPr>
          <a:xfrm>
            <a:off x="894978" y="1538569"/>
            <a:ext cx="3286497" cy="319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h142865916b425258_6_146"/>
          <p:cNvSpPr/>
          <p:nvPr/>
        </p:nvSpPr>
        <p:spPr>
          <a:xfrm>
            <a:off x="4181475" y="1566740"/>
            <a:ext cx="2247033" cy="3527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h142865916b425258_6_146"/>
          <p:cNvSpPr/>
          <p:nvPr/>
        </p:nvSpPr>
        <p:spPr>
          <a:xfrm>
            <a:off x="6428509" y="1647424"/>
            <a:ext cx="4763365" cy="3527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h142865916b425258_6_146"/>
          <p:cNvSpPr/>
          <p:nvPr/>
        </p:nvSpPr>
        <p:spPr>
          <a:xfrm flipH="1">
            <a:off x="4891461" y="5070763"/>
            <a:ext cx="45719" cy="187599"/>
          </a:xfrm>
          <a:custGeom>
            <a:rect b="b" l="l" r="r" t="t"/>
            <a:pathLst>
              <a:path extrusionOk="0" h="187599" w="45719">
                <a:moveTo>
                  <a:pt x="45719" y="0"/>
                </a:moveTo>
                <a:cubicBezTo>
                  <a:pt x="54034" y="55746"/>
                  <a:pt x="38244" y="93204"/>
                  <a:pt x="45719" y="173167"/>
                </a:cubicBezTo>
                <a:cubicBezTo>
                  <a:pt x="50446" y="213249"/>
                  <a:pt x="-68079" y="189866"/>
                  <a:pt x="45719" y="172124"/>
                </a:cubicBez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h142865916b425258_6_146"/>
          <p:cNvSpPr txBox="1"/>
          <p:nvPr/>
        </p:nvSpPr>
        <p:spPr>
          <a:xfrm>
            <a:off x="6442873" y="1805357"/>
            <a:ext cx="182225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h142865916b425258_6_172"/>
          <p:cNvGrpSpPr/>
          <p:nvPr/>
        </p:nvGrpSpPr>
        <p:grpSpPr>
          <a:xfrm>
            <a:off x="6197437" y="2014619"/>
            <a:ext cx="4682553" cy="2044394"/>
            <a:chOff x="6197437" y="2014619"/>
            <a:chExt cx="4682553" cy="2044394"/>
          </a:xfrm>
        </p:grpSpPr>
        <p:grpSp>
          <p:nvGrpSpPr>
            <p:cNvPr id="1065" name="Google Shape;1065;h142865916b425258_6_172"/>
            <p:cNvGrpSpPr/>
            <p:nvPr/>
          </p:nvGrpSpPr>
          <p:grpSpPr>
            <a:xfrm>
              <a:off x="6197437" y="2014619"/>
              <a:ext cx="4682553" cy="1980751"/>
              <a:chOff x="6197437" y="2014619"/>
              <a:chExt cx="4682553" cy="1980751"/>
            </a:xfrm>
          </p:grpSpPr>
          <p:grpSp>
            <p:nvGrpSpPr>
              <p:cNvPr id="1066" name="Google Shape;1066;h142865916b425258_6_172"/>
              <p:cNvGrpSpPr/>
              <p:nvPr/>
            </p:nvGrpSpPr>
            <p:grpSpPr>
              <a:xfrm>
                <a:off x="6197437" y="2014619"/>
                <a:ext cx="4333181" cy="1980751"/>
                <a:chOff x="6197437" y="2014619"/>
                <a:chExt cx="4333181" cy="1980751"/>
              </a:xfrm>
            </p:grpSpPr>
            <p:pic>
              <p:nvPicPr>
                <p:cNvPr id="1067" name="Google Shape;1067;h142865916b425258_6_17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10803" l="0" r="0" t="0"/>
                <a:stretch/>
              </p:blipFill>
              <p:spPr>
                <a:xfrm>
                  <a:off x="6197437" y="2014619"/>
                  <a:ext cx="4206303" cy="1980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068" name="Google Shape;1068;h142865916b425258_6_172"/>
                <p:cNvCxnSpPr/>
                <p:nvPr/>
              </p:nvCxnSpPr>
              <p:spPr>
                <a:xfrm rot="10800000">
                  <a:off x="8004701" y="3088198"/>
                  <a:ext cx="2525917" cy="0"/>
                </a:xfrm>
                <a:prstGeom prst="straightConnector1">
                  <a:avLst/>
                </a:prstGeom>
                <a:noFill/>
                <a:ln cap="flat" cmpd="sng" w="298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pic>
            <p:nvPicPr>
              <p:cNvPr id="1069" name="Google Shape;1069;h142865916b425258_6_17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8440" y="2787139"/>
                <a:ext cx="971550" cy="981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70" name="Google Shape;1070;h142865916b425258_6_172"/>
            <p:cNvSpPr txBox="1"/>
            <p:nvPr/>
          </p:nvSpPr>
          <p:spPr>
            <a:xfrm>
              <a:off x="7634027" y="2170110"/>
              <a:ext cx="724173" cy="33855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h142865916b425258_6_172"/>
            <p:cNvSpPr txBox="1"/>
            <p:nvPr/>
          </p:nvSpPr>
          <p:spPr>
            <a:xfrm>
              <a:off x="7634026" y="3720459"/>
              <a:ext cx="724173" cy="33855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2" name="Google Shape;1072;h142865916b425258_6_1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Smoke Detector - Operation</a:t>
            </a:r>
            <a:endParaRPr/>
          </a:p>
        </p:txBody>
      </p:sp>
      <p:pic>
        <p:nvPicPr>
          <p:cNvPr descr="Picture" id="1073" name="Google Shape;1073;h142865916b425258_6_1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6924" y="3889736"/>
            <a:ext cx="2257464" cy="1531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h142865916b425258_6_172"/>
          <p:cNvPicPr preferRelativeResize="0"/>
          <p:nvPr/>
        </p:nvPicPr>
        <p:blipFill rotWithShape="1">
          <a:blip r:embed="rId8">
            <a:alphaModFix/>
          </a:blip>
          <a:srcRect b="0" l="2598" r="0" t="0"/>
          <a:stretch/>
        </p:blipFill>
        <p:spPr>
          <a:xfrm>
            <a:off x="4667909" y="3660108"/>
            <a:ext cx="3690291" cy="2735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h142865916b425258_6_172"/>
          <p:cNvSpPr txBox="1"/>
          <p:nvPr/>
        </p:nvSpPr>
        <p:spPr>
          <a:xfrm>
            <a:off x="3476924" y="5748876"/>
            <a:ext cx="10879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Voltage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h142865916b425258_6_172"/>
          <p:cNvSpPr txBox="1"/>
          <p:nvPr/>
        </p:nvSpPr>
        <p:spPr>
          <a:xfrm>
            <a:off x="7487216" y="3280173"/>
            <a:ext cx="24426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Non-inverting Op-Amp comparator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7" name="Google Shape;1077;h142865916b425258_6_1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8681" y="2228249"/>
            <a:ext cx="2217583" cy="1480643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h142865916b425258_6_172"/>
          <p:cNvSpPr txBox="1"/>
          <p:nvPr/>
        </p:nvSpPr>
        <p:spPr>
          <a:xfrm>
            <a:off x="1576016" y="3826907"/>
            <a:ext cx="1205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LED Circuit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h142865916b425258_6_172"/>
          <p:cNvSpPr txBox="1"/>
          <p:nvPr/>
        </p:nvSpPr>
        <p:spPr>
          <a:xfrm>
            <a:off x="838200" y="1452154"/>
            <a:ext cx="10515599" cy="46307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1052" l="-52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0" name="Google Shape;1080;h142865916b425258_6_172"/>
          <p:cNvCxnSpPr/>
          <p:nvPr/>
        </p:nvCxnSpPr>
        <p:spPr>
          <a:xfrm>
            <a:off x="2792319" y="3583234"/>
            <a:ext cx="548410" cy="613005"/>
          </a:xfrm>
          <a:prstGeom prst="straightConnector1">
            <a:avLst/>
          </a:prstGeom>
          <a:noFill/>
          <a:ln cap="rnd" cmpd="sng" w="571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081" name="Google Shape;1081;h142865916b425258_6_172"/>
          <p:cNvCxnSpPr/>
          <p:nvPr/>
        </p:nvCxnSpPr>
        <p:spPr>
          <a:xfrm flipH="1" rot="10800000">
            <a:off x="7378700" y="4150861"/>
            <a:ext cx="307975" cy="275089"/>
          </a:xfrm>
          <a:prstGeom prst="straightConnector1">
            <a:avLst/>
          </a:prstGeom>
          <a:noFill/>
          <a:ln cap="rnd" cmpd="sng" w="571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082" name="Google Shape;1082;h142865916b425258_6_172"/>
          <p:cNvSpPr/>
          <p:nvPr/>
        </p:nvSpPr>
        <p:spPr>
          <a:xfrm flipH="1">
            <a:off x="4891461" y="5070763"/>
            <a:ext cx="45719" cy="187599"/>
          </a:xfrm>
          <a:custGeom>
            <a:rect b="b" l="l" r="r" t="t"/>
            <a:pathLst>
              <a:path extrusionOk="0" h="187599" w="45719">
                <a:moveTo>
                  <a:pt x="45719" y="0"/>
                </a:moveTo>
                <a:cubicBezTo>
                  <a:pt x="54034" y="55746"/>
                  <a:pt x="38244" y="93204"/>
                  <a:pt x="45719" y="173167"/>
                </a:cubicBezTo>
                <a:cubicBezTo>
                  <a:pt x="50446" y="213249"/>
                  <a:pt x="-68079" y="189866"/>
                  <a:pt x="45719" y="172124"/>
                </a:cubicBez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h142865916b425258_6_172"/>
          <p:cNvSpPr txBox="1"/>
          <p:nvPr/>
        </p:nvSpPr>
        <p:spPr>
          <a:xfrm>
            <a:off x="6442873" y="1805357"/>
            <a:ext cx="182225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h142865916b425258_6_1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Comparator Application – Automatic AC</a:t>
            </a:r>
            <a:endParaRPr/>
          </a:p>
        </p:txBody>
      </p:sp>
      <p:grpSp>
        <p:nvGrpSpPr>
          <p:cNvPr id="1089" name="Google Shape;1089;h142865916b425258_6_195"/>
          <p:cNvGrpSpPr/>
          <p:nvPr/>
        </p:nvGrpSpPr>
        <p:grpSpPr>
          <a:xfrm>
            <a:off x="5032772" y="1929539"/>
            <a:ext cx="5846376" cy="2585092"/>
            <a:chOff x="6197437" y="2014619"/>
            <a:chExt cx="4682553" cy="2070484"/>
          </a:xfrm>
        </p:grpSpPr>
        <p:grpSp>
          <p:nvGrpSpPr>
            <p:cNvPr id="1090" name="Google Shape;1090;h142865916b425258_6_195"/>
            <p:cNvGrpSpPr/>
            <p:nvPr/>
          </p:nvGrpSpPr>
          <p:grpSpPr>
            <a:xfrm>
              <a:off x="6197437" y="2014619"/>
              <a:ext cx="4682553" cy="1980751"/>
              <a:chOff x="6197437" y="2014619"/>
              <a:chExt cx="4682553" cy="1980751"/>
            </a:xfrm>
          </p:grpSpPr>
          <p:grpSp>
            <p:nvGrpSpPr>
              <p:cNvPr id="1091" name="Google Shape;1091;h142865916b425258_6_195"/>
              <p:cNvGrpSpPr/>
              <p:nvPr/>
            </p:nvGrpSpPr>
            <p:grpSpPr>
              <a:xfrm>
                <a:off x="6197437" y="2014619"/>
                <a:ext cx="4333181" cy="1980751"/>
                <a:chOff x="6197437" y="2014619"/>
                <a:chExt cx="4333181" cy="1980751"/>
              </a:xfrm>
            </p:grpSpPr>
            <p:pic>
              <p:nvPicPr>
                <p:cNvPr id="1092" name="Google Shape;1092;h142865916b425258_6_19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10803" l="0" r="0" t="0"/>
                <a:stretch/>
              </p:blipFill>
              <p:spPr>
                <a:xfrm>
                  <a:off x="6197437" y="2014619"/>
                  <a:ext cx="4206303" cy="1980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093" name="Google Shape;1093;h142865916b425258_6_195"/>
                <p:cNvCxnSpPr/>
                <p:nvPr/>
              </p:nvCxnSpPr>
              <p:spPr>
                <a:xfrm rot="10800000">
                  <a:off x="8004701" y="3088198"/>
                  <a:ext cx="2525917" cy="0"/>
                </a:xfrm>
                <a:prstGeom prst="straightConnector1">
                  <a:avLst/>
                </a:prstGeom>
                <a:noFill/>
                <a:ln cap="flat" cmpd="sng" w="298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pic>
            <p:nvPicPr>
              <p:cNvPr id="1094" name="Google Shape;1094;h142865916b425258_6_1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8440" y="2787139"/>
                <a:ext cx="971550" cy="981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95" name="Google Shape;1095;h142865916b425258_6_195"/>
            <p:cNvSpPr txBox="1"/>
            <p:nvPr/>
          </p:nvSpPr>
          <p:spPr>
            <a:xfrm>
              <a:off x="7589300" y="2212855"/>
              <a:ext cx="724173" cy="33855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h142865916b425258_6_195"/>
            <p:cNvSpPr txBox="1"/>
            <p:nvPr/>
          </p:nvSpPr>
          <p:spPr>
            <a:xfrm>
              <a:off x="7589300" y="3746549"/>
              <a:ext cx="724173" cy="33855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7" name="Google Shape;1097;h142865916b425258_6_195"/>
          <p:cNvSpPr/>
          <p:nvPr/>
        </p:nvSpPr>
        <p:spPr>
          <a:xfrm>
            <a:off x="10352617" y="2916767"/>
            <a:ext cx="827616" cy="817615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h142865916b425258_6_195"/>
          <p:cNvSpPr/>
          <p:nvPr/>
        </p:nvSpPr>
        <p:spPr>
          <a:xfrm>
            <a:off x="827971" y="3353492"/>
            <a:ext cx="1484034" cy="405051"/>
          </a:xfrm>
          <a:custGeom>
            <a:rect b="b" l="l" r="r" t="t"/>
            <a:pathLst>
              <a:path extrusionOk="0" fill="none" h="405051" w="1484034">
                <a:moveTo>
                  <a:pt x="0" y="61754"/>
                </a:moveTo>
                <a:cubicBezTo>
                  <a:pt x="327" y="31944"/>
                  <a:pt x="33559" y="5558"/>
                  <a:pt x="61754" y="0"/>
                </a:cubicBezTo>
                <a:cubicBezTo>
                  <a:pt x="182095" y="-44377"/>
                  <a:pt x="423716" y="34454"/>
                  <a:pt x="515263" y="0"/>
                </a:cubicBezTo>
                <a:cubicBezTo>
                  <a:pt x="606810" y="-34454"/>
                  <a:pt x="752346" y="30828"/>
                  <a:pt x="941561" y="0"/>
                </a:cubicBezTo>
                <a:cubicBezTo>
                  <a:pt x="1130776" y="-30828"/>
                  <a:pt x="1235740" y="31521"/>
                  <a:pt x="1422280" y="0"/>
                </a:cubicBezTo>
                <a:cubicBezTo>
                  <a:pt x="1457522" y="241"/>
                  <a:pt x="1484537" y="34843"/>
                  <a:pt x="1484034" y="61754"/>
                </a:cubicBezTo>
                <a:cubicBezTo>
                  <a:pt x="1511152" y="148261"/>
                  <a:pt x="1480501" y="208089"/>
                  <a:pt x="1484034" y="343297"/>
                </a:cubicBezTo>
                <a:cubicBezTo>
                  <a:pt x="1483580" y="378500"/>
                  <a:pt x="1454141" y="400153"/>
                  <a:pt x="1422280" y="405051"/>
                </a:cubicBezTo>
                <a:cubicBezTo>
                  <a:pt x="1269837" y="455206"/>
                  <a:pt x="1139770" y="372310"/>
                  <a:pt x="982377" y="405051"/>
                </a:cubicBezTo>
                <a:cubicBezTo>
                  <a:pt x="824984" y="437792"/>
                  <a:pt x="654824" y="368059"/>
                  <a:pt x="542473" y="405051"/>
                </a:cubicBezTo>
                <a:cubicBezTo>
                  <a:pt x="430122" y="442043"/>
                  <a:pt x="279541" y="364449"/>
                  <a:pt x="61754" y="405051"/>
                </a:cubicBezTo>
                <a:cubicBezTo>
                  <a:pt x="23153" y="409831"/>
                  <a:pt x="7748" y="370937"/>
                  <a:pt x="0" y="343297"/>
                </a:cubicBezTo>
                <a:cubicBezTo>
                  <a:pt x="-33333" y="231021"/>
                  <a:pt x="27565" y="122484"/>
                  <a:pt x="0" y="61754"/>
                </a:cubicBezTo>
                <a:close/>
              </a:path>
              <a:path extrusionOk="0" h="405051" w="1484034">
                <a:moveTo>
                  <a:pt x="0" y="61754"/>
                </a:moveTo>
                <a:cubicBezTo>
                  <a:pt x="2762" y="28683"/>
                  <a:pt x="28436" y="-5324"/>
                  <a:pt x="61754" y="0"/>
                </a:cubicBezTo>
                <a:cubicBezTo>
                  <a:pt x="181841" y="-51070"/>
                  <a:pt x="431044" y="52561"/>
                  <a:pt x="542473" y="0"/>
                </a:cubicBezTo>
                <a:cubicBezTo>
                  <a:pt x="653902" y="-52561"/>
                  <a:pt x="855855" y="51286"/>
                  <a:pt x="995982" y="0"/>
                </a:cubicBezTo>
                <a:cubicBezTo>
                  <a:pt x="1136109" y="-51286"/>
                  <a:pt x="1329992" y="10779"/>
                  <a:pt x="1422280" y="0"/>
                </a:cubicBezTo>
                <a:cubicBezTo>
                  <a:pt x="1448012" y="-195"/>
                  <a:pt x="1480837" y="25029"/>
                  <a:pt x="1484034" y="61754"/>
                </a:cubicBezTo>
                <a:cubicBezTo>
                  <a:pt x="1491804" y="128896"/>
                  <a:pt x="1469688" y="234523"/>
                  <a:pt x="1484034" y="343297"/>
                </a:cubicBezTo>
                <a:cubicBezTo>
                  <a:pt x="1487601" y="376837"/>
                  <a:pt x="1448095" y="407338"/>
                  <a:pt x="1422280" y="405051"/>
                </a:cubicBezTo>
                <a:cubicBezTo>
                  <a:pt x="1325958" y="437540"/>
                  <a:pt x="1144329" y="379684"/>
                  <a:pt x="995982" y="405051"/>
                </a:cubicBezTo>
                <a:cubicBezTo>
                  <a:pt x="847635" y="430418"/>
                  <a:pt x="755140" y="362375"/>
                  <a:pt x="556078" y="405051"/>
                </a:cubicBezTo>
                <a:cubicBezTo>
                  <a:pt x="357016" y="447727"/>
                  <a:pt x="236212" y="364174"/>
                  <a:pt x="61754" y="405051"/>
                </a:cubicBezTo>
                <a:cubicBezTo>
                  <a:pt x="24704" y="409056"/>
                  <a:pt x="-4216" y="375817"/>
                  <a:pt x="0" y="343297"/>
                </a:cubicBezTo>
                <a:cubicBezTo>
                  <a:pt x="-15502" y="268345"/>
                  <a:pt x="3408" y="187126"/>
                  <a:pt x="0" y="61754"/>
                </a:cubicBezTo>
                <a:close/>
              </a:path>
            </a:pathLst>
          </a:cu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9" name="Google Shape;1099;h142865916b425258_6_195"/>
          <p:cNvCxnSpPr>
            <a:stCxn id="1098" idx="3"/>
            <a:endCxn id="1100" idx="1"/>
          </p:cNvCxnSpPr>
          <p:nvPr/>
        </p:nvCxnSpPr>
        <p:spPr>
          <a:xfrm flipH="1" rot="10800000">
            <a:off x="2312040" y="3546454"/>
            <a:ext cx="446400" cy="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00" name="Google Shape;1100;h142865916b425258_6_195"/>
          <p:cNvSpPr/>
          <p:nvPr/>
        </p:nvSpPr>
        <p:spPr>
          <a:xfrm>
            <a:off x="2758440" y="3166067"/>
            <a:ext cx="1504608" cy="76077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Temperature Sensor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1" name="Google Shape;1101;h142865916b425258_6_195"/>
          <p:cNvCxnSpPr>
            <a:stCxn id="1100" idx="3"/>
          </p:cNvCxnSpPr>
          <p:nvPr/>
        </p:nvCxnSpPr>
        <p:spPr>
          <a:xfrm flipH="1" rot="10800000">
            <a:off x="4263048" y="3523654"/>
            <a:ext cx="893100" cy="2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02" name="Google Shape;1102;h142865916b425258_6_195"/>
          <p:cNvSpPr/>
          <p:nvPr/>
        </p:nvSpPr>
        <p:spPr>
          <a:xfrm>
            <a:off x="3649757" y="1835192"/>
            <a:ext cx="1607731" cy="914113"/>
          </a:xfrm>
          <a:prstGeom prst="roundRect">
            <a:avLst>
              <a:gd fmla="val 41577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Sensitivity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3" name="Google Shape;1103;h142865916b425258_6_195"/>
          <p:cNvCxnSpPr>
            <a:stCxn id="1102" idx="2"/>
          </p:cNvCxnSpPr>
          <p:nvPr/>
        </p:nvCxnSpPr>
        <p:spPr>
          <a:xfrm flipH="1" rot="-5400000">
            <a:off x="4665723" y="2537205"/>
            <a:ext cx="222600" cy="646800"/>
          </a:xfrm>
          <a:prstGeom prst="bentConnector2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04" name="Google Shape;1104;h142865916b425258_6_195"/>
          <p:cNvSpPr txBox="1"/>
          <p:nvPr>
            <p:ph idx="1" type="body"/>
          </p:nvPr>
        </p:nvSpPr>
        <p:spPr>
          <a:xfrm>
            <a:off x="838199" y="4753483"/>
            <a:ext cx="10515599" cy="142347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9011" l="-984" r="0" t="-72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h142865916b425258_6_2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110" name="Google Shape;1110;h142865916b425258_6_215"/>
          <p:cNvSpPr txBox="1"/>
          <p:nvPr>
            <p:ph idx="1" type="body"/>
          </p:nvPr>
        </p:nvSpPr>
        <p:spPr>
          <a:xfrm>
            <a:off x="838199" y="4753483"/>
            <a:ext cx="10515599" cy="14234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011" l="-985" r="-1622" t="-72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1111" name="Google Shape;1111;h142865916b425258_6_215"/>
          <p:cNvGrpSpPr/>
          <p:nvPr/>
        </p:nvGrpSpPr>
        <p:grpSpPr>
          <a:xfrm>
            <a:off x="5032772" y="1929539"/>
            <a:ext cx="5846376" cy="2585092"/>
            <a:chOff x="6197437" y="2014619"/>
            <a:chExt cx="4682553" cy="2070484"/>
          </a:xfrm>
        </p:grpSpPr>
        <p:grpSp>
          <p:nvGrpSpPr>
            <p:cNvPr id="1112" name="Google Shape;1112;h142865916b425258_6_215"/>
            <p:cNvGrpSpPr/>
            <p:nvPr/>
          </p:nvGrpSpPr>
          <p:grpSpPr>
            <a:xfrm>
              <a:off x="6197437" y="2014619"/>
              <a:ext cx="4682553" cy="1980751"/>
              <a:chOff x="6197437" y="2014619"/>
              <a:chExt cx="4682553" cy="1980751"/>
            </a:xfrm>
          </p:grpSpPr>
          <p:grpSp>
            <p:nvGrpSpPr>
              <p:cNvPr id="1113" name="Google Shape;1113;h142865916b425258_6_215"/>
              <p:cNvGrpSpPr/>
              <p:nvPr/>
            </p:nvGrpSpPr>
            <p:grpSpPr>
              <a:xfrm>
                <a:off x="6197437" y="2014619"/>
                <a:ext cx="4333181" cy="1980751"/>
                <a:chOff x="6197437" y="2014619"/>
                <a:chExt cx="4333181" cy="1980751"/>
              </a:xfrm>
            </p:grpSpPr>
            <p:pic>
              <p:nvPicPr>
                <p:cNvPr id="1114" name="Google Shape;1114;h142865916b425258_6_21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10803" l="0" r="0" t="0"/>
                <a:stretch/>
              </p:blipFill>
              <p:spPr>
                <a:xfrm>
                  <a:off x="6197437" y="2014619"/>
                  <a:ext cx="4206303" cy="1980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115" name="Google Shape;1115;h142865916b425258_6_215"/>
                <p:cNvCxnSpPr/>
                <p:nvPr/>
              </p:nvCxnSpPr>
              <p:spPr>
                <a:xfrm rot="10800000">
                  <a:off x="8004701" y="3088198"/>
                  <a:ext cx="2525917" cy="0"/>
                </a:xfrm>
                <a:prstGeom prst="straightConnector1">
                  <a:avLst/>
                </a:prstGeom>
                <a:noFill/>
                <a:ln cap="flat" cmpd="sng" w="298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pic>
            <p:nvPicPr>
              <p:cNvPr id="1116" name="Google Shape;1116;h142865916b425258_6_2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908440" y="2787139"/>
                <a:ext cx="971550" cy="981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17" name="Google Shape;1117;h142865916b425258_6_215"/>
            <p:cNvSpPr txBox="1"/>
            <p:nvPr/>
          </p:nvSpPr>
          <p:spPr>
            <a:xfrm>
              <a:off x="7589300" y="2212855"/>
              <a:ext cx="724173" cy="33855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h142865916b425258_6_215"/>
            <p:cNvSpPr txBox="1"/>
            <p:nvPr/>
          </p:nvSpPr>
          <p:spPr>
            <a:xfrm>
              <a:off x="7589300" y="3746549"/>
              <a:ext cx="724173" cy="33855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9" name="Google Shape;1119;h142865916b425258_6_215"/>
          <p:cNvSpPr/>
          <p:nvPr/>
        </p:nvSpPr>
        <p:spPr>
          <a:xfrm>
            <a:off x="10352617" y="2916767"/>
            <a:ext cx="827616" cy="817615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Device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h142865916b425258_6_215"/>
          <p:cNvSpPr/>
          <p:nvPr/>
        </p:nvSpPr>
        <p:spPr>
          <a:xfrm>
            <a:off x="838199" y="3166067"/>
            <a:ext cx="1168400" cy="715089"/>
          </a:xfrm>
          <a:custGeom>
            <a:rect b="b" l="l" r="r" t="t"/>
            <a:pathLst>
              <a:path extrusionOk="0" fill="none" h="715089" w="1168400">
                <a:moveTo>
                  <a:pt x="0" y="109022"/>
                </a:moveTo>
                <a:cubicBezTo>
                  <a:pt x="12089" y="45426"/>
                  <a:pt x="61926" y="10760"/>
                  <a:pt x="109022" y="0"/>
                </a:cubicBezTo>
                <a:cubicBezTo>
                  <a:pt x="206132" y="-21495"/>
                  <a:pt x="404116" y="44131"/>
                  <a:pt x="565193" y="0"/>
                </a:cubicBezTo>
                <a:cubicBezTo>
                  <a:pt x="726270" y="-44131"/>
                  <a:pt x="876809" y="9445"/>
                  <a:pt x="1059378" y="0"/>
                </a:cubicBezTo>
                <a:cubicBezTo>
                  <a:pt x="1116486" y="-15339"/>
                  <a:pt x="1162782" y="47965"/>
                  <a:pt x="1168400" y="109022"/>
                </a:cubicBezTo>
                <a:cubicBezTo>
                  <a:pt x="1206103" y="270430"/>
                  <a:pt x="1155753" y="390013"/>
                  <a:pt x="1168400" y="606067"/>
                </a:cubicBezTo>
                <a:cubicBezTo>
                  <a:pt x="1182115" y="669191"/>
                  <a:pt x="1119680" y="716395"/>
                  <a:pt x="1059378" y="715089"/>
                </a:cubicBezTo>
                <a:cubicBezTo>
                  <a:pt x="909264" y="723077"/>
                  <a:pt x="743025" y="712895"/>
                  <a:pt x="612711" y="715089"/>
                </a:cubicBezTo>
                <a:cubicBezTo>
                  <a:pt x="482397" y="717283"/>
                  <a:pt x="316643" y="672695"/>
                  <a:pt x="109022" y="715089"/>
                </a:cubicBezTo>
                <a:cubicBezTo>
                  <a:pt x="56235" y="731134"/>
                  <a:pt x="-2453" y="666193"/>
                  <a:pt x="0" y="606067"/>
                </a:cubicBezTo>
                <a:cubicBezTo>
                  <a:pt x="-40470" y="461396"/>
                  <a:pt x="51257" y="315298"/>
                  <a:pt x="0" y="109022"/>
                </a:cubicBezTo>
                <a:close/>
              </a:path>
              <a:path extrusionOk="0" h="715089" w="1168400">
                <a:moveTo>
                  <a:pt x="0" y="109022"/>
                </a:moveTo>
                <a:cubicBezTo>
                  <a:pt x="7153" y="51491"/>
                  <a:pt x="50579" y="-11940"/>
                  <a:pt x="109022" y="0"/>
                </a:cubicBezTo>
                <a:cubicBezTo>
                  <a:pt x="255251" y="-17374"/>
                  <a:pt x="462783" y="14772"/>
                  <a:pt x="603207" y="0"/>
                </a:cubicBezTo>
                <a:cubicBezTo>
                  <a:pt x="743631" y="-14772"/>
                  <a:pt x="918225" y="33502"/>
                  <a:pt x="1059378" y="0"/>
                </a:cubicBezTo>
                <a:cubicBezTo>
                  <a:pt x="1115612" y="4677"/>
                  <a:pt x="1169055" y="50161"/>
                  <a:pt x="1168400" y="109022"/>
                </a:cubicBezTo>
                <a:cubicBezTo>
                  <a:pt x="1169214" y="241295"/>
                  <a:pt x="1125026" y="381873"/>
                  <a:pt x="1168400" y="606067"/>
                </a:cubicBezTo>
                <a:cubicBezTo>
                  <a:pt x="1165217" y="665770"/>
                  <a:pt x="1119036" y="716960"/>
                  <a:pt x="1059378" y="715089"/>
                </a:cubicBezTo>
                <a:cubicBezTo>
                  <a:pt x="901657" y="732558"/>
                  <a:pt x="739927" y="662380"/>
                  <a:pt x="565193" y="715089"/>
                </a:cubicBezTo>
                <a:cubicBezTo>
                  <a:pt x="390460" y="767798"/>
                  <a:pt x="265280" y="701140"/>
                  <a:pt x="109022" y="715089"/>
                </a:cubicBezTo>
                <a:cubicBezTo>
                  <a:pt x="64807" y="710877"/>
                  <a:pt x="-5694" y="658420"/>
                  <a:pt x="0" y="606067"/>
                </a:cubicBezTo>
                <a:cubicBezTo>
                  <a:pt x="-44211" y="400969"/>
                  <a:pt x="4732" y="355107"/>
                  <a:pt x="0" y="109022"/>
                </a:cubicBezTo>
                <a:close/>
              </a:path>
            </a:pathLst>
          </a:cu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Quantity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1" name="Google Shape;1121;h142865916b425258_6_215"/>
          <p:cNvCxnSpPr>
            <a:stCxn id="1120" idx="3"/>
          </p:cNvCxnSpPr>
          <p:nvPr/>
        </p:nvCxnSpPr>
        <p:spPr>
          <a:xfrm flipH="1" rot="10800000">
            <a:off x="2006599" y="3506512"/>
            <a:ext cx="787500" cy="17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22" name="Google Shape;1122;h142865916b425258_6_215"/>
          <p:cNvSpPr/>
          <p:nvPr/>
        </p:nvSpPr>
        <p:spPr>
          <a:xfrm>
            <a:off x="2758440" y="3166067"/>
            <a:ext cx="1504608" cy="76077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3" name="Google Shape;1123;h142865916b425258_6_215"/>
          <p:cNvCxnSpPr>
            <a:stCxn id="1122" idx="3"/>
          </p:cNvCxnSpPr>
          <p:nvPr/>
        </p:nvCxnSpPr>
        <p:spPr>
          <a:xfrm flipH="1" rot="10800000">
            <a:off x="4263048" y="3523654"/>
            <a:ext cx="893100" cy="2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24" name="Google Shape;1124;h142865916b425258_6_215"/>
          <p:cNvSpPr/>
          <p:nvPr/>
        </p:nvSpPr>
        <p:spPr>
          <a:xfrm>
            <a:off x="3649757" y="1835192"/>
            <a:ext cx="1607731" cy="914113"/>
          </a:xfrm>
          <a:prstGeom prst="roundRect">
            <a:avLst>
              <a:gd fmla="val 41577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Sensitivity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5" name="Google Shape;1125;h142865916b425258_6_215"/>
          <p:cNvCxnSpPr>
            <a:stCxn id="1124" idx="2"/>
          </p:cNvCxnSpPr>
          <p:nvPr/>
        </p:nvCxnSpPr>
        <p:spPr>
          <a:xfrm flipH="1" rot="-5400000">
            <a:off x="4665723" y="2537205"/>
            <a:ext cx="222600" cy="646800"/>
          </a:xfrm>
          <a:prstGeom prst="bentConnector2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h142865916b425258_6_2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131" name="Google Shape;1131;h142865916b425258_6_23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E25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2023-05-31T20:10:18Z</dcterms:created>
  <dc:creator>Shadman Shahid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0x010100E66BDEEFC568694EAB96ECF41A6116AC</vt:lpwstr>
  </property>
</Properties>
</file>