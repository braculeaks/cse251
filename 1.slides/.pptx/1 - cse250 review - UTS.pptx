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68" r:id="rId6"/>
    <p:sldMasterId id="214748366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5143500" cx="9144000"/>
  <p:notesSz cx="6858000" cy="9144000"/>
  <p:embeddedFontLst>
    <p:embeddedFont>
      <p:font typeface="Arial Narrow"/>
      <p:regular r:id="rId47"/>
      <p:bold r:id="rId48"/>
      <p:italic r:id="rId49"/>
      <p:boldItalic r:id="rId50"/>
    </p:embeddedFont>
    <p:embeddedFont>
      <p:font typeface="Lustria"/>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hKQJ4YjwD4ZMsR69Wt3cWn5aa2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F2BFE4-3AE1-4D46-9B7E-5670BDDC8E4B}">
  <a:tblStyle styleId="{F2F2BFE4-3AE1-4D46-9B7E-5670BDDC8E4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ArialNarrow-bold.fntdata"/><Relationship Id="rId47" Type="http://schemas.openxmlformats.org/officeDocument/2006/relationships/font" Target="fonts/ArialNarrow-regular.fntdata"/><Relationship Id="rId49" Type="http://schemas.openxmlformats.org/officeDocument/2006/relationships/font" Target="fonts/ArialNarrow-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Lustria-regular.fntdata"/><Relationship Id="rId50" Type="http://schemas.openxmlformats.org/officeDocument/2006/relationships/font" Target="fonts/ArialNarrow-boldItalic.fntdata"/><Relationship Id="rId52" Type="http://customschemas.google.com/relationships/presentationmetadata" Target="meta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2" name="Google Shape;852;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9" name="Google Shape;19;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20" name="Google Shape;20;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4"/>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4"/>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4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26" name="Google Shape;26;p4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5"/>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5"/>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4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1" name="Google Shape;31;p4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32" name="Google Shape;32;p4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6"/>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46"/>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4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 name="Google Shape;38;p4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39" name="Google Shape;39;p4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7"/>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7"/>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47"/>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47"/>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47"/>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4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7" name="Google Shape;47;p4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48" name="Google Shape;48;p4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2" name="Google Shape;52;p4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53" name="Google Shape;53;p4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6" name="Google Shape;56;p4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57" name="Google Shape;57;p4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0"/>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50"/>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5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63" name="Google Shape;63;p5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64" name="Google Shape;64;p5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1"/>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1"/>
          <p:cNvSpPr/>
          <p:nvPr>
            <p:ph idx="2" type="pic"/>
          </p:nvPr>
        </p:nvSpPr>
        <p:spPr>
          <a:xfrm>
            <a:off x="3887391" y="740569"/>
            <a:ext cx="4629150" cy="3655219"/>
          </a:xfrm>
          <a:prstGeom prst="rect">
            <a:avLst/>
          </a:prstGeom>
          <a:noFill/>
          <a:ln>
            <a:noFill/>
          </a:ln>
        </p:spPr>
      </p:sp>
      <p:sp>
        <p:nvSpPr>
          <p:cNvPr id="68" name="Google Shape;68;p51"/>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5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0" name="Google Shape;70;p5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71" name="Google Shape;71;p5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2"/>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2"/>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5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6" name="Google Shape;76;p5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77" name="Google Shape;77;p5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3"/>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3"/>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5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82" name="Google Shape;82;p5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Calibri"/>
              <a:buNone/>
              <a:defRPr b="0" i="0" sz="1400" u="none" cap="none" strike="noStrike">
                <a:solidFill>
                  <a:srgbClr val="000000"/>
                </a:solidFill>
                <a:latin typeface="Arial"/>
                <a:ea typeface="Arial"/>
                <a:cs typeface="Arial"/>
                <a:sym typeface="Arial"/>
              </a:defRPr>
            </a:lvl9pPr>
          </a:lstStyle>
          <a:p/>
        </p:txBody>
      </p:sp>
      <p:sp>
        <p:nvSpPr>
          <p:cNvPr id="83" name="Google Shape;83;p5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p:cSld name="Content Slide 4">
    <p:spTree>
      <p:nvGrpSpPr>
        <p:cNvPr id="91" name="Shape 91"/>
        <p:cNvGrpSpPr/>
        <p:nvPr/>
      </p:nvGrpSpPr>
      <p:grpSpPr>
        <a:xfrm>
          <a:off x="0" y="0"/>
          <a:ext cx="0" cy="0"/>
          <a:chOff x="0" y="0"/>
          <a:chExt cx="0" cy="0"/>
        </a:xfrm>
      </p:grpSpPr>
      <p:sp>
        <p:nvSpPr>
          <p:cNvPr id="92" name="Google Shape;92;p24"/>
          <p:cNvSpPr txBox="1"/>
          <p:nvPr>
            <p:ph type="ctrTitle"/>
          </p:nvPr>
        </p:nvSpPr>
        <p:spPr>
          <a:xfrm>
            <a:off x="628650" y="282575"/>
            <a:ext cx="7886700" cy="7080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Calibri"/>
              <a:buNone/>
              <a:defRPr b="1"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4"/>
          <p:cNvSpPr txBox="1"/>
          <p:nvPr>
            <p:ph idx="1" type="subTitle"/>
          </p:nvPr>
        </p:nvSpPr>
        <p:spPr>
          <a:xfrm>
            <a:off x="628650" y="1231900"/>
            <a:ext cx="7886700" cy="33807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750"/>
              </a:spcBef>
              <a:spcAft>
                <a:spcPts val="0"/>
              </a:spcAft>
              <a:buClr>
                <a:schemeClr val="dk1"/>
              </a:buClr>
              <a:buSzPts val="2800"/>
              <a:buNone/>
              <a:defRPr sz="2800"/>
            </a:lvl1pPr>
            <a:lvl2pPr lvl="1" algn="ctr">
              <a:lnSpc>
                <a:spcPct val="90000"/>
              </a:lnSpc>
              <a:spcBef>
                <a:spcPts val="375"/>
              </a:spcBef>
              <a:spcAft>
                <a:spcPts val="0"/>
              </a:spcAft>
              <a:buClr>
                <a:schemeClr val="dk1"/>
              </a:buClr>
              <a:buSzPts val="2000"/>
              <a:buNone/>
              <a:defRPr sz="20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600"/>
              <a:buNone/>
              <a:defRPr sz="1600"/>
            </a:lvl4pPr>
            <a:lvl5pPr lvl="4" algn="ctr">
              <a:lnSpc>
                <a:spcPct val="90000"/>
              </a:lnSpc>
              <a:spcBef>
                <a:spcPts val="375"/>
              </a:spcBef>
              <a:spcAft>
                <a:spcPts val="0"/>
              </a:spcAft>
              <a:buClr>
                <a:schemeClr val="dk1"/>
              </a:buClr>
              <a:buSzPts val="1600"/>
              <a:buNone/>
              <a:defRPr sz="1600"/>
            </a:lvl5pPr>
            <a:lvl6pPr lvl="5" algn="ctr">
              <a:lnSpc>
                <a:spcPct val="90000"/>
              </a:lnSpc>
              <a:spcBef>
                <a:spcPts val="375"/>
              </a:spcBef>
              <a:spcAft>
                <a:spcPts val="0"/>
              </a:spcAft>
              <a:buClr>
                <a:schemeClr val="dk1"/>
              </a:buClr>
              <a:buSzPts val="1600"/>
              <a:buNone/>
              <a:defRPr sz="1600"/>
            </a:lvl6pPr>
            <a:lvl7pPr lvl="6" algn="ctr">
              <a:lnSpc>
                <a:spcPct val="90000"/>
              </a:lnSpc>
              <a:spcBef>
                <a:spcPts val="375"/>
              </a:spcBef>
              <a:spcAft>
                <a:spcPts val="0"/>
              </a:spcAft>
              <a:buClr>
                <a:schemeClr val="dk1"/>
              </a:buClr>
              <a:buSzPts val="1600"/>
              <a:buNone/>
              <a:defRPr sz="1600"/>
            </a:lvl7pPr>
            <a:lvl8pPr lvl="7" algn="ctr">
              <a:lnSpc>
                <a:spcPct val="90000"/>
              </a:lnSpc>
              <a:spcBef>
                <a:spcPts val="375"/>
              </a:spcBef>
              <a:spcAft>
                <a:spcPts val="0"/>
              </a:spcAft>
              <a:buClr>
                <a:schemeClr val="dk1"/>
              </a:buClr>
              <a:buSzPts val="1600"/>
              <a:buNone/>
              <a:defRPr sz="1600"/>
            </a:lvl8pPr>
            <a:lvl9pPr lvl="8" algn="ctr">
              <a:lnSpc>
                <a:spcPct val="90000"/>
              </a:lnSpc>
              <a:spcBef>
                <a:spcPts val="375"/>
              </a:spcBef>
              <a:spcAft>
                <a:spcPts val="0"/>
              </a:spcAft>
              <a:buClr>
                <a:schemeClr val="dk1"/>
              </a:buClr>
              <a:buSzPts val="1600"/>
              <a:buNone/>
              <a:defRPr sz="1600"/>
            </a:lvl9pPr>
          </a:lstStyle>
          <a:p/>
        </p:txBody>
      </p:sp>
      <p:sp>
        <p:nvSpPr>
          <p:cNvPr id="94" name="Google Shape;94;p24"/>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4"/>
          <p:cNvSpPr txBox="1"/>
          <p:nvPr>
            <p:ph idx="11" type="ftr"/>
          </p:nvPr>
        </p:nvSpPr>
        <p:spPr>
          <a:xfrm>
            <a:off x="2715321" y="4836711"/>
            <a:ext cx="3897351"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4"/>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3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
        <p:nvSpPr>
          <p:cNvPr id="103" name="Google Shape;103;p3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6" name="Shape 106"/>
        <p:cNvGrpSpPr/>
        <p:nvPr/>
      </p:nvGrpSpPr>
      <p:grpSpPr>
        <a:xfrm>
          <a:off x="0" y="0"/>
          <a:ext cx="0" cy="0"/>
          <a:chOff x="0" y="0"/>
          <a:chExt cx="0" cy="0"/>
        </a:xfrm>
      </p:grpSpPr>
      <p:sp>
        <p:nvSpPr>
          <p:cNvPr id="107" name="Google Shape;107;p4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40"/>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9" name="Google Shape;109;p40"/>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0" name="Google Shape;110;p4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4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3" name="Shape 113"/>
        <p:cNvGrpSpPr/>
        <p:nvPr/>
      </p:nvGrpSpPr>
      <p:grpSpPr>
        <a:xfrm>
          <a:off x="0" y="0"/>
          <a:ext cx="0" cy="0"/>
          <a:chOff x="0" y="0"/>
          <a:chExt cx="0" cy="0"/>
        </a:xfrm>
      </p:grpSpPr>
      <p:sp>
        <p:nvSpPr>
          <p:cNvPr id="114" name="Google Shape;114;p41"/>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1"/>
          <p:cNvSpPr/>
          <p:nvPr>
            <p:ph idx="2" type="pic"/>
          </p:nvPr>
        </p:nvSpPr>
        <p:spPr>
          <a:xfrm>
            <a:off x="3887391" y="740569"/>
            <a:ext cx="4629150" cy="3655219"/>
          </a:xfrm>
          <a:prstGeom prst="rect">
            <a:avLst/>
          </a:prstGeom>
          <a:noFill/>
          <a:ln>
            <a:noFill/>
          </a:ln>
        </p:spPr>
      </p:sp>
      <p:sp>
        <p:nvSpPr>
          <p:cNvPr id="116" name="Google Shape;116;p41"/>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7" name="Google Shape;117;p4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4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42"/>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2"/>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3" name="Google Shape;123;p4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43"/>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3"/>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9" name="Google Shape;129;p4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4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Slide 4">
  <p:cSld name="2_Content Slide 4">
    <p:spTree>
      <p:nvGrpSpPr>
        <p:cNvPr id="141" name="Shape 141"/>
        <p:cNvGrpSpPr/>
        <p:nvPr/>
      </p:nvGrpSpPr>
      <p:grpSpPr>
        <a:xfrm>
          <a:off x="0" y="0"/>
          <a:ext cx="0" cy="0"/>
          <a:chOff x="0" y="0"/>
          <a:chExt cx="0" cy="0"/>
        </a:xfrm>
      </p:grpSpPr>
      <p:sp>
        <p:nvSpPr>
          <p:cNvPr id="142" name="Google Shape;142;p56"/>
          <p:cNvSpPr txBox="1"/>
          <p:nvPr>
            <p:ph type="ctrTitle"/>
          </p:nvPr>
        </p:nvSpPr>
        <p:spPr>
          <a:xfrm>
            <a:off x="628650" y="282575"/>
            <a:ext cx="7886700" cy="708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56"/>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56"/>
          <p:cNvSpPr txBox="1"/>
          <p:nvPr>
            <p:ph idx="11" type="ftr"/>
          </p:nvPr>
        </p:nvSpPr>
        <p:spPr>
          <a:xfrm>
            <a:off x="2715322" y="4836711"/>
            <a:ext cx="3908502"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56"/>
          <p:cNvSpPr txBox="1"/>
          <p:nvPr>
            <p:ph idx="12" type="sldNum"/>
          </p:nvPr>
        </p:nvSpPr>
        <p:spPr>
          <a:xfrm>
            <a:off x="8642350" y="4836710"/>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p:cSld name="Content Slide 4">
    <p:spTree>
      <p:nvGrpSpPr>
        <p:cNvPr id="146" name="Shape 146"/>
        <p:cNvGrpSpPr/>
        <p:nvPr/>
      </p:nvGrpSpPr>
      <p:grpSpPr>
        <a:xfrm>
          <a:off x="0" y="0"/>
          <a:ext cx="0" cy="0"/>
          <a:chOff x="0" y="0"/>
          <a:chExt cx="0" cy="0"/>
        </a:xfrm>
      </p:grpSpPr>
      <p:sp>
        <p:nvSpPr>
          <p:cNvPr id="147" name="Google Shape;147;p57"/>
          <p:cNvSpPr txBox="1"/>
          <p:nvPr>
            <p:ph type="ctrTitle"/>
          </p:nvPr>
        </p:nvSpPr>
        <p:spPr>
          <a:xfrm>
            <a:off x="628650" y="282575"/>
            <a:ext cx="7886700" cy="708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8" name="Google Shape;148;p57"/>
          <p:cNvSpPr txBox="1"/>
          <p:nvPr>
            <p:ph idx="1" type="subTitle"/>
          </p:nvPr>
        </p:nvSpPr>
        <p:spPr>
          <a:xfrm>
            <a:off x="628650" y="1231900"/>
            <a:ext cx="7886700" cy="338074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49" name="Google Shape;149;p57"/>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57"/>
          <p:cNvSpPr txBox="1"/>
          <p:nvPr>
            <p:ph idx="11" type="ftr"/>
          </p:nvPr>
        </p:nvSpPr>
        <p:spPr>
          <a:xfrm>
            <a:off x="2715321" y="4836711"/>
            <a:ext cx="3897351"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7"/>
          <p:cNvSpPr txBox="1"/>
          <p:nvPr>
            <p:ph idx="12" type="sldNum"/>
          </p:nvPr>
        </p:nvSpPr>
        <p:spPr>
          <a:xfrm>
            <a:off x="8626860" y="4836710"/>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Slide 4">
  <p:cSld name="3_Content Slide 4">
    <p:spTree>
      <p:nvGrpSpPr>
        <p:cNvPr id="152" name="Shape 152"/>
        <p:cNvGrpSpPr/>
        <p:nvPr/>
      </p:nvGrpSpPr>
      <p:grpSpPr>
        <a:xfrm>
          <a:off x="0" y="0"/>
          <a:ext cx="0" cy="0"/>
          <a:chOff x="0" y="0"/>
          <a:chExt cx="0" cy="0"/>
        </a:xfrm>
      </p:grpSpPr>
      <p:sp>
        <p:nvSpPr>
          <p:cNvPr id="153" name="Google Shape;153;p58"/>
          <p:cNvSpPr txBox="1"/>
          <p:nvPr>
            <p:ph type="ctrTitle"/>
          </p:nvPr>
        </p:nvSpPr>
        <p:spPr>
          <a:xfrm rot="-5400000">
            <a:off x="-1925638" y="2140374"/>
            <a:ext cx="4560849" cy="54772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4" name="Google Shape;154;p58"/>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58"/>
          <p:cNvSpPr txBox="1"/>
          <p:nvPr>
            <p:ph idx="11" type="ftr"/>
          </p:nvPr>
        </p:nvSpPr>
        <p:spPr>
          <a:xfrm>
            <a:off x="2715321" y="4836711"/>
            <a:ext cx="3953107"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58"/>
          <p:cNvSpPr txBox="1"/>
          <p:nvPr>
            <p:ph idx="12" type="sldNum"/>
          </p:nvPr>
        </p:nvSpPr>
        <p:spPr>
          <a:xfrm>
            <a:off x="8604558" y="4836711"/>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Slide 4">
  <p:cSld name="4_Content Slide 4">
    <p:spTree>
      <p:nvGrpSpPr>
        <p:cNvPr id="157" name="Shape 157"/>
        <p:cNvGrpSpPr/>
        <p:nvPr/>
      </p:nvGrpSpPr>
      <p:grpSpPr>
        <a:xfrm>
          <a:off x="0" y="0"/>
          <a:ext cx="0" cy="0"/>
          <a:chOff x="0" y="0"/>
          <a:chExt cx="0" cy="0"/>
        </a:xfrm>
      </p:grpSpPr>
      <p:sp>
        <p:nvSpPr>
          <p:cNvPr id="158" name="Google Shape;158;p59"/>
          <p:cNvSpPr txBox="1"/>
          <p:nvPr>
            <p:ph type="ctrTitle"/>
          </p:nvPr>
        </p:nvSpPr>
        <p:spPr>
          <a:xfrm rot="-5400000">
            <a:off x="-1925638" y="2140374"/>
            <a:ext cx="4560849" cy="54772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9" name="Google Shape;159;p59"/>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59"/>
          <p:cNvSpPr txBox="1"/>
          <p:nvPr>
            <p:ph idx="11" type="ftr"/>
          </p:nvPr>
        </p:nvSpPr>
        <p:spPr>
          <a:xfrm>
            <a:off x="2715322" y="4836711"/>
            <a:ext cx="30861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59"/>
          <p:cNvSpPr txBox="1"/>
          <p:nvPr>
            <p:ph idx="12" type="sldNum"/>
          </p:nvPr>
        </p:nvSpPr>
        <p:spPr>
          <a:xfrm>
            <a:off x="8620356" y="4868863"/>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2" name="Google Shape;162;p59"/>
          <p:cNvSpPr txBox="1"/>
          <p:nvPr>
            <p:ph idx="1" type="body"/>
          </p:nvPr>
        </p:nvSpPr>
        <p:spPr>
          <a:xfrm>
            <a:off x="769938" y="133350"/>
            <a:ext cx="8285162" cy="45608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 Slide 4">
  <p:cSld name="5_Content Slide 4">
    <p:spTree>
      <p:nvGrpSpPr>
        <p:cNvPr id="163" name="Shape 163"/>
        <p:cNvGrpSpPr/>
        <p:nvPr/>
      </p:nvGrpSpPr>
      <p:grpSpPr>
        <a:xfrm>
          <a:off x="0" y="0"/>
          <a:ext cx="0" cy="0"/>
          <a:chOff x="0" y="0"/>
          <a:chExt cx="0" cy="0"/>
        </a:xfrm>
      </p:grpSpPr>
      <p:sp>
        <p:nvSpPr>
          <p:cNvPr id="164" name="Google Shape;164;p60"/>
          <p:cNvSpPr txBox="1"/>
          <p:nvPr>
            <p:ph type="ctrTitle"/>
          </p:nvPr>
        </p:nvSpPr>
        <p:spPr>
          <a:xfrm rot="-5400000">
            <a:off x="-1925638" y="2140374"/>
            <a:ext cx="4560849" cy="54772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5" name="Google Shape;165;p60"/>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60"/>
          <p:cNvSpPr txBox="1"/>
          <p:nvPr>
            <p:ph idx="11" type="ftr"/>
          </p:nvPr>
        </p:nvSpPr>
        <p:spPr>
          <a:xfrm>
            <a:off x="2715322" y="4836711"/>
            <a:ext cx="30861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60"/>
          <p:cNvSpPr txBox="1"/>
          <p:nvPr>
            <p:ph idx="12" type="sldNum"/>
          </p:nvPr>
        </p:nvSpPr>
        <p:spPr>
          <a:xfrm>
            <a:off x="8642350" y="4836710"/>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8" name="Google Shape;168;p60"/>
          <p:cNvSpPr txBox="1"/>
          <p:nvPr>
            <p:ph idx="1" type="body"/>
          </p:nvPr>
        </p:nvSpPr>
        <p:spPr>
          <a:xfrm>
            <a:off x="769939" y="133350"/>
            <a:ext cx="4067332" cy="45608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60"/>
          <p:cNvSpPr txBox="1"/>
          <p:nvPr>
            <p:ph idx="2" type="body"/>
          </p:nvPr>
        </p:nvSpPr>
        <p:spPr>
          <a:xfrm>
            <a:off x="4995746" y="133350"/>
            <a:ext cx="4067332" cy="45608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Slide 4">
  <p:cSld name="1_Content Slide 4">
    <p:spTree>
      <p:nvGrpSpPr>
        <p:cNvPr id="170" name="Shape 170"/>
        <p:cNvGrpSpPr/>
        <p:nvPr/>
      </p:nvGrpSpPr>
      <p:grpSpPr>
        <a:xfrm>
          <a:off x="0" y="0"/>
          <a:ext cx="0" cy="0"/>
          <a:chOff x="0" y="0"/>
          <a:chExt cx="0" cy="0"/>
        </a:xfrm>
      </p:grpSpPr>
      <p:sp>
        <p:nvSpPr>
          <p:cNvPr id="171" name="Google Shape;171;p61"/>
          <p:cNvSpPr txBox="1"/>
          <p:nvPr>
            <p:ph type="ctrTitle"/>
          </p:nvPr>
        </p:nvSpPr>
        <p:spPr>
          <a:xfrm>
            <a:off x="628650" y="282575"/>
            <a:ext cx="7886700" cy="708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alibri"/>
              <a:buNone/>
              <a:defRPr b="1" i="0" sz="4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2" name="Google Shape;172;p61"/>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61"/>
          <p:cNvSpPr txBox="1"/>
          <p:nvPr>
            <p:ph idx="11" type="ftr"/>
          </p:nvPr>
        </p:nvSpPr>
        <p:spPr>
          <a:xfrm>
            <a:off x="2839379" y="4836712"/>
            <a:ext cx="30861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61"/>
          <p:cNvSpPr txBox="1"/>
          <p:nvPr>
            <p:ph idx="12" type="sldNum"/>
          </p:nvPr>
        </p:nvSpPr>
        <p:spPr>
          <a:xfrm>
            <a:off x="8642350" y="4836711"/>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5" name="Google Shape;175;p61"/>
          <p:cNvSpPr txBox="1"/>
          <p:nvPr>
            <p:ph idx="1" type="body"/>
          </p:nvPr>
        </p:nvSpPr>
        <p:spPr>
          <a:xfrm>
            <a:off x="628650" y="1207122"/>
            <a:ext cx="3943350" cy="350101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 name="Google Shape;176;p61"/>
          <p:cNvSpPr txBox="1"/>
          <p:nvPr>
            <p:ph idx="2" type="body"/>
          </p:nvPr>
        </p:nvSpPr>
        <p:spPr>
          <a:xfrm>
            <a:off x="4761571" y="1207751"/>
            <a:ext cx="3753780" cy="350101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7" name="Shape 177"/>
        <p:cNvGrpSpPr/>
        <p:nvPr/>
      </p:nvGrpSpPr>
      <p:grpSpPr>
        <a:xfrm>
          <a:off x="0" y="0"/>
          <a:ext cx="0" cy="0"/>
          <a:chOff x="0" y="0"/>
          <a:chExt cx="0" cy="0"/>
        </a:xfrm>
      </p:grpSpPr>
      <p:sp>
        <p:nvSpPr>
          <p:cNvPr id="178" name="Google Shape;178;p62"/>
          <p:cNvSpPr txBox="1"/>
          <p:nvPr>
            <p:ph type="title"/>
          </p:nvPr>
        </p:nvSpPr>
        <p:spPr>
          <a:xfrm>
            <a:off x="628650"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9" name="Google Shape;179;p62"/>
          <p:cNvSpPr txBox="1"/>
          <p:nvPr>
            <p:ph idx="1" type="body"/>
          </p:nvPr>
        </p:nvSpPr>
        <p:spPr>
          <a:xfrm>
            <a:off x="628650" y="1371600"/>
            <a:ext cx="4035425" cy="33226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62"/>
          <p:cNvSpPr txBox="1"/>
          <p:nvPr>
            <p:ph idx="2" type="body"/>
          </p:nvPr>
        </p:nvSpPr>
        <p:spPr>
          <a:xfrm>
            <a:off x="4816475" y="1371599"/>
            <a:ext cx="4035425" cy="33115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62"/>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62"/>
          <p:cNvSpPr txBox="1"/>
          <p:nvPr>
            <p:ph idx="11" type="ftr"/>
          </p:nvPr>
        </p:nvSpPr>
        <p:spPr>
          <a:xfrm>
            <a:off x="2771077" y="4835410"/>
            <a:ext cx="3086100"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62"/>
          <p:cNvSpPr txBox="1"/>
          <p:nvPr>
            <p:ph idx="12" type="sldNum"/>
          </p:nvPr>
        </p:nvSpPr>
        <p:spPr>
          <a:xfrm>
            <a:off x="8642350" y="4835410"/>
            <a:ext cx="501650" cy="27463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Calibri"/>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350" u="none" cap="none" strike="noStrike">
                <a:solidFill>
                  <a:schemeClr val="dk1"/>
                </a:solidFill>
                <a:latin typeface="Calibri"/>
                <a:ea typeface="Calibri"/>
                <a:cs typeface="Calibri"/>
                <a:sym typeface="Calibri"/>
              </a:defRPr>
            </a:lvl9pPr>
          </a:lstStyle>
          <a:p/>
        </p:txBody>
      </p:sp>
      <p:sp>
        <p:nvSpPr>
          <p:cNvPr id="13" name="Google Shape;13;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1"/>
          <p:cNvSpPr txBox="1"/>
          <p:nvPr/>
        </p:nvSpPr>
        <p:spPr>
          <a:xfrm>
            <a:off x="3058447" y="4715767"/>
            <a:ext cx="322498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BFBFBF"/>
                </a:solidFill>
                <a:latin typeface="Comic Sans MS"/>
                <a:ea typeface="Comic Sans MS"/>
                <a:cs typeface="Comic Sans MS"/>
                <a:sym typeface="Comic Sans MS"/>
              </a:rPr>
              <a:t>Prepared by Utsab Saha [UTS]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23"/>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3"/>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7" name="Google Shape;87;p2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highlight>
                  <a:srgbClr val="FFFF00"/>
                </a:highlight>
                <a:latin typeface="Comic Sans MS"/>
                <a:ea typeface="Comic Sans MS"/>
                <a:cs typeface="Comic Sans MS"/>
                <a:sym typeface="Comic Sans MS"/>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8" name="Google Shape;88;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chemeClr val="dk1"/>
                </a:solidFill>
                <a:highlight>
                  <a:srgbClr val="FFFF00"/>
                </a:highlight>
                <a:latin typeface="Comic Sans MS"/>
                <a:ea typeface="Comic Sans MS"/>
                <a:cs typeface="Comic Sans MS"/>
                <a:sym typeface="Comic Sans MS"/>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9" name="Google Shape;89;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0" name="Google Shape;90;p23"/>
          <p:cNvSpPr txBox="1"/>
          <p:nvPr/>
        </p:nvSpPr>
        <p:spPr>
          <a:xfrm>
            <a:off x="6379779" y="-3155"/>
            <a:ext cx="276422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BFBFBF"/>
                </a:solidFill>
                <a:latin typeface="Comic Sans MS"/>
                <a:ea typeface="Comic Sans MS"/>
                <a:cs typeface="Comic Sans MS"/>
                <a:sym typeface="Comic Sans MS"/>
              </a:rPr>
              <a:t>PREPARED BY UTSAB SAHA [UTS]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54"/>
          <p:cNvSpPr/>
          <p:nvPr/>
        </p:nvSpPr>
        <p:spPr>
          <a:xfrm>
            <a:off x="0" y="-8943"/>
            <a:ext cx="9144000" cy="756695"/>
          </a:xfrm>
          <a:prstGeom prst="rect">
            <a:avLst/>
          </a:prstGeom>
          <a:solidFill>
            <a:srgbClr val="7816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134" name="Google Shape;134;p54"/>
          <p:cNvSpPr txBox="1"/>
          <p:nvPr/>
        </p:nvSpPr>
        <p:spPr>
          <a:xfrm>
            <a:off x="995423" y="24510"/>
            <a:ext cx="783606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2CC"/>
                </a:solidFill>
                <a:latin typeface="Calibri"/>
                <a:ea typeface="Calibri"/>
                <a:cs typeface="Calibri"/>
                <a:sym typeface="Calibri"/>
              </a:rPr>
              <a:t>Department of Electrical and Electronic Engineering (EEE)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F2CC"/>
                </a:solidFill>
                <a:latin typeface="Calibri"/>
                <a:ea typeface="Calibri"/>
                <a:cs typeface="Calibri"/>
                <a:sym typeface="Calibri"/>
              </a:rPr>
              <a:t>Bangladesh University of Engineering and Technology (BUET)</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55"/>
          <p:cNvSpPr/>
          <p:nvPr/>
        </p:nvSpPr>
        <p:spPr>
          <a:xfrm>
            <a:off x="0" y="4795520"/>
            <a:ext cx="9144000" cy="347980"/>
          </a:xfrm>
          <a:prstGeom prst="rect">
            <a:avLst/>
          </a:prstGeom>
          <a:solidFill>
            <a:srgbClr val="7816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137" name="Google Shape;137;p55"/>
          <p:cNvSpPr txBox="1"/>
          <p:nvPr/>
        </p:nvSpPr>
        <p:spPr>
          <a:xfrm>
            <a:off x="5840680" y="4828973"/>
            <a:ext cx="2665141" cy="30008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350"/>
              <a:buFont typeface="Arial"/>
              <a:buNone/>
            </a:pPr>
            <a:r>
              <a:rPr b="1" i="0" lang="en-US" sz="1350" u="none" cap="none" strike="noStrike">
                <a:solidFill>
                  <a:srgbClr val="FFF2CC"/>
                </a:solidFill>
                <a:latin typeface="Arial Narrow"/>
                <a:ea typeface="Arial Narrow"/>
                <a:cs typeface="Arial Narrow"/>
                <a:sym typeface="Arial Narrow"/>
              </a:rPr>
              <a:t>Department of EEE, BUET</a:t>
            </a:r>
            <a:endParaRPr b="0" i="0" sz="1400" u="none" cap="none" strike="noStrike">
              <a:solidFill>
                <a:srgbClr val="000000"/>
              </a:solidFill>
              <a:latin typeface="Arial"/>
              <a:ea typeface="Arial"/>
              <a:cs typeface="Arial"/>
              <a:sym typeface="Arial"/>
            </a:endParaRPr>
          </a:p>
        </p:txBody>
      </p:sp>
      <p:sp>
        <p:nvSpPr>
          <p:cNvPr id="138" name="Google Shape;138;p55"/>
          <p:cNvSpPr txBox="1"/>
          <p:nvPr>
            <p:ph idx="10" type="dt"/>
          </p:nvPr>
        </p:nvSpPr>
        <p:spPr>
          <a:xfrm>
            <a:off x="628650" y="483671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139" name="Google Shape;139;p55"/>
          <p:cNvSpPr txBox="1"/>
          <p:nvPr>
            <p:ph idx="11" type="ftr"/>
          </p:nvPr>
        </p:nvSpPr>
        <p:spPr>
          <a:xfrm>
            <a:off x="2715322" y="4836711"/>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140" name="Google Shape;140;p55"/>
          <p:cNvSpPr txBox="1"/>
          <p:nvPr>
            <p:ph idx="12" type="sldNum"/>
          </p:nvPr>
        </p:nvSpPr>
        <p:spPr>
          <a:xfrm>
            <a:off x="8472371" y="4828973"/>
            <a:ext cx="638173" cy="28621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600"/>
              <a:buFont typeface="Arial"/>
              <a:buNone/>
              <a:defRPr b="1" i="0" sz="16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s://www.engineering.com/story/vacuum-tubes-the-world-before-transistors" TargetMode="External"/><Relationship Id="rId5" Type="http://schemas.openxmlformats.org/officeDocument/2006/relationships/hyperlink" Target="https://www.wikiwand.com/en/Point-contact_transistor" TargetMode="External"/><Relationship Id="rId6" Type="http://schemas.openxmlformats.org/officeDocument/2006/relationships/hyperlink" Target="http://www.columbia.edu/cu/computinghistory/608.html" TargetMode="External"/><Relationship Id="rId7" Type="http://schemas.openxmlformats.org/officeDocument/2006/relationships/hyperlink" Target="https://www.tutorialspoint.com/basic_electronics/basic_electronics_mosfet.ht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11.jpg"/><Relationship Id="rId6" Type="http://schemas.openxmlformats.org/officeDocument/2006/relationships/image" Target="../media/image5.jpg"/><Relationship Id="rId7" Type="http://schemas.openxmlformats.org/officeDocument/2006/relationships/image" Target="../media/image7.jp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4.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gif"/><Relationship Id="rId5" Type="http://schemas.openxmlformats.org/officeDocument/2006/relationships/image" Target="../media/image8.gif"/><Relationship Id="rId6" Type="http://schemas.openxmlformats.org/officeDocument/2006/relationships/image" Target="../media/image9.png"/><Relationship Id="rId7"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5.jpg"/><Relationship Id="rId5"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hyperlink" Target="https://en.wikipedia.org/wiki/Thermionic_emissi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6.png"/><Relationship Id="rId9"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45.png"/><Relationship Id="rId7"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9.jpg"/><Relationship Id="rId9" Type="http://schemas.openxmlformats.org/officeDocument/2006/relationships/image" Target="../media/image47.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0.png"/><Relationship Id="rId8"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39.jpg"/><Relationship Id="rId6" Type="http://schemas.openxmlformats.org/officeDocument/2006/relationships/image" Target="../media/image42.png"/><Relationship Id="rId7" Type="http://schemas.openxmlformats.org/officeDocument/2006/relationships/image" Target="../media/image51.jpg"/><Relationship Id="rId8"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4.png"/><Relationship Id="rId10" Type="http://schemas.openxmlformats.org/officeDocument/2006/relationships/image" Target="../media/image52.png"/><Relationship Id="rId9" Type="http://schemas.openxmlformats.org/officeDocument/2006/relationships/image" Target="../media/image56.jpg"/><Relationship Id="rId5" Type="http://schemas.openxmlformats.org/officeDocument/2006/relationships/image" Target="../media/image40.png"/><Relationship Id="rId6" Type="http://schemas.openxmlformats.org/officeDocument/2006/relationships/image" Target="../media/image42.png"/><Relationship Id="rId7" Type="http://schemas.openxmlformats.org/officeDocument/2006/relationships/image" Target="../media/image61.png"/><Relationship Id="rId8" Type="http://schemas.openxmlformats.org/officeDocument/2006/relationships/image" Target="../media/image5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0.png"/><Relationship Id="rId5"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50.png"/><Relationship Id="rId5"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63.png"/><Relationship Id="rId5"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hyperlink" Target="https://drive.google.com/file/d/1VzpiGzfPUO4kPLCZ-xjPdAUyXeIC6Y6Q/view?usp=shari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
          <p:cNvSpPr txBox="1"/>
          <p:nvPr>
            <p:ph type="ctrTitle"/>
          </p:nvPr>
        </p:nvSpPr>
        <p:spPr>
          <a:xfrm>
            <a:off x="0" y="2646417"/>
            <a:ext cx="9144000" cy="57852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alibri"/>
              <a:buNone/>
            </a:pPr>
            <a:r>
              <a:rPr lang="en-US" sz="3400" cap="small">
                <a:latin typeface="Comic Sans MS"/>
                <a:ea typeface="Comic Sans MS"/>
                <a:cs typeface="Comic Sans MS"/>
                <a:sym typeface="Comic Sans MS"/>
              </a:rPr>
              <a:t>Introduction to electronics</a:t>
            </a:r>
            <a:endParaRPr/>
          </a:p>
        </p:txBody>
      </p:sp>
      <p:sp>
        <p:nvSpPr>
          <p:cNvPr id="189" name="Google Shape;189;p1"/>
          <p:cNvSpPr txBox="1"/>
          <p:nvPr>
            <p:ph idx="1" type="subTitle"/>
          </p:nvPr>
        </p:nvSpPr>
        <p:spPr>
          <a:xfrm>
            <a:off x="-217170" y="846315"/>
            <a:ext cx="9144000" cy="1096785"/>
          </a:xfrm>
          <a:prstGeom prst="rect">
            <a:avLst/>
          </a:prstGeom>
          <a:noFill/>
          <a:ln>
            <a:noFill/>
          </a:ln>
        </p:spPr>
        <p:txBody>
          <a:bodyPr anchorCtr="0" anchor="t" bIns="45700" lIns="91425" spcFirstLastPara="1" rIns="91425" wrap="square" tIns="45700">
            <a:noAutofit/>
          </a:bodyPr>
          <a:lstStyle/>
          <a:p>
            <a:pPr indent="-361950" lvl="0" marL="457200" rtl="0" algn="ctr">
              <a:lnSpc>
                <a:spcPct val="90000"/>
              </a:lnSpc>
              <a:spcBef>
                <a:spcPts val="750"/>
              </a:spcBef>
              <a:spcAft>
                <a:spcPts val="0"/>
              </a:spcAft>
              <a:buClr>
                <a:schemeClr val="dk1"/>
              </a:buClr>
              <a:buSzPts val="1800"/>
              <a:buNone/>
            </a:pPr>
            <a:br>
              <a:rPr lang="en-US" sz="2200">
                <a:latin typeface="Comic Sans MS"/>
                <a:ea typeface="Comic Sans MS"/>
                <a:cs typeface="Comic Sans MS"/>
                <a:sym typeface="Comic Sans MS"/>
              </a:rPr>
            </a:br>
            <a:r>
              <a:rPr lang="en-US" sz="2200">
                <a:latin typeface="Comic Sans MS"/>
                <a:ea typeface="Comic Sans MS"/>
                <a:cs typeface="Comic Sans MS"/>
                <a:sym typeface="Comic Sans MS"/>
              </a:rPr>
              <a:t>  </a:t>
            </a:r>
            <a:endParaRPr/>
          </a:p>
          <a:p>
            <a:pPr indent="-361950" lvl="0" marL="457200" rtl="0" algn="ctr">
              <a:lnSpc>
                <a:spcPct val="90000"/>
              </a:lnSpc>
              <a:spcBef>
                <a:spcPts val="750"/>
              </a:spcBef>
              <a:spcAft>
                <a:spcPts val="0"/>
              </a:spcAft>
              <a:buClr>
                <a:schemeClr val="dk1"/>
              </a:buClr>
              <a:buSzPts val="1800"/>
              <a:buNone/>
            </a:pPr>
            <a:r>
              <a:rPr lang="en-US" sz="2200">
                <a:latin typeface="Comic Sans MS"/>
                <a:ea typeface="Comic Sans MS"/>
                <a:cs typeface="Comic Sans MS"/>
                <a:sym typeface="Comic Sans MS"/>
              </a:rPr>
              <a:t>CSE251 – Electronic Devices and Circuits</a:t>
            </a:r>
            <a:endParaRPr/>
          </a:p>
        </p:txBody>
      </p:sp>
      <p:sp>
        <p:nvSpPr>
          <p:cNvPr id="190" name="Google Shape;190;p1"/>
          <p:cNvSpPr/>
          <p:nvPr/>
        </p:nvSpPr>
        <p:spPr>
          <a:xfrm>
            <a:off x="0" y="-1"/>
            <a:ext cx="9144000" cy="1009013"/>
          </a:xfrm>
          <a:prstGeom prst="rect">
            <a:avLst/>
          </a:prstGeom>
          <a:solidFill>
            <a:srgbClr val="A8D08C"/>
          </a:solidFill>
          <a:ln cap="flat" cmpd="sng" w="25400">
            <a:solidFill>
              <a:srgbClr val="45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91" name="Google Shape;191;p1"/>
          <p:cNvSpPr txBox="1"/>
          <p:nvPr/>
        </p:nvSpPr>
        <p:spPr>
          <a:xfrm>
            <a:off x="757084" y="138429"/>
            <a:ext cx="7393858"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99"/>
              </a:buClr>
              <a:buSzPts val="2000"/>
              <a:buFont typeface="Comic Sans MS"/>
              <a:buNone/>
            </a:pPr>
            <a:r>
              <a:rPr b="0" i="0" lang="en-US" sz="2000" u="none" cap="none" strike="noStrike">
                <a:solidFill>
                  <a:srgbClr val="FFFF99"/>
                </a:solidFill>
                <a:latin typeface="Comic Sans MS"/>
                <a:ea typeface="Comic Sans MS"/>
                <a:cs typeface="Comic Sans MS"/>
                <a:sym typeface="Comic Sans MS"/>
              </a:rPr>
              <a:t>Department of Computer Science and Engineering (CSE)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99"/>
              </a:buClr>
              <a:buSzPts val="2000"/>
              <a:buFont typeface="Comic Sans MS"/>
              <a:buNone/>
            </a:pPr>
            <a:r>
              <a:rPr b="0" i="0" lang="en-US" sz="2000" u="none" cap="none" strike="noStrike">
                <a:solidFill>
                  <a:srgbClr val="FFFF99"/>
                </a:solidFill>
                <a:latin typeface="Comic Sans MS"/>
                <a:ea typeface="Comic Sans MS"/>
                <a:cs typeface="Comic Sans MS"/>
                <a:sym typeface="Comic Sans MS"/>
              </a:rPr>
              <a:t>BRAC University</a:t>
            </a:r>
            <a:endParaRPr b="0" i="0" sz="2000" u="none" cap="none" strike="noStrike">
              <a:solidFill>
                <a:srgbClr val="FFFF99"/>
              </a:solidFill>
              <a:latin typeface="Comic Sans MS"/>
              <a:ea typeface="Comic Sans MS"/>
              <a:cs typeface="Comic Sans MS"/>
              <a:sym typeface="Comic Sans MS"/>
            </a:endParaRPr>
          </a:p>
        </p:txBody>
      </p:sp>
      <p:grpSp>
        <p:nvGrpSpPr>
          <p:cNvPr id="192" name="Google Shape;192;p1"/>
          <p:cNvGrpSpPr/>
          <p:nvPr/>
        </p:nvGrpSpPr>
        <p:grpSpPr>
          <a:xfrm>
            <a:off x="1914011" y="3671717"/>
            <a:ext cx="6440300" cy="842250"/>
            <a:chOff x="1599051" y="4110951"/>
            <a:chExt cx="6440300" cy="842250"/>
          </a:xfrm>
        </p:grpSpPr>
        <p:pic>
          <p:nvPicPr>
            <p:cNvPr id="193" name="Google Shape;193;p1"/>
            <p:cNvPicPr preferRelativeResize="0"/>
            <p:nvPr/>
          </p:nvPicPr>
          <p:blipFill rotWithShape="1">
            <a:blip r:embed="rId3">
              <a:alphaModFix/>
            </a:blip>
            <a:srcRect b="0" l="0" r="0" t="0"/>
            <a:stretch/>
          </p:blipFill>
          <p:spPr>
            <a:xfrm>
              <a:off x="1599051" y="4110951"/>
              <a:ext cx="863602" cy="792355"/>
            </a:xfrm>
            <a:prstGeom prst="rect">
              <a:avLst/>
            </a:prstGeom>
            <a:noFill/>
            <a:ln>
              <a:noFill/>
            </a:ln>
          </p:spPr>
        </p:pic>
        <p:sp>
          <p:nvSpPr>
            <p:cNvPr id="194" name="Google Shape;194;p1"/>
            <p:cNvSpPr txBox="1"/>
            <p:nvPr/>
          </p:nvSpPr>
          <p:spPr>
            <a:xfrm>
              <a:off x="2538851" y="4168101"/>
              <a:ext cx="5500500" cy="78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8161B"/>
                </a:buClr>
                <a:buSzPts val="1500"/>
                <a:buFont typeface="Comic Sans MS"/>
                <a:buNone/>
              </a:pPr>
              <a:r>
                <a:rPr b="0" i="1" lang="en-US" sz="1500" u="none" cap="small" strike="noStrike">
                  <a:solidFill>
                    <a:srgbClr val="385623"/>
                  </a:solidFill>
                  <a:latin typeface="Comic Sans MS"/>
                  <a:ea typeface="Comic Sans MS"/>
                  <a:cs typeface="Comic Sans MS"/>
                  <a:sym typeface="Comic Sans MS"/>
                </a:rPr>
                <a:t>UTSAB SAHA, Lecturer</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78161B"/>
                </a:buClr>
                <a:buSzPts val="1500"/>
                <a:buFont typeface="Comic Sans MS"/>
                <a:buNone/>
              </a:pPr>
              <a:r>
                <a:rPr b="0" i="1" lang="en-US" sz="1500" u="none" cap="none" strike="noStrike">
                  <a:solidFill>
                    <a:srgbClr val="385623"/>
                  </a:solidFill>
                  <a:latin typeface="Comic Sans MS"/>
                  <a:ea typeface="Comic Sans MS"/>
                  <a:cs typeface="Comic Sans MS"/>
                  <a:sym typeface="Comic Sans MS"/>
                </a:rPr>
                <a:t>Department of Computer Science and Engineering (CSE)</a:t>
              </a:r>
              <a:endParaRPr b="0" i="0" sz="1400" u="none" cap="none" strike="noStrike">
                <a:solidFill>
                  <a:srgbClr val="385623"/>
                </a:solidFill>
                <a:latin typeface="Arial"/>
                <a:ea typeface="Arial"/>
                <a:cs typeface="Arial"/>
                <a:sym typeface="Arial"/>
              </a:endParaRPr>
            </a:p>
            <a:p>
              <a:pPr indent="0" lvl="0" marL="0" marR="0" rtl="0" algn="l">
                <a:lnSpc>
                  <a:spcPct val="100000"/>
                </a:lnSpc>
                <a:spcBef>
                  <a:spcPts val="0"/>
                </a:spcBef>
                <a:spcAft>
                  <a:spcPts val="0"/>
                </a:spcAft>
                <a:buClr>
                  <a:srgbClr val="78161B"/>
                </a:buClr>
                <a:buSzPts val="1500"/>
                <a:buFont typeface="Comic Sans MS"/>
                <a:buNone/>
              </a:pPr>
              <a:r>
                <a:rPr b="0" i="1" lang="en-US" sz="1500" u="none" cap="none" strike="noStrike">
                  <a:solidFill>
                    <a:srgbClr val="385623"/>
                  </a:solidFill>
                  <a:latin typeface="Comic Sans MS"/>
                  <a:ea typeface="Comic Sans MS"/>
                  <a:cs typeface="Comic Sans MS"/>
                  <a:sym typeface="Comic Sans MS"/>
                </a:rPr>
                <a:t>BRAC University</a:t>
              </a:r>
              <a:endParaRPr b="0" i="1" sz="1500" u="none" cap="none" strike="noStrike">
                <a:solidFill>
                  <a:srgbClr val="385623"/>
                </a:solidFill>
                <a:latin typeface="Comic Sans MS"/>
                <a:ea typeface="Comic Sans MS"/>
                <a:cs typeface="Comic Sans MS"/>
                <a:sym typeface="Comic Sans M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8" name="Shape 198"/>
        <p:cNvGrpSpPr/>
        <p:nvPr/>
      </p:nvGrpSpPr>
      <p:grpSpPr>
        <a:xfrm>
          <a:off x="0" y="0"/>
          <a:ext cx="0" cy="0"/>
          <a:chOff x="0" y="0"/>
          <a:chExt cx="0" cy="0"/>
        </a:xfrm>
      </p:grpSpPr>
      <p:sp>
        <p:nvSpPr>
          <p:cNvPr id="199" name="Google Shape;199;p2"/>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00" name="Google Shape;200;p2"/>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Lecture 01: Outline</a:t>
            </a:r>
            <a:endParaRPr sz="3500">
              <a:solidFill>
                <a:srgbClr val="548135"/>
              </a:solidFill>
            </a:endParaRPr>
          </a:p>
        </p:txBody>
      </p:sp>
      <p:sp>
        <p:nvSpPr>
          <p:cNvPr id="201" name="Google Shape;201;p2"/>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pic>
        <p:nvPicPr>
          <p:cNvPr id="202" name="Google Shape;202;p2"/>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03" name="Google Shape;203;p2"/>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04" name="Google Shape;204;p2"/>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05" name="Google Shape;205;p2"/>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06" name="Google Shape;206;p2"/>
          <p:cNvSpPr txBox="1"/>
          <p:nvPr/>
        </p:nvSpPr>
        <p:spPr>
          <a:xfrm>
            <a:off x="251213" y="1062990"/>
            <a:ext cx="8403972" cy="318897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300"/>
              <a:buFont typeface="Noto Sans Symbols"/>
              <a:buChar char="❖"/>
            </a:pPr>
            <a:r>
              <a:rPr b="0" i="0" lang="en-US" sz="2400" u="none" cap="none" strike="noStrike">
                <a:solidFill>
                  <a:srgbClr val="000000"/>
                </a:solidFill>
                <a:latin typeface="Times New Roman"/>
                <a:ea typeface="Times New Roman"/>
                <a:cs typeface="Times New Roman"/>
                <a:sym typeface="Times New Roman"/>
              </a:rPr>
              <a:t>Course Prologue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400" u="none" cap="none" strike="noStrike">
                <a:solidFill>
                  <a:srgbClr val="000000"/>
                </a:solidFill>
                <a:latin typeface="Times New Roman"/>
                <a:ea typeface="Times New Roman"/>
                <a:cs typeface="Times New Roman"/>
                <a:sym typeface="Times New Roman"/>
              </a:rPr>
              <a:t>History of Electronics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400" u="none" cap="none" strike="noStrike">
                <a:solidFill>
                  <a:schemeClr val="dk1"/>
                </a:solidFill>
                <a:latin typeface="Times New Roman"/>
                <a:ea typeface="Times New Roman"/>
                <a:cs typeface="Times New Roman"/>
                <a:sym typeface="Times New Roman"/>
              </a:rPr>
              <a:t>Revisit to CSE 250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400" u="none" cap="none" strike="noStrike">
                <a:solidFill>
                  <a:srgbClr val="000000"/>
                </a:solidFill>
                <a:latin typeface="Times New Roman"/>
                <a:ea typeface="Times New Roman"/>
                <a:cs typeface="Times New Roman"/>
                <a:sym typeface="Times New Roman"/>
              </a:rPr>
              <a:t>Circuit Schematics &amp; Representation</a:t>
            </a:r>
            <a:endParaRPr b="0" i="0" sz="2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400" u="none" cap="none" strike="noStrike">
                <a:solidFill>
                  <a:schemeClr val="dk1"/>
                </a:solidFill>
                <a:latin typeface="Times New Roman"/>
                <a:ea typeface="Times New Roman"/>
                <a:cs typeface="Times New Roman"/>
                <a:sym typeface="Times New Roman"/>
              </a:rPr>
              <a:t>Alternative Circuit Representation: Line Diagram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p63"/>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Course Prologue</a:t>
            </a:r>
            <a:endParaRPr sz="3500">
              <a:solidFill>
                <a:srgbClr val="548135"/>
              </a:solidFill>
            </a:endParaRPr>
          </a:p>
        </p:txBody>
      </p:sp>
      <p:sp>
        <p:nvSpPr>
          <p:cNvPr id="212" name="Google Shape;212;p63"/>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13" name="Google Shape;213;p63"/>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14" name="Google Shape;214;p63"/>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15" name="Google Shape;215;p63"/>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16" name="Google Shape;216;p63"/>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17" name="Google Shape;217;p63"/>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18" name="Google Shape;218;p63"/>
          <p:cNvSpPr txBox="1"/>
          <p:nvPr/>
        </p:nvSpPr>
        <p:spPr>
          <a:xfrm>
            <a:off x="2686050" y="4821743"/>
            <a:ext cx="3565913"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400" u="none" cap="none" strike="noStrike">
              <a:solidFill>
                <a:srgbClr val="000000"/>
              </a:solidFill>
              <a:latin typeface="Arial"/>
              <a:ea typeface="Arial"/>
              <a:cs typeface="Arial"/>
              <a:sym typeface="Arial"/>
            </a:endParaRPr>
          </a:p>
        </p:txBody>
      </p:sp>
      <p:sp>
        <p:nvSpPr>
          <p:cNvPr id="219" name="Google Shape;219;p63"/>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20" name="Google Shape;220;p63"/>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21" name="Google Shape;221;p63"/>
          <p:cNvSpPr txBox="1"/>
          <p:nvPr/>
        </p:nvSpPr>
        <p:spPr>
          <a:xfrm>
            <a:off x="591219" y="1174800"/>
            <a:ext cx="7395810" cy="2793900"/>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a:bodyPr>
          <a:lstStyle/>
          <a:p>
            <a:pPr indent="0" lvl="0" marL="36900" marR="0" rtl="0" algn="l">
              <a:lnSpc>
                <a:spcPct val="100000"/>
              </a:lnSpc>
              <a:spcBef>
                <a:spcPts val="0"/>
              </a:spcBef>
              <a:spcAft>
                <a:spcPts val="0"/>
              </a:spcAft>
              <a:buClr>
                <a:schemeClr val="dk1"/>
              </a:buClr>
              <a:buSzPts val="1960"/>
              <a:buFont typeface="Arial"/>
              <a:buNone/>
            </a:pPr>
            <a:r>
              <a:rPr b="0" i="0" lang="en-US" sz="2400" u="none" cap="none" strike="noStrike">
                <a:solidFill>
                  <a:schemeClr val="dk1"/>
                </a:solidFill>
                <a:latin typeface="Times New Roman"/>
                <a:ea typeface="Times New Roman"/>
                <a:cs typeface="Times New Roman"/>
                <a:sym typeface="Times New Roman"/>
              </a:rPr>
              <a:t>Timelines:</a:t>
            </a:r>
            <a:endParaRPr b="0" i="0" sz="1400" u="none" cap="none" strike="noStrike">
              <a:solidFill>
                <a:srgbClr val="000000"/>
              </a:solidFill>
              <a:latin typeface="Arial"/>
              <a:ea typeface="Arial"/>
              <a:cs typeface="Arial"/>
              <a:sym typeface="Arial"/>
            </a:endParaRPr>
          </a:p>
          <a:p>
            <a:pPr indent="-199320" lvl="0" marL="342900" marR="0" rtl="0" algn="l">
              <a:lnSpc>
                <a:spcPct val="100000"/>
              </a:lnSpc>
              <a:spcBef>
                <a:spcPts val="1080"/>
              </a:spcBef>
              <a:spcAft>
                <a:spcPts val="0"/>
              </a:spcAft>
              <a:buClr>
                <a:schemeClr val="dk1"/>
              </a:buClr>
              <a:buSzPts val="1680"/>
              <a:buFont typeface="Arial"/>
              <a:buNone/>
            </a:pPr>
            <a:r>
              <a:t/>
            </a:r>
            <a:endParaRPr b="0" i="0" sz="2400" u="none" cap="none" strike="noStrike">
              <a:solidFill>
                <a:schemeClr val="dk1"/>
              </a:solidFill>
              <a:latin typeface="Calibri"/>
              <a:ea typeface="Calibri"/>
              <a:cs typeface="Calibri"/>
              <a:sym typeface="Calibri"/>
            </a:endParaRPr>
          </a:p>
          <a:p>
            <a:pPr indent="0" lvl="2" marL="810000" marR="0" rtl="0" algn="l">
              <a:lnSpc>
                <a:spcPct val="100000"/>
              </a:lnSpc>
              <a:spcBef>
                <a:spcPts val="600"/>
              </a:spcBef>
              <a:spcAft>
                <a:spcPts val="0"/>
              </a:spcAft>
              <a:buClr>
                <a:schemeClr val="dk1"/>
              </a:buClr>
              <a:buSzPts val="1680"/>
              <a:buFont typeface="Arial"/>
              <a:buNone/>
            </a:pPr>
            <a:r>
              <a:t/>
            </a:r>
            <a:endParaRPr b="0" i="0" sz="2400" u="sng" cap="none" strike="noStrike">
              <a:solidFill>
                <a:schemeClr val="dk1"/>
              </a:solidFill>
              <a:latin typeface="Calibri"/>
              <a:ea typeface="Calibri"/>
              <a:cs typeface="Calibri"/>
              <a:sym typeface="Calibri"/>
            </a:endParaRPr>
          </a:p>
        </p:txBody>
      </p:sp>
      <p:graphicFrame>
        <p:nvGraphicFramePr>
          <p:cNvPr id="222" name="Google Shape;222;p63"/>
          <p:cNvGraphicFramePr/>
          <p:nvPr/>
        </p:nvGraphicFramePr>
        <p:xfrm>
          <a:off x="1129937" y="1798264"/>
          <a:ext cx="3000000" cy="3000000"/>
        </p:xfrm>
        <a:graphic>
          <a:graphicData uri="http://schemas.openxmlformats.org/drawingml/2006/table">
            <a:tbl>
              <a:tblPr>
                <a:noFill/>
                <a:tableStyleId>{F2F2BFE4-3AE1-4D46-9B7E-5670BDDC8E4B}</a:tableStyleId>
              </a:tblPr>
              <a:tblGrid>
                <a:gridCol w="2163650"/>
                <a:gridCol w="4720475"/>
              </a:tblGrid>
              <a:tr h="4497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31.01.2026</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Classes of Spring begin</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r>
              <a:tr h="3551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30.03.2026</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MID Term Exam</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r>
              <a:tr h="3551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10.05.2026</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Last class of Spring 26</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r>
              <a:tr h="3551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13.05.2026</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Times New Roman"/>
                          <a:ea typeface="Times New Roman"/>
                          <a:cs typeface="Times New Roman"/>
                          <a:sym typeface="Times New Roman"/>
                        </a:rPr>
                        <a:t>                         Final Exam</a:t>
                      </a:r>
                      <a:endParaRPr sz="1800" u="none" cap="none" strike="noStrike">
                        <a:solidFill>
                          <a:schemeClr val="dk1"/>
                        </a:solidFill>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64"/>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Course Prologue</a:t>
            </a:r>
            <a:endParaRPr sz="3500">
              <a:solidFill>
                <a:srgbClr val="548135"/>
              </a:solidFill>
            </a:endParaRPr>
          </a:p>
        </p:txBody>
      </p:sp>
      <p:sp>
        <p:nvSpPr>
          <p:cNvPr id="228" name="Google Shape;228;p64"/>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29" name="Google Shape;229;p64"/>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30" name="Google Shape;230;p64"/>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31" name="Google Shape;231;p64"/>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32" name="Google Shape;232;p64"/>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33" name="Google Shape;233;p64"/>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34" name="Google Shape;234;p64"/>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235" name="Google Shape;235;p64"/>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36" name="Google Shape;236;p64"/>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37" name="Google Shape;237;p64"/>
          <p:cNvSpPr txBox="1"/>
          <p:nvPr/>
        </p:nvSpPr>
        <p:spPr>
          <a:xfrm>
            <a:off x="591219" y="1174800"/>
            <a:ext cx="2986371" cy="493980"/>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a:bodyPr>
          <a:lstStyle/>
          <a:p>
            <a:pPr indent="0" lvl="0" marL="36900" marR="0" rtl="0" algn="l">
              <a:lnSpc>
                <a:spcPct val="100000"/>
              </a:lnSpc>
              <a:spcBef>
                <a:spcPts val="0"/>
              </a:spcBef>
              <a:spcAft>
                <a:spcPts val="0"/>
              </a:spcAft>
              <a:buClr>
                <a:schemeClr val="dk1"/>
              </a:buClr>
              <a:buSzPts val="1960"/>
              <a:buFont typeface="Arial"/>
              <a:buNone/>
            </a:pPr>
            <a:r>
              <a:rPr b="0" i="0" lang="en-US" sz="2400" u="none" cap="none" strike="noStrike">
                <a:solidFill>
                  <a:schemeClr val="dk1"/>
                </a:solidFill>
                <a:latin typeface="Times New Roman"/>
                <a:ea typeface="Times New Roman"/>
                <a:cs typeface="Times New Roman"/>
                <a:sym typeface="Times New Roman"/>
              </a:rPr>
              <a:t>Distribution of Marks:</a:t>
            </a:r>
            <a:endParaRPr b="0" i="0" sz="1400" u="none" cap="none" strike="noStrike">
              <a:solidFill>
                <a:srgbClr val="000000"/>
              </a:solidFill>
              <a:latin typeface="Arial"/>
              <a:ea typeface="Arial"/>
              <a:cs typeface="Arial"/>
              <a:sym typeface="Arial"/>
            </a:endParaRPr>
          </a:p>
          <a:p>
            <a:pPr indent="-199320" lvl="0" marL="342900" marR="0" rtl="0" algn="l">
              <a:lnSpc>
                <a:spcPct val="100000"/>
              </a:lnSpc>
              <a:spcBef>
                <a:spcPts val="1080"/>
              </a:spcBef>
              <a:spcAft>
                <a:spcPts val="0"/>
              </a:spcAft>
              <a:buClr>
                <a:schemeClr val="dk1"/>
              </a:buClr>
              <a:buSzPts val="1680"/>
              <a:buFont typeface="Arial"/>
              <a:buNone/>
            </a:pPr>
            <a:r>
              <a:t/>
            </a:r>
            <a:endParaRPr b="0" i="0" sz="2400" u="none" cap="none" strike="noStrike">
              <a:solidFill>
                <a:schemeClr val="dk1"/>
              </a:solidFill>
              <a:latin typeface="Calibri"/>
              <a:ea typeface="Calibri"/>
              <a:cs typeface="Calibri"/>
              <a:sym typeface="Calibri"/>
            </a:endParaRPr>
          </a:p>
          <a:p>
            <a:pPr indent="0" lvl="2" marL="810000" marR="0" rtl="0" algn="l">
              <a:lnSpc>
                <a:spcPct val="100000"/>
              </a:lnSpc>
              <a:spcBef>
                <a:spcPts val="600"/>
              </a:spcBef>
              <a:spcAft>
                <a:spcPts val="0"/>
              </a:spcAft>
              <a:buClr>
                <a:schemeClr val="dk1"/>
              </a:buClr>
              <a:buSzPts val="1680"/>
              <a:buFont typeface="Arial"/>
              <a:buNone/>
            </a:pPr>
            <a:r>
              <a:t/>
            </a:r>
            <a:endParaRPr b="0" i="0" sz="2400" u="sng" cap="none" strike="noStrike">
              <a:solidFill>
                <a:schemeClr val="dk1"/>
              </a:solidFill>
              <a:latin typeface="Calibri"/>
              <a:ea typeface="Calibri"/>
              <a:cs typeface="Calibri"/>
              <a:sym typeface="Calibri"/>
            </a:endParaRPr>
          </a:p>
        </p:txBody>
      </p:sp>
      <p:graphicFrame>
        <p:nvGraphicFramePr>
          <p:cNvPr id="238" name="Google Shape;238;p64"/>
          <p:cNvGraphicFramePr/>
          <p:nvPr/>
        </p:nvGraphicFramePr>
        <p:xfrm>
          <a:off x="402072" y="1645079"/>
          <a:ext cx="3000000" cy="3000000"/>
        </p:xfrm>
        <a:graphic>
          <a:graphicData uri="http://schemas.openxmlformats.org/drawingml/2006/table">
            <a:tbl>
              <a:tblPr>
                <a:noFill/>
                <a:tableStyleId>{F2F2BFE4-3AE1-4D46-9B7E-5670BDDC8E4B}</a:tableStyleId>
              </a:tblPr>
              <a:tblGrid>
                <a:gridCol w="1610375"/>
                <a:gridCol w="1826275"/>
                <a:gridCol w="2175025"/>
                <a:gridCol w="251632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Assessment</a:t>
                      </a:r>
                      <a:endParaRPr sz="1800" u="none" cap="none" strike="noStrike">
                        <a:solidFill>
                          <a:schemeClr val="dk1"/>
                        </a:solidFill>
                        <a:latin typeface="Times New Roman"/>
                        <a:ea typeface="Times New Roman"/>
                        <a:cs typeface="Times New Roman"/>
                        <a:sym typeface="Times New Roman"/>
                      </a:endParaRPr>
                    </a:p>
                  </a:txBody>
                  <a:tcPr marT="63500" marB="63500" marR="63500" marL="63500" anchor="ct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Percentage</a:t>
                      </a:r>
                      <a:endParaRPr sz="1800" u="none" cap="none" strike="noStrike">
                        <a:solidFill>
                          <a:schemeClr val="dk1"/>
                        </a:solidFill>
                        <a:latin typeface="Times New Roman"/>
                        <a:ea typeface="Times New Roman"/>
                        <a:cs typeface="Times New Roman"/>
                        <a:sym typeface="Times New Roman"/>
                      </a:endParaRPr>
                    </a:p>
                  </a:txBody>
                  <a:tcPr marT="63500" marB="63500" marR="63500" marL="63500" anchor="ct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Total number of assessments </a:t>
                      </a:r>
                      <a:endParaRPr sz="1800" u="none" cap="none" strike="noStrike">
                        <a:solidFill>
                          <a:schemeClr val="dk1"/>
                        </a:solidFill>
                        <a:latin typeface="Times New Roman"/>
                        <a:ea typeface="Times New Roman"/>
                        <a:cs typeface="Times New Roman"/>
                        <a:sym typeface="Times New Roman"/>
                      </a:endParaRPr>
                    </a:p>
                  </a:txBody>
                  <a:tcPr marT="63500" marB="63500" marR="63500" marL="63500" anchor="ct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Number of assessment to be graded</a:t>
                      </a:r>
                      <a:endParaRPr sz="1800" u="none" cap="none" strike="noStrike">
                        <a:solidFill>
                          <a:schemeClr val="dk1"/>
                        </a:solidFill>
                        <a:latin typeface="Times New Roman"/>
                        <a:ea typeface="Times New Roman"/>
                        <a:cs typeface="Times New Roman"/>
                        <a:sym typeface="Times New Roman"/>
                      </a:endParaRPr>
                    </a:p>
                  </a:txBody>
                  <a:tcPr marT="63500" marB="63500" marR="63500" marL="63500" anchor="ctr"/>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Attendance</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lang="en-US" sz="1800" u="none" cap="none" strike="noStrike">
                          <a:solidFill>
                            <a:srgbClr val="000000"/>
                          </a:solidFill>
                          <a:latin typeface="Times New Roman"/>
                          <a:ea typeface="Times New Roman"/>
                          <a:cs typeface="Times New Roman"/>
                          <a:sym typeface="Times New Roman"/>
                        </a:rPr>
                        <a:t>5%</a:t>
                      </a:r>
                      <a:endParaRPr b="1"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Assignment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1" lang="en-US" sz="1800" u="none" cap="none" strike="noStrike">
                          <a:latin typeface="Times New Roman"/>
                          <a:ea typeface="Times New Roman"/>
                          <a:cs typeface="Times New Roman"/>
                          <a:sym typeface="Times New Roman"/>
                        </a:rPr>
                        <a:t>5</a:t>
                      </a:r>
                      <a:r>
                        <a:rPr b="1"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lang="en-US" sz="1800" u="none" cap="none" strike="noStrike">
                          <a:latin typeface="Times New Roman"/>
                          <a:ea typeface="Times New Roman"/>
                          <a:cs typeface="Times New Roman"/>
                          <a:sym typeface="Times New Roman"/>
                        </a:rPr>
                        <a:t>3/4</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C00000"/>
                          </a:solidFill>
                          <a:latin typeface="Times New Roman"/>
                          <a:ea typeface="Times New Roman"/>
                          <a:cs typeface="Times New Roman"/>
                          <a:sym typeface="Times New Roman"/>
                        </a:rPr>
                        <a:t>[if n&gt;3; Best (n-1)]</a:t>
                      </a:r>
                      <a:endParaRPr sz="1800" u="none" cap="none" strike="noStrike">
                        <a:solidFill>
                          <a:srgbClr val="C00000"/>
                        </a:solidFill>
                        <a:latin typeface="Times New Roman"/>
                        <a:ea typeface="Times New Roman"/>
                        <a:cs typeface="Times New Roman"/>
                        <a:sym typeface="Times New Roman"/>
                      </a:endParaRPr>
                    </a:p>
                  </a:txBody>
                  <a:tcPr marT="63500" marB="63500" marR="63500" marL="6350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Quiz</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1</a:t>
                      </a:r>
                      <a:r>
                        <a:rPr lang="en-US" sz="1800" u="none" cap="none" strike="noStrike">
                          <a:latin typeface="Times New Roman"/>
                          <a:ea typeface="Times New Roman"/>
                          <a:cs typeface="Times New Roman"/>
                          <a:sym typeface="Times New Roman"/>
                        </a:rPr>
                        <a:t>5</a:t>
                      </a: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4</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Best 3 </a:t>
                      </a:r>
                      <a:r>
                        <a:rPr b="0" i="0" lang="en-US" sz="1800" u="none" cap="none" strike="noStrike">
                          <a:solidFill>
                            <a:srgbClr val="C00000"/>
                          </a:solidFill>
                          <a:latin typeface="Times New Roman"/>
                          <a:ea typeface="Times New Roman"/>
                          <a:cs typeface="Times New Roman"/>
                          <a:sym typeface="Times New Roman"/>
                        </a:rPr>
                        <a:t>[Best (n-1)]</a:t>
                      </a:r>
                      <a:endParaRPr sz="1800" u="none" cap="none" strike="noStrike">
                        <a:solidFill>
                          <a:srgbClr val="C00000"/>
                        </a:solidFill>
                        <a:latin typeface="Times New Roman"/>
                        <a:ea typeface="Times New Roman"/>
                        <a:cs typeface="Times New Roman"/>
                        <a:sym typeface="Times New Roman"/>
                      </a:endParaRPr>
                    </a:p>
                  </a:txBody>
                  <a:tcPr marT="63500" marB="63500" marR="63500" marL="6350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Midterm</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2</a:t>
                      </a:r>
                      <a:r>
                        <a:rPr lang="en-US" sz="1800" u="none" cap="none" strike="noStrike">
                          <a:solidFill>
                            <a:srgbClr val="000000"/>
                          </a:solidFill>
                          <a:latin typeface="Times New Roman"/>
                          <a:ea typeface="Times New Roman"/>
                          <a:cs typeface="Times New Roman"/>
                          <a:sym typeface="Times New Roman"/>
                        </a:rPr>
                        <a:t>5</a:t>
                      </a: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1</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1</a:t>
                      </a:r>
                      <a:endParaRPr sz="1800" u="none" cap="none" strike="noStrike">
                        <a:latin typeface="Times New Roman"/>
                        <a:ea typeface="Times New Roman"/>
                        <a:cs typeface="Times New Roman"/>
                        <a:sym typeface="Times New Roman"/>
                      </a:endParaRPr>
                    </a:p>
                  </a:txBody>
                  <a:tcPr marT="63500" marB="63500" marR="63500" marL="6350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Final</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2</a:t>
                      </a:r>
                      <a:r>
                        <a:rPr lang="en-US" sz="1800" u="none" cap="none" strike="noStrike">
                          <a:solidFill>
                            <a:srgbClr val="000000"/>
                          </a:solidFill>
                          <a:latin typeface="Times New Roman"/>
                          <a:ea typeface="Times New Roman"/>
                          <a:cs typeface="Times New Roman"/>
                          <a:sym typeface="Times New Roman"/>
                        </a:rPr>
                        <a:t>5</a:t>
                      </a: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1</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1</a:t>
                      </a:r>
                      <a:endParaRPr sz="1800" u="none" cap="none" strike="noStrike">
                        <a:latin typeface="Times New Roman"/>
                        <a:ea typeface="Times New Roman"/>
                        <a:cs typeface="Times New Roman"/>
                        <a:sym typeface="Times New Roman"/>
                      </a:endParaRPr>
                    </a:p>
                  </a:txBody>
                  <a:tcPr marT="63500" marB="63500" marR="63500" marL="6350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Lab</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2</a:t>
                      </a:r>
                      <a:r>
                        <a:rPr lang="en-US" sz="1800" u="none" cap="none" strike="noStrike">
                          <a:solidFill>
                            <a:srgbClr val="000000"/>
                          </a:solidFill>
                          <a:latin typeface="Times New Roman"/>
                          <a:ea typeface="Times New Roman"/>
                          <a:cs typeface="Times New Roman"/>
                          <a:sym typeface="Times New Roman"/>
                        </a:rPr>
                        <a:t>5</a:t>
                      </a: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800" u="none" cap="none" strike="noStrike">
                          <a:solidFill>
                            <a:srgbClr val="000000"/>
                          </a:solidFill>
                          <a:latin typeface="Times New Roman"/>
                          <a:ea typeface="Times New Roman"/>
                          <a:cs typeface="Times New Roman"/>
                          <a:sym typeface="Times New Roman"/>
                        </a:rPr>
                        <a:t>-</a:t>
                      </a:r>
                      <a:endParaRPr sz="18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5"/>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Course Prologue</a:t>
            </a:r>
            <a:endParaRPr sz="3500">
              <a:solidFill>
                <a:srgbClr val="548135"/>
              </a:solidFill>
            </a:endParaRPr>
          </a:p>
        </p:txBody>
      </p:sp>
      <p:sp>
        <p:nvSpPr>
          <p:cNvPr id="244" name="Google Shape;244;p65"/>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45" name="Google Shape;245;p65"/>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46" name="Google Shape;246;p65"/>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47" name="Google Shape;247;p65"/>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48" name="Google Shape;248;p65"/>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49" name="Google Shape;249;p65"/>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50" name="Google Shape;250;p65"/>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251" name="Google Shape;251;p65"/>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52" name="Google Shape;252;p65"/>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53" name="Google Shape;253;p65"/>
          <p:cNvSpPr txBox="1"/>
          <p:nvPr/>
        </p:nvSpPr>
        <p:spPr>
          <a:xfrm>
            <a:off x="0" y="1245870"/>
            <a:ext cx="8655185" cy="3494955"/>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Autofit/>
          </a:bodyPr>
          <a:lstStyle/>
          <a:p>
            <a:pPr indent="0" lvl="0" marL="36900" marR="0" rtl="0" algn="l">
              <a:lnSpc>
                <a:spcPct val="100000"/>
              </a:lnSpc>
              <a:spcBef>
                <a:spcPts val="0"/>
              </a:spcBef>
              <a:spcAft>
                <a:spcPts val="0"/>
              </a:spcAft>
              <a:buClr>
                <a:schemeClr val="dk1"/>
              </a:buClr>
              <a:buSzPts val="1960"/>
              <a:buFont typeface="Arial"/>
              <a:buNone/>
            </a:pPr>
            <a:r>
              <a:rPr b="0" i="0" lang="en-US" sz="2500" u="none" cap="none" strike="noStrike">
                <a:solidFill>
                  <a:schemeClr val="dk1"/>
                </a:solidFill>
                <a:latin typeface="Times New Roman"/>
                <a:ea typeface="Times New Roman"/>
                <a:cs typeface="Times New Roman"/>
                <a:sym typeface="Times New Roman"/>
              </a:rPr>
              <a:t>Things to remember:</a:t>
            </a:r>
            <a:endParaRPr b="0" i="0" sz="1400" u="none" cap="none" strike="noStrike">
              <a:solidFill>
                <a:srgbClr val="000000"/>
              </a:solidFill>
              <a:latin typeface="Arial"/>
              <a:ea typeface="Arial"/>
              <a:cs typeface="Arial"/>
              <a:sym typeface="Arial"/>
            </a:endParaRPr>
          </a:p>
          <a:p>
            <a:pPr indent="0" lvl="0" marL="36900" marR="0" rtl="0" algn="l">
              <a:lnSpc>
                <a:spcPct val="100000"/>
              </a:lnSpc>
              <a:spcBef>
                <a:spcPts val="0"/>
              </a:spcBef>
              <a:spcAft>
                <a:spcPts val="0"/>
              </a:spcAft>
              <a:buClr>
                <a:schemeClr val="dk1"/>
              </a:buClr>
              <a:buSzPts val="196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60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Quiz questions should help prepare the students for the midterm and final exams.</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Questions for quiz, midterm, and final are often modified versions of assignments</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60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You can collab, but </a:t>
            </a:r>
            <a:r>
              <a:rPr b="0" i="0" lang="en-US" sz="1800" u="none" cap="none" strike="noStrike">
                <a:solidFill>
                  <a:schemeClr val="dk1"/>
                </a:solidFill>
                <a:highlight>
                  <a:srgbClr val="FFFF00"/>
                </a:highlight>
                <a:latin typeface="Times New Roman"/>
                <a:ea typeface="Times New Roman"/>
                <a:cs typeface="Times New Roman"/>
                <a:sym typeface="Times New Roman"/>
              </a:rPr>
              <a:t>you cannot copy</a:t>
            </a:r>
            <a:r>
              <a:rPr b="0" i="0"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highlight>
                  <a:srgbClr val="FF0000"/>
                </a:highlight>
                <a:latin typeface="Times New Roman"/>
                <a:ea typeface="Times New Roman"/>
                <a:cs typeface="Times New Roman"/>
                <a:sym typeface="Times New Roman"/>
              </a:rPr>
              <a:t>Plagiarism will result in null marks</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66"/>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Course Prologue</a:t>
            </a:r>
            <a:endParaRPr sz="3500">
              <a:solidFill>
                <a:srgbClr val="548135"/>
              </a:solidFill>
            </a:endParaRPr>
          </a:p>
        </p:txBody>
      </p:sp>
      <p:sp>
        <p:nvSpPr>
          <p:cNvPr id="259" name="Google Shape;259;p66"/>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60" name="Google Shape;260;p66"/>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61" name="Google Shape;261;p66"/>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62" name="Google Shape;262;p66"/>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63" name="Google Shape;263;p66"/>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64" name="Google Shape;264;p66"/>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65" name="Google Shape;265;p66"/>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266" name="Google Shape;266;p66"/>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67" name="Google Shape;267;p66"/>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68" name="Google Shape;268;p66"/>
          <p:cNvSpPr txBox="1"/>
          <p:nvPr/>
        </p:nvSpPr>
        <p:spPr>
          <a:xfrm>
            <a:off x="377094" y="1287895"/>
            <a:ext cx="8233180" cy="2847109"/>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a:bodyPr>
          <a:lstStyle/>
          <a:p>
            <a:pPr indent="-285750" lvl="0" marL="322650" marR="0" rtl="0" algn="l">
              <a:lnSpc>
                <a:spcPct val="100000"/>
              </a:lnSpc>
              <a:spcBef>
                <a:spcPts val="0"/>
              </a:spcBef>
              <a:spcAft>
                <a:spcPts val="0"/>
              </a:spcAft>
              <a:buClr>
                <a:schemeClr val="dk1"/>
              </a:buClr>
              <a:buSzPts val="1960"/>
              <a:buFont typeface="Noto Sans Symbols"/>
              <a:buChar char="❑"/>
            </a:pPr>
            <a:r>
              <a:rPr b="0" i="0" lang="en-US" sz="1800" u="none" cap="none" strike="noStrike">
                <a:solidFill>
                  <a:schemeClr val="dk1"/>
                </a:solidFill>
                <a:latin typeface="Times New Roman"/>
                <a:ea typeface="Times New Roman"/>
                <a:cs typeface="Times New Roman"/>
                <a:sym typeface="Times New Roman"/>
              </a:rPr>
              <a:t>Absence/Late Policies:</a:t>
            </a:r>
            <a:endParaRPr b="0" i="0" sz="1400" u="none" cap="none" strike="noStrike">
              <a:solidFill>
                <a:srgbClr val="000000"/>
              </a:solidFill>
              <a:latin typeface="Arial"/>
              <a:ea typeface="Arial"/>
              <a:cs typeface="Arial"/>
              <a:sym typeface="Arial"/>
            </a:endParaRPr>
          </a:p>
          <a:p>
            <a:pPr indent="-285750" lvl="2" marL="1095750" marR="0" rtl="0" algn="l">
              <a:lnSpc>
                <a:spcPct val="100000"/>
              </a:lnSpc>
              <a:spcBef>
                <a:spcPts val="60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Attendance will be recorded and shared</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Attendance: P/A/L. You can be ‘Excused’ for ‘A’ if you show Medical documents</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0"/>
              </a:spcBef>
              <a:spcAft>
                <a:spcPts val="0"/>
              </a:spcAft>
              <a:buClr>
                <a:srgbClr val="DADADA"/>
              </a:buClr>
              <a:buSzPts val="1400"/>
              <a:buFont typeface="Noto Sans Symbols"/>
              <a:buChar char="❑"/>
            </a:pPr>
            <a:r>
              <a:rPr b="1" i="0" lang="en-US" sz="1800" u="none" cap="none" strike="noStrike">
                <a:solidFill>
                  <a:schemeClr val="dk1"/>
                </a:solidFill>
                <a:latin typeface="Times New Roman"/>
                <a:ea typeface="Times New Roman"/>
                <a:cs typeface="Times New Roman"/>
                <a:sym typeface="Times New Roman"/>
              </a:rPr>
              <a:t>Attendance&lt;70%</a:t>
            </a:r>
            <a:r>
              <a:rPr b="0" i="0" lang="en-US" sz="1800" u="none" cap="none" strike="noStrike">
                <a:solidFill>
                  <a:schemeClr val="dk1"/>
                </a:solidFill>
                <a:latin typeface="Times New Roman"/>
                <a:ea typeface="Times New Roman"/>
                <a:cs typeface="Times New Roman"/>
                <a:sym typeface="Times New Roman"/>
              </a:rPr>
              <a:t> won’t qualify for Mid/Final</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Assignment deadlines won’t change</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0"/>
              </a:spcBef>
              <a:spcAft>
                <a:spcPts val="0"/>
              </a:spcAft>
              <a:buClr>
                <a:srgbClr val="DADADA"/>
              </a:buClr>
              <a:buSzPts val="1400"/>
              <a:buFont typeface="Noto Sans Symbols"/>
              <a:buChar char="❑"/>
            </a:pPr>
            <a:r>
              <a:rPr b="0" i="0" lang="en-US" sz="1800" u="none" cap="none" strike="noStrike">
                <a:solidFill>
                  <a:schemeClr val="dk1"/>
                </a:solidFill>
                <a:latin typeface="Times New Roman"/>
                <a:ea typeface="Times New Roman"/>
                <a:cs typeface="Times New Roman"/>
                <a:sym typeface="Times New Roman"/>
              </a:rPr>
              <a:t>You can be late for a total of 4 days for assignments in the entire semester</a:t>
            </a:r>
            <a:endParaRPr b="0" i="0" sz="1800" u="none" cap="none" strike="noStrike">
              <a:solidFill>
                <a:schemeClr val="dk1"/>
              </a:solidFill>
              <a:latin typeface="Times New Roman"/>
              <a:ea typeface="Times New Roman"/>
              <a:cs typeface="Times New Roman"/>
              <a:sym typeface="Times New Roman"/>
            </a:endParaRPr>
          </a:p>
          <a:p>
            <a:pPr indent="-285750" lvl="0" marL="322650" marR="0" rtl="0" algn="l">
              <a:lnSpc>
                <a:spcPct val="100000"/>
              </a:lnSpc>
              <a:spcBef>
                <a:spcPts val="560"/>
              </a:spcBef>
              <a:spcAft>
                <a:spcPts val="0"/>
              </a:spcAft>
              <a:buClr>
                <a:srgbClr val="DADADA"/>
              </a:buClr>
              <a:buSzPts val="1960"/>
              <a:buFont typeface="Noto Sans Symbols"/>
              <a:buChar char="❑"/>
            </a:pPr>
            <a:r>
              <a:rPr b="1" i="0" lang="en-US" sz="1800" u="none" cap="none" strike="noStrike">
                <a:solidFill>
                  <a:schemeClr val="dk1"/>
                </a:solidFill>
                <a:latin typeface="Times New Roman"/>
                <a:ea typeface="Times New Roman"/>
                <a:cs typeface="Times New Roman"/>
                <a:sym typeface="Times New Roman"/>
              </a:rPr>
              <a:t>DO NOT</a:t>
            </a: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285750" lvl="2" marL="1095750" marR="0" rtl="0" algn="l">
              <a:lnSpc>
                <a:spcPct val="100000"/>
              </a:lnSpc>
              <a:spcBef>
                <a:spcPts val="600"/>
              </a:spcBef>
              <a:spcAft>
                <a:spcPts val="0"/>
              </a:spcAft>
              <a:buClr>
                <a:srgbClr val="DADADA"/>
              </a:buClr>
              <a:buSzPts val="1400"/>
              <a:buFont typeface="Noto Sans Symbols"/>
              <a:buChar char="❑"/>
            </a:pPr>
            <a:r>
              <a:rPr b="0" i="0" lang="en-US" sz="1800" u="none" cap="none" strike="noStrike">
                <a:solidFill>
                  <a:schemeClr val="dk1"/>
                </a:solidFill>
                <a:highlight>
                  <a:srgbClr val="FFFF00"/>
                </a:highlight>
                <a:latin typeface="Times New Roman"/>
                <a:ea typeface="Times New Roman"/>
                <a:cs typeface="Times New Roman"/>
                <a:sym typeface="Times New Roman"/>
              </a:rPr>
              <a:t>Copy/Cheat</a:t>
            </a:r>
            <a:r>
              <a:rPr b="0" i="0" lang="en-US" sz="1800" u="none" cap="none" strike="noStrike">
                <a:solidFill>
                  <a:schemeClr val="dk1"/>
                </a:solidFill>
                <a:latin typeface="Times New Roman"/>
                <a:ea typeface="Times New Roman"/>
                <a:cs typeface="Times New Roman"/>
                <a:sym typeface="Times New Roman"/>
              </a:rPr>
              <a:t>. If so, </a:t>
            </a:r>
            <a:r>
              <a:rPr b="0" i="0" lang="en-US" sz="1800" u="none" cap="none" strike="noStrike">
                <a:solidFill>
                  <a:schemeClr val="dk1"/>
                </a:solidFill>
                <a:highlight>
                  <a:srgbClr val="FF0000"/>
                </a:highlight>
                <a:latin typeface="Times New Roman"/>
                <a:ea typeface="Times New Roman"/>
                <a:cs typeface="Times New Roman"/>
                <a:sym typeface="Times New Roman"/>
              </a:rPr>
              <a:t>negative/capped marks/suspension</a:t>
            </a:r>
            <a:r>
              <a:rPr b="0" i="0" lang="en-US" sz="1800" u="none" cap="none" strike="noStrike">
                <a:solidFill>
                  <a:schemeClr val="dk1"/>
                </a:solidFill>
                <a:latin typeface="Times New Roman"/>
                <a:ea typeface="Times New Roman"/>
                <a:cs typeface="Times New Roman"/>
                <a:sym typeface="Times New Roman"/>
              </a:rPr>
              <a:t> will be the outcome</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67"/>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History of Electronics</a:t>
            </a:r>
            <a:endParaRPr/>
          </a:p>
        </p:txBody>
      </p:sp>
      <p:sp>
        <p:nvSpPr>
          <p:cNvPr id="274" name="Google Shape;274;p67"/>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75" name="Google Shape;275;p67"/>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76" name="Google Shape;276;p67"/>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77" name="Google Shape;277;p67"/>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78" name="Google Shape;278;p67"/>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79" name="Google Shape;279;p67"/>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80" name="Google Shape;280;p67"/>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281" name="Google Shape;281;p67"/>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82" name="Google Shape;282;p67"/>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83" name="Google Shape;283;p67"/>
          <p:cNvSpPr txBox="1"/>
          <p:nvPr/>
        </p:nvSpPr>
        <p:spPr>
          <a:xfrm>
            <a:off x="231228" y="909995"/>
            <a:ext cx="8569267" cy="3662005"/>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Autofit/>
          </a:bodyPr>
          <a:lstStyle/>
          <a:p>
            <a:pPr indent="-306000" lvl="0" marL="342900" marR="0" rtl="0" algn="just">
              <a:lnSpc>
                <a:spcPct val="100000"/>
              </a:lnSpc>
              <a:spcBef>
                <a:spcPts val="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Electronics emerged with the discovery of the electron in 1897 and the invention of the vacuum tube, which amplified and rectified electrical signals.</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Vacuum tubes [</a:t>
            </a:r>
            <a:r>
              <a:rPr b="0" i="0" lang="en-US" sz="1400" u="sng" cap="none" strike="noStrike">
                <a:solidFill>
                  <a:schemeClr val="hlink"/>
                </a:solidFill>
                <a:latin typeface="Times New Roman"/>
                <a:ea typeface="Times New Roman"/>
                <a:cs typeface="Times New Roman"/>
                <a:sym typeface="Times New Roman"/>
                <a:hlinkClick r:id="rId4"/>
              </a:rPr>
              <a:t>Link</a:t>
            </a:r>
            <a:r>
              <a:rPr b="0" i="0" lang="en-US" sz="1400" u="none" cap="none" strike="noStrike">
                <a:solidFill>
                  <a:schemeClr val="dk1"/>
                </a:solidFill>
                <a:latin typeface="Times New Roman"/>
                <a:ea typeface="Times New Roman"/>
                <a:cs typeface="Times New Roman"/>
                <a:sym typeface="Times New Roman"/>
              </a:rPr>
              <a:t>] were the first active electronic components and revolutionized various industries, including radio, television, telephony, and music recording.</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The point-contact [</a:t>
            </a:r>
            <a:r>
              <a:rPr b="0" i="0" lang="en-US" sz="1400" u="sng" cap="none" strike="noStrike">
                <a:solidFill>
                  <a:schemeClr val="hlink"/>
                </a:solidFill>
                <a:latin typeface="Times New Roman"/>
                <a:ea typeface="Times New Roman"/>
                <a:cs typeface="Times New Roman"/>
                <a:sym typeface="Times New Roman"/>
                <a:hlinkClick r:id="rId5"/>
              </a:rPr>
              <a:t>Link</a:t>
            </a:r>
            <a:r>
              <a:rPr b="0" i="0" lang="en-US" sz="1400" u="none" cap="none" strike="noStrike">
                <a:solidFill>
                  <a:schemeClr val="dk1"/>
                </a:solidFill>
                <a:latin typeface="Times New Roman"/>
                <a:ea typeface="Times New Roman"/>
                <a:cs typeface="Times New Roman"/>
                <a:sym typeface="Times New Roman"/>
              </a:rPr>
              <a:t>] transistor was invented in 1947, marking a significant technological advancement, although vacuum tubes still dominated until the 1980s.</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The IBM 608 [</a:t>
            </a:r>
            <a:r>
              <a:rPr b="0" i="0" lang="en-US" sz="1400" u="sng" cap="none" strike="noStrike">
                <a:solidFill>
                  <a:schemeClr val="hlink"/>
                </a:solidFill>
                <a:latin typeface="Times New Roman"/>
                <a:ea typeface="Times New Roman"/>
                <a:cs typeface="Times New Roman"/>
                <a:sym typeface="Times New Roman"/>
                <a:hlinkClick r:id="rId6"/>
              </a:rPr>
              <a:t>Link</a:t>
            </a:r>
            <a:r>
              <a:rPr b="0" i="0" lang="en-US" sz="1400" u="none" cap="none" strike="noStrike">
                <a:solidFill>
                  <a:schemeClr val="dk1"/>
                </a:solidFill>
                <a:latin typeface="Times New Roman"/>
                <a:ea typeface="Times New Roman"/>
                <a:cs typeface="Times New Roman"/>
                <a:sym typeface="Times New Roman"/>
              </a:rPr>
              <a:t>] calculator in 1955 became the first commercial product to use transistors exclusively, leading to their widespread use in computer logic and peripherals.</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The MOSFET [</a:t>
            </a:r>
            <a:r>
              <a:rPr b="0" i="0" lang="en-US" sz="1400" u="sng" cap="none" strike="noStrike">
                <a:solidFill>
                  <a:schemeClr val="hlink"/>
                </a:solidFill>
                <a:latin typeface="Times New Roman"/>
                <a:ea typeface="Times New Roman"/>
                <a:cs typeface="Times New Roman"/>
                <a:sym typeface="Times New Roman"/>
                <a:hlinkClick r:id="rId7"/>
              </a:rPr>
              <a:t>Link</a:t>
            </a:r>
            <a:r>
              <a:rPr b="0" i="0" lang="en-US" sz="1400" u="none" cap="none" strike="noStrike">
                <a:solidFill>
                  <a:schemeClr val="dk1"/>
                </a:solidFill>
                <a:latin typeface="Times New Roman"/>
                <a:ea typeface="Times New Roman"/>
                <a:cs typeface="Times New Roman"/>
                <a:sym typeface="Times New Roman"/>
              </a:rPr>
              <a:t>], invented in 1959, revolutionized the electronics industry with its compact size, mass production capabilities, low power consumption, and versatility.</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The integrated circuit/IC, developed by Jack Kilby and Robert Noyce, solved the problem of circuit size and speed by integrating components onto a single semiconductor block.</a:t>
            </a:r>
            <a:endParaRPr b="0" i="0" sz="1400" u="none" cap="none" strike="noStrike">
              <a:solidFill>
                <a:srgbClr val="000000"/>
              </a:solidFill>
              <a:latin typeface="Arial"/>
              <a:ea typeface="Arial"/>
              <a:cs typeface="Arial"/>
              <a:sym typeface="Arial"/>
            </a:endParaRPr>
          </a:p>
          <a:p>
            <a:pPr indent="-306000" lvl="0" marL="342900" marR="0" rtl="0" algn="just">
              <a:lnSpc>
                <a:spcPct val="100000"/>
              </a:lnSpc>
              <a:spcBef>
                <a:spcPts val="940"/>
              </a:spcBef>
              <a:spcAft>
                <a:spcPts val="0"/>
              </a:spcAft>
              <a:buClr>
                <a:schemeClr val="dk1"/>
              </a:buClr>
              <a:buSzPts val="980"/>
              <a:buFont typeface="Arial"/>
              <a:buChar char="◈"/>
            </a:pPr>
            <a:r>
              <a:rPr b="0" i="0" lang="en-US" sz="1400" u="none" cap="none" strike="noStrike">
                <a:solidFill>
                  <a:schemeClr val="dk1"/>
                </a:solidFill>
                <a:latin typeface="Times New Roman"/>
                <a:ea typeface="Times New Roman"/>
                <a:cs typeface="Times New Roman"/>
                <a:sym typeface="Times New Roman"/>
              </a:rPr>
              <a:t>This led to advancements in small-scale integration (SSI), medium-scale integration (MSI), and very large-scale integration (VLSI), with billion-transistor processors becoming available in 2008.</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5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500"/>
                                        <p:tgtEl>
                                          <p:spTgt spid="2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500"/>
                                        <p:tgtEl>
                                          <p:spTgt spid="2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animEffect filter="fade" transition="in">
                                      <p:cBhvr>
                                        <p:cTn dur="500"/>
                                        <p:tgtEl>
                                          <p:spTgt spid="2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animEffect filter="fade" transition="in">
                                      <p:cBhvr>
                                        <p:cTn dur="500"/>
                                        <p:tgtEl>
                                          <p:spTgt spid="28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68"/>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Why do we need Electronics?</a:t>
            </a:r>
            <a:endParaRPr/>
          </a:p>
        </p:txBody>
      </p:sp>
      <p:sp>
        <p:nvSpPr>
          <p:cNvPr id="289" name="Google Shape;289;p68"/>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290" name="Google Shape;290;p68"/>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291" name="Google Shape;291;p68"/>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292" name="Google Shape;292;p68"/>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293" name="Google Shape;293;p68"/>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94" name="Google Shape;294;p68"/>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295" name="Google Shape;295;p68"/>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296" name="Google Shape;296;p68"/>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97" name="Google Shape;297;p68"/>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98" name="Google Shape;298;p68"/>
          <p:cNvSpPr txBox="1"/>
          <p:nvPr/>
        </p:nvSpPr>
        <p:spPr>
          <a:xfrm>
            <a:off x="397166" y="1133361"/>
            <a:ext cx="2827365" cy="2166888"/>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a:bodyPr>
          <a:lstStyle/>
          <a:p>
            <a:pPr indent="-457200" lvl="0" marL="494099" marR="0" rtl="0" algn="l">
              <a:lnSpc>
                <a:spcPct val="100000"/>
              </a:lnSpc>
              <a:spcBef>
                <a:spcPts val="0"/>
              </a:spcBef>
              <a:spcAft>
                <a:spcPts val="0"/>
              </a:spcAft>
              <a:buClr>
                <a:schemeClr val="dk1"/>
              </a:buClr>
              <a:buSzPts val="1800"/>
              <a:buFont typeface="Lustria"/>
              <a:buAutoNum type="arabicPeriod"/>
            </a:pPr>
            <a:r>
              <a:rPr b="0" i="0" lang="en-US" sz="1800" u="none" cap="none" strike="noStrike">
                <a:solidFill>
                  <a:schemeClr val="dk1"/>
                </a:solidFill>
                <a:latin typeface="Times New Roman"/>
                <a:ea typeface="Times New Roman"/>
                <a:cs typeface="Times New Roman"/>
                <a:sym typeface="Times New Roman"/>
              </a:rPr>
              <a:t>Switches/Logics</a:t>
            </a:r>
            <a:endParaRPr b="0" i="0" sz="1400" u="none" cap="none" strike="noStrike">
              <a:solidFill>
                <a:srgbClr val="000000"/>
              </a:solidFill>
              <a:latin typeface="Arial"/>
              <a:ea typeface="Arial"/>
              <a:cs typeface="Arial"/>
              <a:sym typeface="Arial"/>
            </a:endParaRPr>
          </a:p>
          <a:p>
            <a:pPr indent="-457200" lvl="0" marL="494099" marR="0" rtl="0" algn="l">
              <a:lnSpc>
                <a:spcPct val="100000"/>
              </a:lnSpc>
              <a:spcBef>
                <a:spcPts val="1000"/>
              </a:spcBef>
              <a:spcAft>
                <a:spcPts val="0"/>
              </a:spcAft>
              <a:buClr>
                <a:schemeClr val="dk1"/>
              </a:buClr>
              <a:buSzPts val="1800"/>
              <a:buFont typeface="Lustria"/>
              <a:buAutoNum type="arabicPeriod"/>
            </a:pPr>
            <a:r>
              <a:rPr b="0" i="0" lang="en-US" sz="1800" u="none" cap="none" strike="noStrike">
                <a:solidFill>
                  <a:schemeClr val="dk1"/>
                </a:solidFill>
                <a:latin typeface="Times New Roman"/>
                <a:ea typeface="Times New Roman"/>
                <a:cs typeface="Times New Roman"/>
                <a:sym typeface="Times New Roman"/>
              </a:rPr>
              <a:t>Arithmetic Operations</a:t>
            </a:r>
            <a:endParaRPr b="0" i="0" sz="1400" u="none" cap="none" strike="noStrike">
              <a:solidFill>
                <a:srgbClr val="000000"/>
              </a:solidFill>
              <a:latin typeface="Arial"/>
              <a:ea typeface="Arial"/>
              <a:cs typeface="Arial"/>
              <a:sym typeface="Arial"/>
            </a:endParaRPr>
          </a:p>
          <a:p>
            <a:pPr indent="-457200" lvl="0" marL="494099" marR="0" rtl="0" algn="l">
              <a:lnSpc>
                <a:spcPct val="100000"/>
              </a:lnSpc>
              <a:spcBef>
                <a:spcPts val="1000"/>
              </a:spcBef>
              <a:spcAft>
                <a:spcPts val="0"/>
              </a:spcAft>
              <a:buClr>
                <a:schemeClr val="dk1"/>
              </a:buClr>
              <a:buSzPts val="1800"/>
              <a:buFont typeface="Lustria"/>
              <a:buAutoNum type="arabicPeriod"/>
            </a:pPr>
            <a:r>
              <a:rPr b="0" i="0" lang="en-US" sz="1800" u="none" cap="none" strike="noStrike">
                <a:solidFill>
                  <a:schemeClr val="dk1"/>
                </a:solidFill>
                <a:latin typeface="Times New Roman"/>
                <a:ea typeface="Times New Roman"/>
                <a:cs typeface="Times New Roman"/>
                <a:sym typeface="Times New Roman"/>
              </a:rPr>
              <a:t>IC design</a:t>
            </a:r>
            <a:endParaRPr b="0" i="0" sz="1400" u="none" cap="none" strike="noStrike">
              <a:solidFill>
                <a:srgbClr val="000000"/>
              </a:solidFill>
              <a:latin typeface="Arial"/>
              <a:ea typeface="Arial"/>
              <a:cs typeface="Arial"/>
              <a:sym typeface="Arial"/>
            </a:endParaRPr>
          </a:p>
          <a:p>
            <a:pPr indent="-457200" lvl="0" marL="494099" marR="0" rtl="0" algn="l">
              <a:lnSpc>
                <a:spcPct val="100000"/>
              </a:lnSpc>
              <a:spcBef>
                <a:spcPts val="1000"/>
              </a:spcBef>
              <a:spcAft>
                <a:spcPts val="0"/>
              </a:spcAft>
              <a:buClr>
                <a:schemeClr val="dk1"/>
              </a:buClr>
              <a:buSzPts val="1800"/>
              <a:buFont typeface="Lustria"/>
              <a:buAutoNum type="arabicPeriod"/>
            </a:pPr>
            <a:r>
              <a:rPr b="0" i="0" lang="en-US" sz="1800" u="none" cap="none" strike="noStrike">
                <a:solidFill>
                  <a:schemeClr val="dk1"/>
                </a:solidFill>
                <a:latin typeface="Times New Roman"/>
                <a:ea typeface="Times New Roman"/>
                <a:cs typeface="Times New Roman"/>
                <a:sym typeface="Times New Roman"/>
              </a:rPr>
              <a:t>Chip Design</a:t>
            </a:r>
            <a:endParaRPr b="0" i="0" sz="1400" u="none" cap="none" strike="noStrike">
              <a:solidFill>
                <a:srgbClr val="000000"/>
              </a:solidFill>
              <a:latin typeface="Arial"/>
              <a:ea typeface="Arial"/>
              <a:cs typeface="Arial"/>
              <a:sym typeface="Arial"/>
            </a:endParaRPr>
          </a:p>
          <a:p>
            <a:pPr indent="-457200" lvl="0" marL="494099" marR="0" rtl="0" algn="l">
              <a:lnSpc>
                <a:spcPct val="100000"/>
              </a:lnSpc>
              <a:spcBef>
                <a:spcPts val="1000"/>
              </a:spcBef>
              <a:spcAft>
                <a:spcPts val="0"/>
              </a:spcAft>
              <a:buClr>
                <a:schemeClr val="dk1"/>
              </a:buClr>
              <a:buSzPts val="1800"/>
              <a:buFont typeface="Lustria"/>
              <a:buAutoNum type="arabicPeriod"/>
            </a:pPr>
            <a:r>
              <a:rPr b="1" i="0" lang="en-US" sz="1800" u="none" cap="none" strike="noStrike">
                <a:solidFill>
                  <a:schemeClr val="dk1"/>
                </a:solidFill>
                <a:latin typeface="Times New Roman"/>
                <a:ea typeface="Times New Roman"/>
                <a:cs typeface="Times New Roman"/>
                <a:sym typeface="Times New Roman"/>
              </a:rPr>
              <a:t>Computers</a:t>
            </a:r>
            <a:endParaRPr b="0" i="0" sz="1800" u="none" cap="none" strike="noStrike">
              <a:solidFill>
                <a:schemeClr val="dk1"/>
              </a:solidFill>
              <a:latin typeface="Times New Roman"/>
              <a:ea typeface="Times New Roman"/>
              <a:cs typeface="Times New Roman"/>
              <a:sym typeface="Times New Roman"/>
            </a:endParaRPr>
          </a:p>
          <a:p>
            <a:pPr indent="-217100" lvl="0" marL="342900" marR="0" rtl="0" algn="l">
              <a:lnSpc>
                <a:spcPct val="100000"/>
              </a:lnSpc>
              <a:spcBef>
                <a:spcPts val="1000"/>
              </a:spcBef>
              <a:spcAft>
                <a:spcPts val="0"/>
              </a:spcAft>
              <a:buClr>
                <a:schemeClr val="dk1"/>
              </a:buClr>
              <a:buSzPts val="14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17100" lvl="0" marL="342900" marR="0" rtl="0" algn="l">
              <a:lnSpc>
                <a:spcPct val="100000"/>
              </a:lnSpc>
              <a:spcBef>
                <a:spcPts val="1000"/>
              </a:spcBef>
              <a:spcAft>
                <a:spcPts val="0"/>
              </a:spcAft>
              <a:buClr>
                <a:schemeClr val="dk1"/>
              </a:buClr>
              <a:buSzPts val="14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Small Logic Gates — The building blocks of versatile digital circuits -  Part 1 | Nuts &amp; Volts Magazine" id="299" name="Google Shape;299;p68"/>
          <p:cNvPicPr preferRelativeResize="0"/>
          <p:nvPr/>
        </p:nvPicPr>
        <p:blipFill rotWithShape="1">
          <a:blip r:embed="rId4">
            <a:alphaModFix/>
          </a:blip>
          <a:srcRect b="0" l="0" r="0" t="0"/>
          <a:stretch/>
        </p:blipFill>
        <p:spPr>
          <a:xfrm>
            <a:off x="6097615" y="2843878"/>
            <a:ext cx="2529244" cy="1795789"/>
          </a:xfrm>
          <a:prstGeom prst="rect">
            <a:avLst/>
          </a:prstGeom>
          <a:noFill/>
          <a:ln>
            <a:noFill/>
          </a:ln>
        </p:spPr>
      </p:pic>
      <p:pic>
        <p:nvPicPr>
          <p:cNvPr descr="What Is Digital IC Design? - Technical Articles" id="300" name="Google Shape;300;p68"/>
          <p:cNvPicPr preferRelativeResize="0"/>
          <p:nvPr/>
        </p:nvPicPr>
        <p:blipFill rotWithShape="1">
          <a:blip r:embed="rId5">
            <a:alphaModFix/>
          </a:blip>
          <a:srcRect b="0" l="0" r="0" t="0"/>
          <a:stretch/>
        </p:blipFill>
        <p:spPr>
          <a:xfrm>
            <a:off x="3545590" y="940000"/>
            <a:ext cx="2373881" cy="1631750"/>
          </a:xfrm>
          <a:prstGeom prst="rect">
            <a:avLst/>
          </a:prstGeom>
          <a:noFill/>
          <a:ln>
            <a:noFill/>
          </a:ln>
        </p:spPr>
      </p:pic>
      <p:pic>
        <p:nvPicPr>
          <p:cNvPr descr="IC Design - AnySilicon" id="301" name="Google Shape;301;p68"/>
          <p:cNvPicPr preferRelativeResize="0"/>
          <p:nvPr/>
        </p:nvPicPr>
        <p:blipFill rotWithShape="1">
          <a:blip r:embed="rId6">
            <a:alphaModFix/>
          </a:blip>
          <a:srcRect b="0" l="0" r="0" t="0"/>
          <a:stretch/>
        </p:blipFill>
        <p:spPr>
          <a:xfrm>
            <a:off x="6029053" y="922623"/>
            <a:ext cx="2597806" cy="1649128"/>
          </a:xfrm>
          <a:prstGeom prst="rect">
            <a:avLst/>
          </a:prstGeom>
          <a:noFill/>
          <a:ln>
            <a:noFill/>
          </a:ln>
        </p:spPr>
      </p:pic>
      <p:pic>
        <p:nvPicPr>
          <p:cNvPr descr="Logic IC, Digital Logic IC Distributor and Supplier - Rantle" id="302" name="Google Shape;302;p68"/>
          <p:cNvPicPr preferRelativeResize="0"/>
          <p:nvPr/>
        </p:nvPicPr>
        <p:blipFill rotWithShape="1">
          <a:blip r:embed="rId7">
            <a:alphaModFix/>
          </a:blip>
          <a:srcRect b="0" l="0" r="0" t="0"/>
          <a:stretch/>
        </p:blipFill>
        <p:spPr>
          <a:xfrm>
            <a:off x="3478882" y="2893129"/>
            <a:ext cx="2483525" cy="1783162"/>
          </a:xfrm>
          <a:prstGeom prst="rect">
            <a:avLst/>
          </a:prstGeom>
          <a:solidFill>
            <a:schemeClr val="lt1"/>
          </a:solidFill>
          <a:ln cap="flat" cmpd="sng" w="25400">
            <a:solidFill>
              <a:schemeClr val="dk1"/>
            </a:solidFill>
            <a:prstDash val="solid"/>
            <a:round/>
            <a:headEnd len="sm" w="sm" type="none"/>
            <a:tailEnd len="sm" w="sm" type="none"/>
          </a:ln>
        </p:spPr>
      </p:pic>
      <p:pic>
        <p:nvPicPr>
          <p:cNvPr descr="Full Adder Circuit Using Logic Gates" id="303" name="Google Shape;303;p68"/>
          <p:cNvPicPr preferRelativeResize="0"/>
          <p:nvPr/>
        </p:nvPicPr>
        <p:blipFill rotWithShape="1">
          <a:blip r:embed="rId8">
            <a:alphaModFix/>
          </a:blip>
          <a:srcRect b="0" l="0" r="0" t="0"/>
          <a:stretch/>
        </p:blipFill>
        <p:spPr>
          <a:xfrm>
            <a:off x="203860" y="3159987"/>
            <a:ext cx="3175774" cy="15476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Effect filter="fade" transition="in">
                                      <p:cBhvr>
                                        <p:cTn dur="500"/>
                                        <p:tgtEl>
                                          <p:spTgt spid="2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1" st="1"/>
                                            </p:txEl>
                                          </p:spTgt>
                                        </p:tgtEl>
                                        <p:attrNameLst>
                                          <p:attrName>style.visibility</p:attrName>
                                        </p:attrNameLst>
                                      </p:cBhvr>
                                      <p:to>
                                        <p:strVal val="visible"/>
                                      </p:to>
                                    </p:set>
                                    <p:animEffect filter="fade" transition="in">
                                      <p:cBhvr>
                                        <p:cTn dur="500"/>
                                        <p:tgtEl>
                                          <p:spTgt spid="2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2" st="2"/>
                                            </p:txEl>
                                          </p:spTgt>
                                        </p:tgtEl>
                                        <p:attrNameLst>
                                          <p:attrName>style.visibility</p:attrName>
                                        </p:attrNameLst>
                                      </p:cBhvr>
                                      <p:to>
                                        <p:strVal val="visible"/>
                                      </p:to>
                                    </p:set>
                                    <p:animEffect filter="fade" transition="in">
                                      <p:cBhvr>
                                        <p:cTn dur="500"/>
                                        <p:tgtEl>
                                          <p:spTgt spid="2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3" st="3"/>
                                            </p:txEl>
                                          </p:spTgt>
                                        </p:tgtEl>
                                        <p:attrNameLst>
                                          <p:attrName>style.visibility</p:attrName>
                                        </p:attrNameLst>
                                      </p:cBhvr>
                                      <p:to>
                                        <p:strVal val="visible"/>
                                      </p:to>
                                    </p:set>
                                    <p:animEffect filter="fade" transition="in">
                                      <p:cBhvr>
                                        <p:cTn dur="500"/>
                                        <p:tgtEl>
                                          <p:spTgt spid="2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4" st="4"/>
                                            </p:txEl>
                                          </p:spTgt>
                                        </p:tgtEl>
                                        <p:attrNameLst>
                                          <p:attrName>style.visibility</p:attrName>
                                        </p:attrNameLst>
                                      </p:cBhvr>
                                      <p:to>
                                        <p:strVal val="visible"/>
                                      </p:to>
                                    </p:set>
                                    <p:animEffect filter="fade" transition="in">
                                      <p:cBhvr>
                                        <p:cTn dur="500"/>
                                        <p:tgtEl>
                                          <p:spTgt spid="2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5" st="5"/>
                                            </p:txEl>
                                          </p:spTgt>
                                        </p:tgtEl>
                                        <p:attrNameLst>
                                          <p:attrName>style.visibility</p:attrName>
                                        </p:attrNameLst>
                                      </p:cBhvr>
                                      <p:to>
                                        <p:strVal val="visible"/>
                                      </p:to>
                                    </p:set>
                                    <p:animEffect filter="fade" transition="in">
                                      <p:cBhvr>
                                        <p:cTn dur="500"/>
                                        <p:tgtEl>
                                          <p:spTgt spid="2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6" st="6"/>
                                            </p:txEl>
                                          </p:spTgt>
                                        </p:tgtEl>
                                        <p:attrNameLst>
                                          <p:attrName>style.visibility</p:attrName>
                                        </p:attrNameLst>
                                      </p:cBhvr>
                                      <p:to>
                                        <p:strVal val="visible"/>
                                      </p:to>
                                    </p:set>
                                    <p:animEffect filter="fade" transition="in">
                                      <p:cBhvr>
                                        <p:cTn dur="500"/>
                                        <p:tgtEl>
                                          <p:spTgt spid="2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xit" presetID="10" presetSubtype="0">
                                  <p:stCondLst>
                                    <p:cond delay="0"/>
                                  </p:stCondLst>
                                  <p:childTnLst>
                                    <p:animEffect filter="fade" transition="out">
                                      <p:cBhvr>
                                        <p:cTn dur="500"/>
                                        <p:tgtEl>
                                          <p:spTgt spid="299"/>
                                        </p:tgtEl>
                                      </p:cBhvr>
                                    </p:animEffect>
                                    <p:set>
                                      <p:cBhvr>
                                        <p:cTn dur="1" fill="hold">
                                          <p:stCondLst>
                                            <p:cond delay="500"/>
                                          </p:stCondLst>
                                        </p:cTn>
                                        <p:tgtEl>
                                          <p:spTgt spid="29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02"/>
                                        </p:tgtEl>
                                      </p:cBhvr>
                                    </p:animEffect>
                                    <p:set>
                                      <p:cBhvr>
                                        <p:cTn dur="1" fill="hold">
                                          <p:stCondLst>
                                            <p:cond delay="500"/>
                                          </p:stCondLst>
                                        </p:cTn>
                                        <p:tgtEl>
                                          <p:spTgt spid="30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03"/>
                                        </p:tgtEl>
                                      </p:cBhvr>
                                    </p:animEffect>
                                    <p:set>
                                      <p:cBhvr>
                                        <p:cTn dur="1" fill="hold">
                                          <p:stCondLst>
                                            <p:cond delay="500"/>
                                          </p:stCondLst>
                                        </p:cTn>
                                        <p:tgtEl>
                                          <p:spTgt spid="3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p69"/>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Background</a:t>
            </a:r>
            <a:endParaRPr/>
          </a:p>
        </p:txBody>
      </p:sp>
      <p:sp>
        <p:nvSpPr>
          <p:cNvPr id="309" name="Google Shape;309;p69"/>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310" name="Google Shape;310;p69"/>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311" name="Google Shape;311;p69"/>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312" name="Google Shape;312;p69"/>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313" name="Google Shape;313;p69"/>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14" name="Google Shape;314;p69"/>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315" name="Google Shape;315;p69"/>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316" name="Google Shape;316;p69"/>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17" name="Google Shape;317;p69"/>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descr="Small Logic Gates — The building blocks of versatile digital circuits -  Part 1 | Nuts &amp; Volts Magazine" id="318" name="Google Shape;318;p69"/>
          <p:cNvPicPr preferRelativeResize="0"/>
          <p:nvPr/>
        </p:nvPicPr>
        <p:blipFill rotWithShape="1">
          <a:blip r:embed="rId4">
            <a:alphaModFix/>
          </a:blip>
          <a:srcRect b="0" l="0" r="0" t="0"/>
          <a:stretch/>
        </p:blipFill>
        <p:spPr>
          <a:xfrm>
            <a:off x="535295" y="1014086"/>
            <a:ext cx="3080263" cy="1795789"/>
          </a:xfrm>
          <a:prstGeom prst="rect">
            <a:avLst/>
          </a:prstGeom>
          <a:noFill/>
          <a:ln>
            <a:noFill/>
          </a:ln>
        </p:spPr>
      </p:pic>
      <p:pic>
        <p:nvPicPr>
          <p:cNvPr descr="Full Adder Circuit Using Logic Gates" id="319" name="Google Shape;319;p69"/>
          <p:cNvPicPr preferRelativeResize="0"/>
          <p:nvPr/>
        </p:nvPicPr>
        <p:blipFill rotWithShape="1">
          <a:blip r:embed="rId5">
            <a:alphaModFix/>
          </a:blip>
          <a:srcRect b="0" l="0" r="0" t="0"/>
          <a:stretch/>
        </p:blipFill>
        <p:spPr>
          <a:xfrm>
            <a:off x="4811255" y="1024121"/>
            <a:ext cx="3702124" cy="1740616"/>
          </a:xfrm>
          <a:prstGeom prst="rect">
            <a:avLst/>
          </a:prstGeom>
          <a:noFill/>
          <a:ln>
            <a:noFill/>
          </a:ln>
        </p:spPr>
      </p:pic>
      <p:pic>
        <p:nvPicPr>
          <p:cNvPr descr="Binary Subtraction using Logic Gates - 101 Computing" id="320" name="Google Shape;320;p69"/>
          <p:cNvPicPr preferRelativeResize="0"/>
          <p:nvPr/>
        </p:nvPicPr>
        <p:blipFill rotWithShape="1">
          <a:blip r:embed="rId6">
            <a:alphaModFix/>
          </a:blip>
          <a:srcRect b="0" l="2619" r="0" t="23113"/>
          <a:stretch/>
        </p:blipFill>
        <p:spPr>
          <a:xfrm>
            <a:off x="5041531" y="2910734"/>
            <a:ext cx="3615265" cy="1508636"/>
          </a:xfrm>
          <a:prstGeom prst="rect">
            <a:avLst/>
          </a:prstGeom>
          <a:noFill/>
          <a:ln>
            <a:noFill/>
          </a:ln>
        </p:spPr>
      </p:pic>
      <p:sp>
        <p:nvSpPr>
          <p:cNvPr id="321" name="Google Shape;321;p69"/>
          <p:cNvSpPr txBox="1"/>
          <p:nvPr/>
        </p:nvSpPr>
        <p:spPr>
          <a:xfrm>
            <a:off x="535295" y="3307574"/>
            <a:ext cx="4105378" cy="1007842"/>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300"/>
              <a:buFont typeface="Noto Sans Symbols"/>
              <a:buChar char="⮚"/>
            </a:pPr>
            <a:r>
              <a:rPr b="0" i="0" lang="en-US" sz="1800" u="none" cap="none" strike="noStrike">
                <a:solidFill>
                  <a:srgbClr val="000000"/>
                </a:solidFill>
                <a:latin typeface="Times New Roman"/>
                <a:ea typeface="Times New Roman"/>
                <a:cs typeface="Times New Roman"/>
                <a:sym typeface="Times New Roman"/>
              </a:rPr>
              <a:t>The initial task of the Computer was to ‘Compute’. To be more specific, it made mathematical operations automatic.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small" strike="noStrike">
              <a:solidFill>
                <a:srgbClr val="FFFFFF"/>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xit" presetID="10" presetSubtype="0">
                                  <p:stCondLst>
                                    <p:cond delay="0"/>
                                  </p:stCondLst>
                                  <p:childTnLst>
                                    <p:animEffect filter="fade" transition="out">
                                      <p:cBhvr>
                                        <p:cTn dur="500"/>
                                        <p:tgtEl>
                                          <p:spTgt spid="318"/>
                                        </p:tgtEl>
                                      </p:cBhvr>
                                    </p:animEffect>
                                    <p:set>
                                      <p:cBhvr>
                                        <p:cTn dur="1" fill="hold">
                                          <p:stCondLst>
                                            <p:cond delay="500"/>
                                          </p:stCondLst>
                                        </p:cTn>
                                        <p:tgtEl>
                                          <p:spTgt spid="31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9"/>
                                        </p:tgtEl>
                                      </p:cBhvr>
                                    </p:animEffect>
                                    <p:set>
                                      <p:cBhvr>
                                        <p:cTn dur="1" fill="hold">
                                          <p:stCondLst>
                                            <p:cond delay="500"/>
                                          </p:stCondLst>
                                        </p:cTn>
                                        <p:tgtEl>
                                          <p:spTgt spid="31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par>
                                <p:cTn fill="hold" nodeType="withEffect" presetClass="exit" presetID="10" presetSubtype="0">
                                  <p:stCondLst>
                                    <p:cond delay="0"/>
                                  </p:stCondLst>
                                  <p:childTnLst>
                                    <p:animEffect filter="fade" transition="out">
                                      <p:cBhvr>
                                        <p:cTn dur="500"/>
                                        <p:tgtEl>
                                          <p:spTgt spid="320"/>
                                        </p:tgtEl>
                                      </p:cBhvr>
                                    </p:animEffect>
                                    <p:set>
                                      <p:cBhvr>
                                        <p:cTn dur="1" fill="hold">
                                          <p:stCondLst>
                                            <p:cond delay="500"/>
                                          </p:stCondLst>
                                        </p:cTn>
                                        <p:tgtEl>
                                          <p:spTgt spid="3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70"/>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Background</a:t>
            </a:r>
            <a:endParaRPr/>
          </a:p>
        </p:txBody>
      </p:sp>
      <p:sp>
        <p:nvSpPr>
          <p:cNvPr id="327" name="Google Shape;327;p70"/>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328" name="Google Shape;328;p70"/>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329" name="Google Shape;329;p70"/>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330" name="Google Shape;330;p70"/>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331" name="Google Shape;331;p70"/>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32" name="Google Shape;332;p70"/>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333" name="Google Shape;333;p70"/>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334" name="Google Shape;334;p70"/>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35" name="Google Shape;335;p70"/>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36" name="Google Shape;336;p70"/>
          <p:cNvSpPr txBox="1"/>
          <p:nvPr/>
        </p:nvSpPr>
        <p:spPr>
          <a:xfrm>
            <a:off x="466621" y="758296"/>
            <a:ext cx="8277985" cy="23889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We know computer only understand binary bits (‘0’ and ‘1’). Let’s think about a few basic mathematical operations.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B0F0"/>
                </a:solidFill>
                <a:latin typeface="Times New Roman"/>
                <a:ea typeface="Times New Roman"/>
                <a:cs typeface="Times New Roman"/>
                <a:sym typeface="Times New Roman"/>
              </a:rPr>
              <a:t>Addition:</a:t>
            </a:r>
            <a:r>
              <a:rPr b="0" i="0" lang="en-US" sz="2000" u="none" cap="none" strike="noStrike">
                <a:solidFill>
                  <a:srgbClr val="000000"/>
                </a:solidFill>
                <a:latin typeface="Times New Roman"/>
                <a:ea typeface="Times New Roman"/>
                <a:cs typeface="Times New Roman"/>
                <a:sym typeface="Times New Roman"/>
              </a:rPr>
              <a:t> We can do this operation using Half/Full adder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B050"/>
                </a:solidFill>
                <a:latin typeface="Times New Roman"/>
                <a:ea typeface="Times New Roman"/>
                <a:cs typeface="Times New Roman"/>
                <a:sym typeface="Times New Roman"/>
              </a:rPr>
              <a:t>Subtraction:</a:t>
            </a:r>
            <a:r>
              <a:rPr b="0" i="0" lang="en-US" sz="2000" u="none" cap="none" strike="noStrike">
                <a:solidFill>
                  <a:srgbClr val="000000"/>
                </a:solidFill>
                <a:latin typeface="Times New Roman"/>
                <a:ea typeface="Times New Roman"/>
                <a:cs typeface="Times New Roman"/>
                <a:sym typeface="Times New Roman"/>
              </a:rPr>
              <a:t> Add with 2’s Compliment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FFC000"/>
                </a:solidFill>
                <a:latin typeface="Times New Roman"/>
                <a:ea typeface="Times New Roman"/>
                <a:cs typeface="Times New Roman"/>
                <a:sym typeface="Times New Roman"/>
              </a:rPr>
              <a:t>Multiplication:</a:t>
            </a:r>
            <a:r>
              <a:rPr b="0" i="0" lang="en-US" sz="2000" u="none" cap="none" strike="noStrike">
                <a:solidFill>
                  <a:srgbClr val="000000"/>
                </a:solidFill>
                <a:latin typeface="Times New Roman"/>
                <a:ea typeface="Times New Roman"/>
                <a:cs typeface="Times New Roman"/>
                <a:sym typeface="Times New Roman"/>
              </a:rPr>
              <a:t> Multiple time addition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chemeClr val="dk2"/>
                </a:solidFill>
                <a:latin typeface="Times New Roman"/>
                <a:ea typeface="Times New Roman"/>
                <a:cs typeface="Times New Roman"/>
                <a:sym typeface="Times New Roman"/>
              </a:rPr>
              <a:t>Division:</a:t>
            </a:r>
            <a:r>
              <a:rPr b="0" i="0" lang="en-US" sz="2000" u="none" cap="none" strike="noStrike">
                <a:solidFill>
                  <a:srgbClr val="000000"/>
                </a:solidFill>
                <a:latin typeface="Times New Roman"/>
                <a:ea typeface="Times New Roman"/>
                <a:cs typeface="Times New Roman"/>
                <a:sym typeface="Times New Roman"/>
              </a:rPr>
              <a:t> Multiple-time subtraction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2000" u="none" cap="small" strike="noStrike">
              <a:solidFill>
                <a:srgbClr val="FFFFFF"/>
              </a:solidFill>
              <a:latin typeface="Comic Sans MS"/>
              <a:ea typeface="Comic Sans MS"/>
              <a:cs typeface="Comic Sans MS"/>
              <a:sym typeface="Comic Sans MS"/>
            </a:endParaRPr>
          </a:p>
        </p:txBody>
      </p:sp>
      <p:sp>
        <p:nvSpPr>
          <p:cNvPr id="337" name="Google Shape;337;p70"/>
          <p:cNvSpPr/>
          <p:nvPr/>
        </p:nvSpPr>
        <p:spPr>
          <a:xfrm>
            <a:off x="478425" y="2867285"/>
            <a:ext cx="7053945" cy="175357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B0F0"/>
                </a:solidFill>
                <a:latin typeface="Times New Roman"/>
                <a:ea typeface="Times New Roman"/>
                <a:cs typeface="Times New Roman"/>
                <a:sym typeface="Times New Roman"/>
              </a:rPr>
              <a:t>Addition</a:t>
            </a:r>
            <a:r>
              <a:rPr b="0" i="0" lang="en-US" sz="2000" u="none" cap="none" strike="noStrike">
                <a:solidFill>
                  <a:schemeClr val="dk1"/>
                </a:solidFill>
                <a:latin typeface="Times New Roman"/>
                <a:ea typeface="Times New Roman"/>
                <a:cs typeface="Times New Roman"/>
                <a:sym typeface="Times New Roman"/>
              </a:rPr>
              <a:t>:	4 + 5 = 9	(0100 + 0101 = 1001)</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000"/>
              </a:spcBef>
              <a:spcAft>
                <a:spcPts val="0"/>
              </a:spcAft>
              <a:buClr>
                <a:srgbClr val="000000"/>
              </a:buClr>
              <a:buSzPts val="2000"/>
              <a:buFont typeface="Arial"/>
              <a:buChar char="•"/>
            </a:pPr>
            <a:r>
              <a:rPr b="0" i="0" lang="en-US" sz="2000" u="none" cap="none" strike="noStrike">
                <a:solidFill>
                  <a:srgbClr val="00B050"/>
                </a:solidFill>
                <a:latin typeface="Times New Roman"/>
                <a:ea typeface="Times New Roman"/>
                <a:cs typeface="Times New Roman"/>
                <a:sym typeface="Times New Roman"/>
              </a:rPr>
              <a:t>Subtraction</a:t>
            </a:r>
            <a:r>
              <a:rPr b="0" i="0" lang="en-US" sz="2000" u="none" cap="none" strike="noStrike">
                <a:solidFill>
                  <a:schemeClr val="dk1"/>
                </a:solidFill>
                <a:latin typeface="Times New Roman"/>
                <a:ea typeface="Times New Roman"/>
                <a:cs typeface="Times New Roman"/>
                <a:sym typeface="Times New Roman"/>
              </a:rPr>
              <a:t>: 	10 – 9 = 1	(1010 + 0111 = 0001)</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000"/>
              </a:spcBef>
              <a:spcAft>
                <a:spcPts val="0"/>
              </a:spcAft>
              <a:buClr>
                <a:srgbClr val="000000"/>
              </a:buClr>
              <a:buSzPts val="2000"/>
              <a:buFont typeface="Arial"/>
              <a:buChar char="•"/>
            </a:pPr>
            <a:r>
              <a:rPr b="0" i="0" lang="en-US" sz="2000" u="none" cap="none" strike="noStrike">
                <a:solidFill>
                  <a:srgbClr val="FFC000"/>
                </a:solidFill>
                <a:latin typeface="Times New Roman"/>
                <a:ea typeface="Times New Roman"/>
                <a:cs typeface="Times New Roman"/>
                <a:sym typeface="Times New Roman"/>
              </a:rPr>
              <a:t>Multiplication</a:t>
            </a:r>
            <a:r>
              <a:rPr b="0" i="0" lang="en-US" sz="2000" u="none" cap="none" strike="noStrike">
                <a:solidFill>
                  <a:schemeClr val="dk1"/>
                </a:solidFill>
                <a:latin typeface="Times New Roman"/>
                <a:ea typeface="Times New Roman"/>
                <a:cs typeface="Times New Roman"/>
                <a:sym typeface="Times New Roman"/>
              </a:rPr>
              <a:t>: 5x4 = 4+4+4+4+4 = 20</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000"/>
              </a:spcBef>
              <a:spcAft>
                <a:spcPts val="0"/>
              </a:spcAft>
              <a:buClr>
                <a:srgbClr val="000000"/>
              </a:buClr>
              <a:buSzPts val="2000"/>
              <a:buFont typeface="Arial"/>
              <a:buChar char="•"/>
            </a:pPr>
            <a:r>
              <a:rPr b="0" i="0" lang="en-US" sz="2000" u="none" cap="none" strike="noStrike">
                <a:solidFill>
                  <a:srgbClr val="323F4F"/>
                </a:solidFill>
                <a:latin typeface="Times New Roman"/>
                <a:ea typeface="Times New Roman"/>
                <a:cs typeface="Times New Roman"/>
                <a:sym typeface="Times New Roman"/>
              </a:rPr>
              <a:t>Division</a:t>
            </a:r>
            <a:r>
              <a:rPr b="0" i="0" lang="en-US" sz="2000" u="none" cap="none" strike="noStrike">
                <a:solidFill>
                  <a:schemeClr val="dk1"/>
                </a:solidFill>
                <a:latin typeface="Times New Roman"/>
                <a:ea typeface="Times New Roman"/>
                <a:cs typeface="Times New Roman"/>
                <a:sym typeface="Times New Roman"/>
              </a:rPr>
              <a:t>: 10/2 = 2 can be subtracted from 10, 5 times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1"/>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Background</a:t>
            </a:r>
            <a:endParaRPr/>
          </a:p>
        </p:txBody>
      </p:sp>
      <p:sp>
        <p:nvSpPr>
          <p:cNvPr id="343" name="Google Shape;343;p71"/>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344" name="Google Shape;344;p71"/>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345" name="Google Shape;345;p71"/>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346" name="Google Shape;346;p71"/>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347" name="Google Shape;347;p71"/>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48" name="Google Shape;348;p71"/>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349" name="Google Shape;349;p71"/>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350" name="Google Shape;350;p71"/>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51" name="Google Shape;351;p71"/>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52" name="Google Shape;352;p71"/>
          <p:cNvSpPr txBox="1"/>
          <p:nvPr/>
        </p:nvSpPr>
        <p:spPr>
          <a:xfrm>
            <a:off x="330358" y="808664"/>
            <a:ext cx="8727296" cy="1325525"/>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a:bodyPr>
          <a:lstStyle/>
          <a:p>
            <a:pPr indent="-306000" lvl="0" marL="342900" marR="0" rtl="0" algn="l">
              <a:lnSpc>
                <a:spcPct val="100000"/>
              </a:lnSpc>
              <a:spcBef>
                <a:spcPts val="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In practice while implementing any logic function we need to know about </a:t>
            </a:r>
            <a:r>
              <a:rPr b="0" i="0" lang="en-US" sz="2000" u="none" cap="none" strike="noStrike">
                <a:solidFill>
                  <a:schemeClr val="dk1"/>
                </a:solidFill>
                <a:highlight>
                  <a:srgbClr val="FFFF00"/>
                </a:highlight>
                <a:latin typeface="Times New Roman"/>
                <a:ea typeface="Times New Roman"/>
                <a:cs typeface="Times New Roman"/>
                <a:sym typeface="Times New Roman"/>
              </a:rPr>
              <a:t>Switching.</a:t>
            </a:r>
            <a:r>
              <a:rPr b="0" i="0" lang="en-US" sz="2000" u="none" cap="none" strike="noStrike">
                <a:solidFill>
                  <a:schemeClr val="dk1"/>
                </a:solidFill>
                <a:latin typeface="Times New Roman"/>
                <a:ea typeface="Times New Roman"/>
                <a:cs typeface="Times New Roman"/>
                <a:sym typeface="Times New Roman"/>
              </a:rPr>
              <a:t> Using different types of switches we can easily implement any logic function</a:t>
            </a:r>
            <a:endParaRPr b="0" i="0" sz="1400" u="none" cap="none" strike="noStrike">
              <a:solidFill>
                <a:srgbClr val="000000"/>
              </a:solidFill>
              <a:latin typeface="Arial"/>
              <a:ea typeface="Arial"/>
              <a:cs typeface="Arial"/>
              <a:sym typeface="Arial"/>
            </a:endParaRPr>
          </a:p>
          <a:p>
            <a:pPr indent="-217100" lvl="0" marL="342900" marR="0" rtl="0" algn="l">
              <a:lnSpc>
                <a:spcPct val="100000"/>
              </a:lnSpc>
              <a:spcBef>
                <a:spcPts val="1000"/>
              </a:spcBef>
              <a:spcAft>
                <a:spcPts val="0"/>
              </a:spcAft>
              <a:buClr>
                <a:schemeClr val="dk1"/>
              </a:buClr>
              <a:buSzPts val="14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descr="Logic AND Function - Digital Logic Gates" id="353" name="Google Shape;353;p71"/>
          <p:cNvPicPr preferRelativeResize="0"/>
          <p:nvPr/>
        </p:nvPicPr>
        <p:blipFill rotWithShape="1">
          <a:blip r:embed="rId4">
            <a:alphaModFix/>
          </a:blip>
          <a:srcRect b="22687" l="0" r="30395" t="0"/>
          <a:stretch/>
        </p:blipFill>
        <p:spPr>
          <a:xfrm>
            <a:off x="1657225" y="2554467"/>
            <a:ext cx="2401019" cy="1314261"/>
          </a:xfrm>
          <a:prstGeom prst="rect">
            <a:avLst/>
          </a:prstGeom>
          <a:noFill/>
          <a:ln>
            <a:noFill/>
          </a:ln>
        </p:spPr>
      </p:pic>
      <p:pic>
        <p:nvPicPr>
          <p:cNvPr descr="Logic OR Function - Digital Logic Gates" id="354" name="Google Shape;354;p71"/>
          <p:cNvPicPr preferRelativeResize="0"/>
          <p:nvPr/>
        </p:nvPicPr>
        <p:blipFill rotWithShape="1">
          <a:blip r:embed="rId5">
            <a:alphaModFix/>
          </a:blip>
          <a:srcRect b="20205" l="0" r="30395" t="0"/>
          <a:stretch/>
        </p:blipFill>
        <p:spPr>
          <a:xfrm>
            <a:off x="4855969" y="2341205"/>
            <a:ext cx="2447748" cy="1552668"/>
          </a:xfrm>
          <a:prstGeom prst="rect">
            <a:avLst/>
          </a:prstGeom>
          <a:noFill/>
          <a:ln>
            <a:noFill/>
          </a:ln>
        </p:spPr>
      </p:pic>
      <p:pic>
        <p:nvPicPr>
          <p:cNvPr id="355" name="Google Shape;355;p71"/>
          <p:cNvPicPr preferRelativeResize="0"/>
          <p:nvPr/>
        </p:nvPicPr>
        <p:blipFill rotWithShape="1">
          <a:blip r:embed="rId6">
            <a:alphaModFix/>
          </a:blip>
          <a:srcRect b="0" l="0" r="0" t="0"/>
          <a:stretch/>
        </p:blipFill>
        <p:spPr>
          <a:xfrm>
            <a:off x="5139946" y="1628188"/>
            <a:ext cx="1879794" cy="678536"/>
          </a:xfrm>
          <a:prstGeom prst="rect">
            <a:avLst/>
          </a:prstGeom>
          <a:noFill/>
          <a:ln>
            <a:noFill/>
          </a:ln>
        </p:spPr>
      </p:pic>
      <p:pic>
        <p:nvPicPr>
          <p:cNvPr id="356" name="Google Shape;356;p71"/>
          <p:cNvPicPr preferRelativeResize="0"/>
          <p:nvPr/>
        </p:nvPicPr>
        <p:blipFill rotWithShape="1">
          <a:blip r:embed="rId7">
            <a:alphaModFix/>
          </a:blip>
          <a:srcRect b="0" l="0" r="0" t="0"/>
          <a:stretch/>
        </p:blipFill>
        <p:spPr>
          <a:xfrm>
            <a:off x="2030080" y="1685960"/>
            <a:ext cx="1828800" cy="658368"/>
          </a:xfrm>
          <a:prstGeom prst="rect">
            <a:avLst/>
          </a:prstGeom>
          <a:noFill/>
          <a:ln>
            <a:noFill/>
          </a:ln>
        </p:spPr>
      </p:pic>
      <p:sp>
        <p:nvSpPr>
          <p:cNvPr id="357" name="Google Shape;357;p71"/>
          <p:cNvSpPr txBox="1"/>
          <p:nvPr/>
        </p:nvSpPr>
        <p:spPr>
          <a:xfrm>
            <a:off x="57909" y="3847200"/>
            <a:ext cx="9028181" cy="377026"/>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faster you can operate these switches, the faster you can complete the functions!!!</a:t>
            </a:r>
            <a:endParaRPr b="0" i="0" sz="1400" u="none" cap="none" strike="noStrike">
              <a:solidFill>
                <a:srgbClr val="000000"/>
              </a:solidFill>
              <a:latin typeface="Arial"/>
              <a:ea typeface="Arial"/>
              <a:cs typeface="Arial"/>
              <a:sym typeface="Arial"/>
            </a:endParaRPr>
          </a:p>
        </p:txBody>
      </p:sp>
      <p:sp>
        <p:nvSpPr>
          <p:cNvPr id="358" name="Google Shape;358;p71"/>
          <p:cNvSpPr txBox="1"/>
          <p:nvPr/>
        </p:nvSpPr>
        <p:spPr>
          <a:xfrm>
            <a:off x="360802" y="2388399"/>
            <a:ext cx="1457241" cy="37702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AND Gate</a:t>
            </a:r>
            <a:endParaRPr b="0" i="0" sz="1400" u="none" cap="none" strike="noStrike">
              <a:solidFill>
                <a:srgbClr val="000000"/>
              </a:solidFill>
              <a:latin typeface="Arial"/>
              <a:ea typeface="Arial"/>
              <a:cs typeface="Arial"/>
              <a:sym typeface="Arial"/>
            </a:endParaRPr>
          </a:p>
        </p:txBody>
      </p:sp>
      <p:sp>
        <p:nvSpPr>
          <p:cNvPr id="359" name="Google Shape;359;p71"/>
          <p:cNvSpPr txBox="1"/>
          <p:nvPr/>
        </p:nvSpPr>
        <p:spPr>
          <a:xfrm>
            <a:off x="6806512" y="2295525"/>
            <a:ext cx="1294930" cy="377026"/>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OR Gate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2"/>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Background</a:t>
            </a:r>
            <a:endParaRPr/>
          </a:p>
        </p:txBody>
      </p:sp>
      <p:sp>
        <p:nvSpPr>
          <p:cNvPr id="365" name="Google Shape;365;p72"/>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366" name="Google Shape;366;p72"/>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367" name="Google Shape;367;p72"/>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368" name="Google Shape;368;p72"/>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369" name="Google Shape;369;p72"/>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70" name="Google Shape;370;p72"/>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371" name="Google Shape;371;p72"/>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372" name="Google Shape;372;p72"/>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73" name="Google Shape;373;p72"/>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74" name="Google Shape;374;p72"/>
          <p:cNvSpPr txBox="1"/>
          <p:nvPr/>
        </p:nvSpPr>
        <p:spPr>
          <a:xfrm>
            <a:off x="213400" y="909995"/>
            <a:ext cx="5474736" cy="3569342"/>
          </a:xfrm>
          <a:prstGeom prst="rect">
            <a:avLst/>
          </a:prstGeom>
          <a:noFill/>
          <a:ln>
            <a:noFill/>
          </a:ln>
          <a:effectLst>
            <a:outerShdw blurRad="25400">
              <a:srgbClr val="000000">
                <a:alpha val="44706"/>
              </a:srgbClr>
            </a:outerShdw>
          </a:effectLst>
        </p:spPr>
        <p:txBody>
          <a:bodyPr anchorCtr="0" anchor="t" bIns="45700" lIns="91425" spcFirstLastPara="1" rIns="91425" wrap="square" tIns="45700">
            <a:normAutofit lnSpcReduction="10000"/>
          </a:bodyPr>
          <a:lstStyle/>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The speed of computational operations depends on the ‘Speed of Switching’</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Normal Mechanical Switch: Not Reliable</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Causes: Bulky and heavy, </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Mechanical wear over time, </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Noisy, ultra-slow</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Requires lots of energy to operate</a:t>
            </a:r>
            <a:endParaRPr b="0" i="0" sz="1400" u="none" cap="none" strike="noStrike">
              <a:solidFill>
                <a:srgbClr val="000000"/>
              </a:solidFill>
              <a:latin typeface="Arial"/>
              <a:ea typeface="Arial"/>
              <a:cs typeface="Arial"/>
              <a:sym typeface="Arial"/>
            </a:endParaRPr>
          </a:p>
          <a:p>
            <a:pPr indent="-306000" lvl="0" marL="342900" marR="0" rtl="0" algn="l">
              <a:lnSpc>
                <a:spcPct val="100000"/>
              </a:lnSpc>
              <a:spcBef>
                <a:spcPts val="1000"/>
              </a:spcBef>
              <a:spcAft>
                <a:spcPts val="0"/>
              </a:spcAft>
              <a:buClr>
                <a:schemeClr val="dk1"/>
              </a:buClr>
              <a:buSzPts val="1400"/>
              <a:buFont typeface="Noto Sans Symbols"/>
              <a:buChar char="⮚"/>
            </a:pPr>
            <a:r>
              <a:rPr b="0" i="0" lang="en-US" sz="2000" u="none" cap="none" strike="noStrike">
                <a:solidFill>
                  <a:schemeClr val="dk1"/>
                </a:solidFill>
                <a:latin typeface="Times New Roman"/>
                <a:ea typeface="Times New Roman"/>
                <a:cs typeface="Times New Roman"/>
                <a:sym typeface="Times New Roman"/>
              </a:rPr>
              <a:t>Electronics: Help to increase the switching speed</a:t>
            </a:r>
            <a:endParaRPr b="0" i="0" sz="1400" u="none" cap="none" strike="noStrike">
              <a:solidFill>
                <a:srgbClr val="000000"/>
              </a:solidFill>
              <a:latin typeface="Arial"/>
              <a:ea typeface="Arial"/>
              <a:cs typeface="Arial"/>
              <a:sym typeface="Arial"/>
            </a:endParaRPr>
          </a:p>
          <a:p>
            <a:pPr indent="-217100" lvl="0" marL="342900" marR="0" rtl="0" algn="l">
              <a:lnSpc>
                <a:spcPct val="100000"/>
              </a:lnSpc>
              <a:spcBef>
                <a:spcPts val="1000"/>
              </a:spcBef>
              <a:spcAft>
                <a:spcPts val="0"/>
              </a:spcAft>
              <a:buClr>
                <a:schemeClr val="dk1"/>
              </a:buClr>
              <a:buSzPts val="14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descr="TA101A1 Miniature On-Off Toggle Switch SPST | Switch Electronics" id="375" name="Google Shape;375;p72"/>
          <p:cNvPicPr preferRelativeResize="0"/>
          <p:nvPr/>
        </p:nvPicPr>
        <p:blipFill rotWithShape="1">
          <a:blip r:embed="rId4">
            <a:alphaModFix/>
          </a:blip>
          <a:srcRect b="0" l="0" r="0" t="0"/>
          <a:stretch/>
        </p:blipFill>
        <p:spPr>
          <a:xfrm>
            <a:off x="5509335" y="1091124"/>
            <a:ext cx="1728276" cy="1728276"/>
          </a:xfrm>
          <a:prstGeom prst="rect">
            <a:avLst/>
          </a:prstGeom>
          <a:noFill/>
          <a:ln>
            <a:noFill/>
          </a:ln>
        </p:spPr>
      </p:pic>
      <p:pic>
        <p:nvPicPr>
          <p:cNvPr descr="Auto Relay Transparent 12v With Iron Bracket Spdt 1z Small Mini Automotive  Power 12 Volt 40a 5pin 28*28mm 4pin 5pin Jq1912t - Buy Automotive Relay  12v,Auto Relays 12v,Auto Relay Product on Alibaba.com" id="376" name="Google Shape;376;p72"/>
          <p:cNvPicPr preferRelativeResize="0"/>
          <p:nvPr/>
        </p:nvPicPr>
        <p:blipFill rotWithShape="1">
          <a:blip r:embed="rId5">
            <a:alphaModFix/>
          </a:blip>
          <a:srcRect b="0" l="0" r="0" t="0"/>
          <a:stretch/>
        </p:blipFill>
        <p:spPr>
          <a:xfrm>
            <a:off x="7239319" y="1137591"/>
            <a:ext cx="1728277" cy="1728277"/>
          </a:xfrm>
          <a:prstGeom prst="rect">
            <a:avLst/>
          </a:prstGeom>
          <a:noFill/>
          <a:ln>
            <a:noFill/>
          </a:ln>
        </p:spPr>
      </p:pic>
      <p:sp>
        <p:nvSpPr>
          <p:cNvPr id="377" name="Google Shape;377;p72"/>
          <p:cNvSpPr txBox="1"/>
          <p:nvPr/>
        </p:nvSpPr>
        <p:spPr>
          <a:xfrm>
            <a:off x="5688137" y="3038979"/>
            <a:ext cx="1013108" cy="684803"/>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SPST Switch</a:t>
            </a:r>
            <a:endParaRPr b="0" i="0" sz="1400" u="none" cap="none" strike="noStrike">
              <a:solidFill>
                <a:srgbClr val="000000"/>
              </a:solidFill>
              <a:latin typeface="Arial"/>
              <a:ea typeface="Arial"/>
              <a:cs typeface="Arial"/>
              <a:sym typeface="Arial"/>
            </a:endParaRPr>
          </a:p>
        </p:txBody>
      </p:sp>
      <p:sp>
        <p:nvSpPr>
          <p:cNvPr id="378" name="Google Shape;378;p72"/>
          <p:cNvSpPr txBox="1"/>
          <p:nvPr/>
        </p:nvSpPr>
        <p:spPr>
          <a:xfrm>
            <a:off x="6860620" y="3046996"/>
            <a:ext cx="2252818" cy="684803"/>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Electromechanical Relay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3"/>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First Electronic Switch</a:t>
            </a:r>
            <a:endParaRPr/>
          </a:p>
        </p:txBody>
      </p:sp>
      <p:sp>
        <p:nvSpPr>
          <p:cNvPr id="384" name="Google Shape;384;p73"/>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385" name="Google Shape;385;p73"/>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386" name="Google Shape;386;p73"/>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387" name="Google Shape;387;p73"/>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388" name="Google Shape;388;p73"/>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89" name="Google Shape;389;p73"/>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390" name="Google Shape;390;p73"/>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391" name="Google Shape;391;p73"/>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92" name="Google Shape;392;p73"/>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393" name="Google Shape;393;p73"/>
          <p:cNvSpPr txBox="1"/>
          <p:nvPr/>
        </p:nvSpPr>
        <p:spPr>
          <a:xfrm>
            <a:off x="913795" y="609600"/>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lt2"/>
              </a:buClr>
              <a:buSzPts val="4000"/>
              <a:buFont typeface="Lustria"/>
              <a:buNone/>
            </a:pPr>
            <a:r>
              <a:t/>
            </a:r>
            <a:endParaRPr b="1" i="0" sz="4800" u="none" cap="none" strike="noStrike">
              <a:solidFill>
                <a:schemeClr val="dk1"/>
              </a:solidFill>
              <a:latin typeface="Calibri"/>
              <a:ea typeface="Calibri"/>
              <a:cs typeface="Calibri"/>
              <a:sym typeface="Calibri"/>
            </a:endParaRPr>
          </a:p>
        </p:txBody>
      </p:sp>
      <p:pic>
        <p:nvPicPr>
          <p:cNvPr id="394" name="Google Shape;394;p73"/>
          <p:cNvPicPr preferRelativeResize="0"/>
          <p:nvPr/>
        </p:nvPicPr>
        <p:blipFill rotWithShape="1">
          <a:blip r:embed="rId4">
            <a:alphaModFix/>
          </a:blip>
          <a:srcRect b="0" l="0" r="0" t="0"/>
          <a:stretch/>
        </p:blipFill>
        <p:spPr>
          <a:xfrm>
            <a:off x="6261058" y="1484135"/>
            <a:ext cx="2053602" cy="2543530"/>
          </a:xfrm>
          <a:prstGeom prst="rect">
            <a:avLst/>
          </a:prstGeom>
          <a:noFill/>
          <a:ln cap="flat" cmpd="sng" w="9525">
            <a:solidFill>
              <a:srgbClr val="FFFFFF"/>
            </a:solidFill>
            <a:prstDash val="solid"/>
            <a:round/>
            <a:headEnd len="sm" w="sm" type="none"/>
            <a:tailEnd len="sm" w="sm" type="none"/>
          </a:ln>
          <a:effectLst>
            <a:outerShdw blurRad="25400">
              <a:srgbClr val="000000">
                <a:alpha val="44706"/>
              </a:srgbClr>
            </a:outerShdw>
          </a:effectLst>
        </p:spPr>
      </p:pic>
      <p:sp>
        <p:nvSpPr>
          <p:cNvPr id="395" name="Google Shape;395;p73"/>
          <p:cNvSpPr txBox="1"/>
          <p:nvPr/>
        </p:nvSpPr>
        <p:spPr>
          <a:xfrm>
            <a:off x="326034" y="1124606"/>
            <a:ext cx="5383649" cy="321374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0000"/>
                </a:solidFill>
                <a:latin typeface="Times New Roman"/>
                <a:ea typeface="Times New Roman"/>
                <a:cs typeface="Times New Roman"/>
                <a:sym typeface="Times New Roman"/>
              </a:rPr>
              <a:t>The first electronic switch, the </a:t>
            </a:r>
            <a:r>
              <a:rPr b="1" i="0" lang="en-US" sz="2000" u="none" cap="none" strike="noStrike">
                <a:solidFill>
                  <a:srgbClr val="000000"/>
                </a:solidFill>
                <a:latin typeface="Times New Roman"/>
                <a:ea typeface="Times New Roman"/>
                <a:cs typeface="Times New Roman"/>
                <a:sym typeface="Times New Roman"/>
              </a:rPr>
              <a:t>vacuum tube (or thermionic valve)</a:t>
            </a:r>
            <a:r>
              <a:rPr b="0" i="0" lang="en-US" sz="2000" u="none" cap="none" strike="noStrike">
                <a:solidFill>
                  <a:srgbClr val="000000"/>
                </a:solidFill>
                <a:latin typeface="Times New Roman"/>
                <a:ea typeface="Times New Roman"/>
                <a:cs typeface="Times New Roman"/>
                <a:sym typeface="Times New Roman"/>
              </a:rPr>
              <a:t>, was invented by </a:t>
            </a:r>
            <a:r>
              <a:rPr b="1" i="0" lang="en-US" sz="2000" u="none" cap="none" strike="noStrike">
                <a:solidFill>
                  <a:srgbClr val="000000"/>
                </a:solidFill>
                <a:latin typeface="Times New Roman"/>
                <a:ea typeface="Times New Roman"/>
                <a:cs typeface="Times New Roman"/>
                <a:sym typeface="Times New Roman"/>
              </a:rPr>
              <a:t>John Ambrose Fleming</a:t>
            </a:r>
            <a:r>
              <a:rPr b="0" i="0" lang="en-US" sz="2000" u="none" cap="none" strike="noStrike">
                <a:solidFill>
                  <a:srgbClr val="000000"/>
                </a:solidFill>
                <a:latin typeface="Times New Roman"/>
                <a:ea typeface="Times New Roman"/>
                <a:cs typeface="Times New Roman"/>
                <a:sym typeface="Times New Roman"/>
              </a:rPr>
              <a:t> in </a:t>
            </a:r>
            <a:r>
              <a:rPr b="1" i="0" lang="en-US" sz="2000" u="none" cap="none" strike="noStrike">
                <a:solidFill>
                  <a:srgbClr val="000000"/>
                </a:solidFill>
                <a:latin typeface="Times New Roman"/>
                <a:ea typeface="Times New Roman"/>
                <a:cs typeface="Times New Roman"/>
                <a:sym typeface="Times New Roman"/>
              </a:rPr>
              <a:t>1904</a:t>
            </a:r>
            <a:r>
              <a:rPr b="0" i="0" lang="en-US" sz="2000" u="none" cap="none" strike="noStrike">
                <a:solidFill>
                  <a:srgbClr val="000000"/>
                </a:solidFill>
                <a:latin typeface="Times New Roman"/>
                <a:ea typeface="Times New Roman"/>
                <a:cs typeface="Times New Roman"/>
                <a:sym typeface="Times New Roman"/>
              </a:rPr>
              <a:t>.</a:t>
            </a:r>
            <a:endParaRPr b="0" i="0" sz="2000" u="none" cap="small"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small" strike="noStrike">
                <a:solidFill>
                  <a:schemeClr val="dk1"/>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ve terminal : Cathode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0000"/>
                </a:solidFill>
                <a:latin typeface="Times New Roman"/>
                <a:ea typeface="Times New Roman"/>
                <a:cs typeface="Times New Roman"/>
                <a:sym typeface="Times New Roman"/>
              </a:rPr>
              <a:t>(+) ve terminal : Anode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0000"/>
                </a:solidFill>
                <a:latin typeface="Times New Roman"/>
                <a:ea typeface="Times New Roman"/>
                <a:cs typeface="Times New Roman"/>
                <a:sym typeface="Times New Roman"/>
              </a:rPr>
              <a:t>Cathode was heated at high temperature, that emits electrons (</a:t>
            </a:r>
            <a:r>
              <a:rPr b="0" i="0" lang="en-US" sz="20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thermionic emission</a:t>
            </a:r>
            <a:r>
              <a:rPr b="0" i="0" lang="en-US" sz="2000" u="none" cap="none" strike="noStrike">
                <a:solidFill>
                  <a:srgbClr val="000000"/>
                </a:solidFill>
                <a:latin typeface="Times New Roman"/>
                <a:ea typeface="Times New Roman"/>
                <a:cs typeface="Times New Roman"/>
                <a:sym typeface="Times New Roman"/>
              </a:rPr>
              <a:t>) which travel to the anode, allowing current to flow in one direction</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300"/>
              <a:buFont typeface="Noto Sans Symbols"/>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4"/>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First Electronic Switch</a:t>
            </a:r>
            <a:endParaRPr/>
          </a:p>
        </p:txBody>
      </p:sp>
      <p:sp>
        <p:nvSpPr>
          <p:cNvPr id="401" name="Google Shape;401;p74"/>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402" name="Google Shape;402;p74"/>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403" name="Google Shape;403;p74"/>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404" name="Google Shape;404;p74"/>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405" name="Google Shape;405;p74"/>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06" name="Google Shape;406;p74"/>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407" name="Google Shape;407;p74"/>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408" name="Google Shape;408;p74"/>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09" name="Google Shape;409;p74"/>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10" name="Google Shape;410;p74"/>
          <p:cNvSpPr txBox="1"/>
          <p:nvPr/>
        </p:nvSpPr>
        <p:spPr>
          <a:xfrm>
            <a:off x="913795" y="609600"/>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lt2"/>
              </a:buClr>
              <a:buSzPts val="4000"/>
              <a:buFont typeface="Lustria"/>
              <a:buNone/>
            </a:pPr>
            <a:r>
              <a:t/>
            </a:r>
            <a:endParaRPr b="1" i="0" sz="4800" u="none" cap="none" strike="noStrike">
              <a:solidFill>
                <a:schemeClr val="dk1"/>
              </a:solidFill>
              <a:latin typeface="Calibri"/>
              <a:ea typeface="Calibri"/>
              <a:cs typeface="Calibri"/>
              <a:sym typeface="Calibri"/>
            </a:endParaRPr>
          </a:p>
        </p:txBody>
      </p:sp>
      <p:sp>
        <p:nvSpPr>
          <p:cNvPr id="411" name="Google Shape;411;p74"/>
          <p:cNvSpPr txBox="1"/>
          <p:nvPr/>
        </p:nvSpPr>
        <p:spPr>
          <a:xfrm>
            <a:off x="369811" y="3230330"/>
            <a:ext cx="4653008" cy="17542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highlight>
                  <a:srgbClr val="FF0000"/>
                </a:highlight>
                <a:latin typeface="Times New Roman"/>
                <a:ea typeface="Times New Roman"/>
                <a:cs typeface="Times New Roman"/>
                <a:sym typeface="Times New Roman"/>
              </a:rPr>
              <a:t>Disadvantage</a:t>
            </a:r>
            <a:r>
              <a:rPr b="0" i="0" lang="en-US" sz="1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High Voltage Needed</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Burn due to High Temperature (Non-reliable)</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Bulky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id="412" name="Google Shape;412;p74"/>
          <p:cNvPicPr preferRelativeResize="0"/>
          <p:nvPr/>
        </p:nvPicPr>
        <p:blipFill rotWithShape="1">
          <a:blip r:embed="rId4">
            <a:alphaModFix/>
          </a:blip>
          <a:srcRect b="0" l="0" r="0" t="0"/>
          <a:stretch/>
        </p:blipFill>
        <p:spPr>
          <a:xfrm>
            <a:off x="5655640" y="657361"/>
            <a:ext cx="3388031" cy="2479391"/>
          </a:xfrm>
          <a:prstGeom prst="rect">
            <a:avLst/>
          </a:prstGeom>
          <a:noFill/>
          <a:ln>
            <a:noFill/>
          </a:ln>
        </p:spPr>
      </p:pic>
      <p:sp>
        <p:nvSpPr>
          <p:cNvPr id="413" name="Google Shape;413;p74"/>
          <p:cNvSpPr txBox="1"/>
          <p:nvPr/>
        </p:nvSpPr>
        <p:spPr>
          <a:xfrm>
            <a:off x="326034" y="1124607"/>
            <a:ext cx="5383649" cy="1916306"/>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0000"/>
                </a:solidFill>
                <a:latin typeface="Times New Roman"/>
                <a:ea typeface="Times New Roman"/>
                <a:cs typeface="Times New Roman"/>
                <a:sym typeface="Times New Roman"/>
              </a:rPr>
              <a:t>In </a:t>
            </a:r>
            <a:r>
              <a:rPr b="1" i="0" lang="en-US" sz="2000" u="none" cap="none" strike="noStrike">
                <a:solidFill>
                  <a:srgbClr val="000000"/>
                </a:solidFill>
                <a:latin typeface="Times New Roman"/>
                <a:ea typeface="Times New Roman"/>
                <a:cs typeface="Times New Roman"/>
                <a:sym typeface="Times New Roman"/>
              </a:rPr>
              <a:t>1906</a:t>
            </a:r>
            <a:r>
              <a:rPr b="0" i="0" lang="en-US" sz="2000" u="none" cap="none" strike="noStrike">
                <a:solidFill>
                  <a:srgbClr val="000000"/>
                </a:solidFill>
                <a:latin typeface="Times New Roman"/>
                <a:ea typeface="Times New Roman"/>
                <a:cs typeface="Times New Roman"/>
                <a:sym typeface="Times New Roman"/>
              </a:rPr>
              <a:t>, </a:t>
            </a:r>
            <a:r>
              <a:rPr b="1" i="0" lang="en-US" sz="2000" u="none" cap="none" strike="noStrike">
                <a:solidFill>
                  <a:srgbClr val="000000"/>
                </a:solidFill>
                <a:latin typeface="Times New Roman"/>
                <a:ea typeface="Times New Roman"/>
                <a:cs typeface="Times New Roman"/>
                <a:sym typeface="Times New Roman"/>
              </a:rPr>
              <a:t>Lee De Forest</a:t>
            </a:r>
            <a:r>
              <a:rPr b="0" i="0" lang="en-US" sz="2000" u="none" cap="none" strike="noStrike">
                <a:solidFill>
                  <a:srgbClr val="000000"/>
                </a:solidFill>
                <a:latin typeface="Times New Roman"/>
                <a:ea typeface="Times New Roman"/>
                <a:cs typeface="Times New Roman"/>
                <a:sym typeface="Times New Roman"/>
              </a:rPr>
              <a:t> improved the previous configuration by adding a third electrode (</a:t>
            </a:r>
            <a:r>
              <a:rPr b="1" i="0" lang="en-US" sz="2000" u="none" cap="none" strike="noStrike">
                <a:solidFill>
                  <a:srgbClr val="000000"/>
                </a:solidFill>
                <a:latin typeface="Times New Roman"/>
                <a:ea typeface="Times New Roman"/>
                <a:cs typeface="Times New Roman"/>
                <a:sym typeface="Times New Roman"/>
              </a:rPr>
              <a:t>grid/gate</a:t>
            </a:r>
            <a:r>
              <a:rPr b="0" i="0" lang="en-US" sz="2000" u="none" cap="none" strike="noStrike">
                <a:solidFill>
                  <a:srgbClr val="000000"/>
                </a:solidFill>
                <a:latin typeface="Times New Roman"/>
                <a:ea typeface="Times New Roman"/>
                <a:cs typeface="Times New Roman"/>
                <a:sym typeface="Times New Roman"/>
              </a:rPr>
              <a:t>), which is placed between cathode and anode.</a:t>
            </a:r>
            <a:endParaRPr b="0" i="0" sz="2000" u="none" cap="small"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300"/>
              <a:buFont typeface="Noto Sans Symbols"/>
              <a:buChar char="❑"/>
            </a:pPr>
            <a:r>
              <a:rPr b="0" i="0" lang="en-US" sz="2000" u="none" cap="none" strike="noStrike">
                <a:solidFill>
                  <a:srgbClr val="000000"/>
                </a:solidFill>
                <a:latin typeface="Times New Roman"/>
                <a:ea typeface="Times New Roman"/>
                <a:cs typeface="Times New Roman"/>
                <a:sym typeface="Times New Roman"/>
              </a:rPr>
              <a:t>By applying a small voltage to the grid, the flow of electrons can be controlled, allowing the tube to act as a </a:t>
            </a:r>
            <a:r>
              <a:rPr b="1" i="0" lang="en-US" sz="2000" u="none" cap="none" strike="noStrike">
                <a:solidFill>
                  <a:srgbClr val="000000"/>
                </a:solidFill>
                <a:latin typeface="Times New Roman"/>
                <a:ea typeface="Times New Roman"/>
                <a:cs typeface="Times New Roman"/>
                <a:sym typeface="Times New Roman"/>
              </a:rPr>
              <a:t>switch</a:t>
            </a:r>
            <a:r>
              <a:rPr b="0" i="0" lang="en-US" sz="20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id="414" name="Google Shape;414;p74"/>
          <p:cNvPicPr preferRelativeResize="0"/>
          <p:nvPr/>
        </p:nvPicPr>
        <p:blipFill rotWithShape="1">
          <a:blip r:embed="rId5">
            <a:alphaModFix/>
          </a:blip>
          <a:srcRect b="0" l="0" r="0" t="0"/>
          <a:stretch/>
        </p:blipFill>
        <p:spPr>
          <a:xfrm>
            <a:off x="4492231" y="2993628"/>
            <a:ext cx="2266950" cy="1552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5"/>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Recent Electronic Switch</a:t>
            </a:r>
            <a:endParaRPr/>
          </a:p>
        </p:txBody>
      </p:sp>
      <p:sp>
        <p:nvSpPr>
          <p:cNvPr id="420" name="Google Shape;420;p75"/>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421" name="Google Shape;421;p75"/>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422" name="Google Shape;422;p75"/>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423" name="Google Shape;423;p75"/>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424" name="Google Shape;424;p75"/>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25" name="Google Shape;425;p75"/>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426" name="Google Shape;426;p75"/>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427" name="Google Shape;427;p75"/>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28" name="Google Shape;428;p75"/>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29" name="Google Shape;429;p75"/>
          <p:cNvSpPr txBox="1"/>
          <p:nvPr/>
        </p:nvSpPr>
        <p:spPr>
          <a:xfrm>
            <a:off x="913795" y="609600"/>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lt2"/>
              </a:buClr>
              <a:buSzPts val="4000"/>
              <a:buFont typeface="Lustria"/>
              <a:buNone/>
            </a:pPr>
            <a:r>
              <a:t/>
            </a:r>
            <a:endParaRPr b="1" i="0" sz="4800" u="none" cap="none" strike="noStrike">
              <a:solidFill>
                <a:schemeClr val="dk1"/>
              </a:solidFill>
              <a:latin typeface="Calibri"/>
              <a:ea typeface="Calibri"/>
              <a:cs typeface="Calibri"/>
              <a:sym typeface="Calibri"/>
            </a:endParaRPr>
          </a:p>
        </p:txBody>
      </p:sp>
      <p:sp>
        <p:nvSpPr>
          <p:cNvPr id="430" name="Google Shape;430;p75"/>
          <p:cNvSpPr txBox="1"/>
          <p:nvPr/>
        </p:nvSpPr>
        <p:spPr>
          <a:xfrm>
            <a:off x="226282" y="894244"/>
            <a:ext cx="2862136" cy="1207353"/>
          </a:xfrm>
          <a:prstGeom prst="rect">
            <a:avLst/>
          </a:prstGeom>
          <a:noFill/>
          <a:ln>
            <a:noFill/>
          </a:ln>
        </p:spPr>
        <p:txBody>
          <a:bodyPr anchorCtr="0" anchor="t" bIns="45700" lIns="91425" spcFirstLastPara="1" rIns="91425" wrap="square" tIns="45700">
            <a:normAutofit/>
          </a:bodyPr>
          <a:lstStyle/>
          <a:p>
            <a:pPr indent="-342900" lvl="1" marL="914400" marR="0" rtl="0" algn="l">
              <a:lnSpc>
                <a:spcPct val="90000"/>
              </a:lnSpc>
              <a:spcBef>
                <a:spcPts val="37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No moving parts</a:t>
            </a:r>
            <a:endParaRPr b="0" i="0" sz="1400" u="none" cap="none" strike="noStrike">
              <a:solidFill>
                <a:srgbClr val="000000"/>
              </a:solidFill>
              <a:latin typeface="Arial"/>
              <a:ea typeface="Arial"/>
              <a:cs typeface="Arial"/>
              <a:sym typeface="Arial"/>
            </a:endParaRPr>
          </a:p>
          <a:p>
            <a:pPr indent="-342900" lvl="1" marL="914400" marR="0" rtl="0" algn="l">
              <a:lnSpc>
                <a:spcPct val="90000"/>
              </a:lnSpc>
              <a:spcBef>
                <a:spcPts val="37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Scalable</a:t>
            </a:r>
            <a:endParaRPr b="0" i="0" sz="1400" u="none" cap="none" strike="noStrike">
              <a:solidFill>
                <a:srgbClr val="000000"/>
              </a:solidFill>
              <a:latin typeface="Arial"/>
              <a:ea typeface="Arial"/>
              <a:cs typeface="Arial"/>
              <a:sym typeface="Arial"/>
            </a:endParaRPr>
          </a:p>
          <a:p>
            <a:pPr indent="-342900" lvl="1" marL="914400" marR="0" rtl="0" algn="l">
              <a:lnSpc>
                <a:spcPct val="90000"/>
              </a:lnSpc>
              <a:spcBef>
                <a:spcPts val="37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High speed</a:t>
            </a:r>
            <a:endParaRPr b="0" i="0" sz="1400" u="none" cap="none" strike="noStrike">
              <a:solidFill>
                <a:srgbClr val="000000"/>
              </a:solidFill>
              <a:latin typeface="Arial"/>
              <a:ea typeface="Arial"/>
              <a:cs typeface="Arial"/>
              <a:sym typeface="Arial"/>
            </a:endParaRPr>
          </a:p>
          <a:p>
            <a:pPr indent="-342900" lvl="1" marL="914400" marR="0" rtl="0" algn="l">
              <a:lnSpc>
                <a:spcPct val="90000"/>
              </a:lnSpc>
              <a:spcBef>
                <a:spcPts val="375"/>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pic>
        <p:nvPicPr>
          <p:cNvPr descr="MOSFET - Wikipedia" id="431" name="Google Shape;431;p75"/>
          <p:cNvPicPr preferRelativeResize="0"/>
          <p:nvPr/>
        </p:nvPicPr>
        <p:blipFill rotWithShape="1">
          <a:blip r:embed="rId4">
            <a:alphaModFix/>
          </a:blip>
          <a:srcRect b="0" l="0" r="0" t="0"/>
          <a:stretch/>
        </p:blipFill>
        <p:spPr>
          <a:xfrm>
            <a:off x="6181873" y="522126"/>
            <a:ext cx="2695812" cy="1793940"/>
          </a:xfrm>
          <a:prstGeom prst="rect">
            <a:avLst/>
          </a:prstGeom>
          <a:noFill/>
          <a:ln>
            <a:noFill/>
          </a:ln>
        </p:spPr>
      </p:pic>
      <p:sp>
        <p:nvSpPr>
          <p:cNvPr id="432" name="Google Shape;432;p75"/>
          <p:cNvSpPr txBox="1"/>
          <p:nvPr/>
        </p:nvSpPr>
        <p:spPr>
          <a:xfrm>
            <a:off x="226282" y="2303101"/>
            <a:ext cx="5983597" cy="377026"/>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5GHz computer 🡪 5 billion operations per second !!!</a:t>
            </a:r>
            <a:endParaRPr b="1" i="0" sz="2000" u="none" cap="none" strike="noStrike">
              <a:solidFill>
                <a:srgbClr val="000000"/>
              </a:solidFill>
              <a:latin typeface="Times New Roman"/>
              <a:ea typeface="Times New Roman"/>
              <a:cs typeface="Times New Roman"/>
              <a:sym typeface="Times New Roman"/>
            </a:endParaRPr>
          </a:p>
        </p:txBody>
      </p:sp>
      <p:sp>
        <p:nvSpPr>
          <p:cNvPr id="433" name="Google Shape;433;p75"/>
          <p:cNvSpPr txBox="1"/>
          <p:nvPr/>
        </p:nvSpPr>
        <p:spPr>
          <a:xfrm>
            <a:off x="457200" y="2693840"/>
            <a:ext cx="8229600" cy="1900782"/>
          </a:xfrm>
          <a:prstGeom prst="rect">
            <a:avLst/>
          </a:prstGeom>
          <a:noFill/>
          <a:ln>
            <a:noFill/>
          </a:ln>
        </p:spPr>
        <p:txBody>
          <a:bodyPr anchorCtr="0" anchor="t" bIns="45700" lIns="91425" spcFirstLastPara="1" rIns="91425" wrap="square" tIns="45700">
            <a:normAutofit/>
          </a:bodyPr>
          <a:lstStyle/>
          <a:p>
            <a:pPr indent="-361950" lvl="0" marL="457200" marR="0" rtl="0" algn="l">
              <a:lnSpc>
                <a:spcPct val="90000"/>
              </a:lnSpc>
              <a:spcBef>
                <a:spcPts val="750"/>
              </a:spcBef>
              <a:spcAft>
                <a:spcPts val="0"/>
              </a:spcAft>
              <a:buClr>
                <a:schemeClr val="dk1"/>
              </a:buClr>
              <a:buSzPts val="2800"/>
              <a:buFont typeface="Arial"/>
              <a:buNone/>
            </a:pPr>
            <a:r>
              <a:rPr b="0" i="0" lang="en-US" sz="2000" u="none" cap="none" strike="noStrike">
                <a:solidFill>
                  <a:schemeClr val="dk1"/>
                </a:solidFill>
                <a:latin typeface="Times New Roman"/>
                <a:ea typeface="Times New Roman"/>
                <a:cs typeface="Times New Roman"/>
                <a:sym typeface="Times New Roman"/>
              </a:rPr>
              <a:t>Any circuit consisting of semiconductors can be considered as electronic SW.</a:t>
            </a:r>
            <a:endParaRPr b="0" i="0" sz="1400" u="none" cap="none" strike="noStrike">
              <a:solidFill>
                <a:srgbClr val="000000"/>
              </a:solidFill>
              <a:latin typeface="Arial"/>
              <a:ea typeface="Arial"/>
              <a:cs typeface="Arial"/>
              <a:sym typeface="Arial"/>
            </a:endParaRPr>
          </a:p>
        </p:txBody>
      </p:sp>
      <p:pic>
        <p:nvPicPr>
          <p:cNvPr descr="What is Diode - Definition, Diode Symbol, Types of Diode, Characteristics,  Applications and FAQs" id="434" name="Google Shape;434;p75"/>
          <p:cNvPicPr preferRelativeResize="0"/>
          <p:nvPr/>
        </p:nvPicPr>
        <p:blipFill rotWithShape="1">
          <a:blip r:embed="rId5">
            <a:alphaModFix/>
          </a:blip>
          <a:srcRect b="0" l="0" r="0" t="0"/>
          <a:stretch/>
        </p:blipFill>
        <p:spPr>
          <a:xfrm>
            <a:off x="628650" y="3369119"/>
            <a:ext cx="2136516" cy="900156"/>
          </a:xfrm>
          <a:prstGeom prst="rect">
            <a:avLst/>
          </a:prstGeom>
          <a:noFill/>
          <a:ln>
            <a:noFill/>
          </a:ln>
        </p:spPr>
      </p:pic>
      <p:pic>
        <p:nvPicPr>
          <p:cNvPr descr="Basic Electronics - Types of Transistors" id="435" name="Google Shape;435;p75"/>
          <p:cNvPicPr preferRelativeResize="0"/>
          <p:nvPr/>
        </p:nvPicPr>
        <p:blipFill rotWithShape="1">
          <a:blip r:embed="rId6">
            <a:alphaModFix/>
          </a:blip>
          <a:srcRect b="0" l="0" r="0" t="0"/>
          <a:stretch/>
        </p:blipFill>
        <p:spPr>
          <a:xfrm>
            <a:off x="3446812" y="3139266"/>
            <a:ext cx="1467284" cy="1203168"/>
          </a:xfrm>
          <a:prstGeom prst="rect">
            <a:avLst/>
          </a:prstGeom>
          <a:noFill/>
          <a:ln>
            <a:noFill/>
          </a:ln>
        </p:spPr>
      </p:pic>
      <p:pic>
        <p:nvPicPr>
          <p:cNvPr descr="What is MOSFET? - ELE Times" id="436" name="Google Shape;436;p75"/>
          <p:cNvPicPr preferRelativeResize="0"/>
          <p:nvPr/>
        </p:nvPicPr>
        <p:blipFill rotWithShape="1">
          <a:blip r:embed="rId7">
            <a:alphaModFix/>
          </a:blip>
          <a:srcRect b="0" l="0" r="0" t="30585"/>
          <a:stretch/>
        </p:blipFill>
        <p:spPr>
          <a:xfrm>
            <a:off x="5378124" y="3202941"/>
            <a:ext cx="3308676" cy="1037449"/>
          </a:xfrm>
          <a:prstGeom prst="rect">
            <a:avLst/>
          </a:prstGeom>
          <a:noFill/>
          <a:ln>
            <a:noFill/>
          </a:ln>
        </p:spPr>
      </p:pic>
      <p:sp>
        <p:nvSpPr>
          <p:cNvPr id="437" name="Google Shape;437;p75"/>
          <p:cNvSpPr txBox="1"/>
          <p:nvPr/>
        </p:nvSpPr>
        <p:spPr>
          <a:xfrm>
            <a:off x="1160273" y="4299985"/>
            <a:ext cx="1014312" cy="37702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Diode</a:t>
            </a:r>
            <a:endParaRPr b="0" i="0" sz="1400" u="none" cap="none" strike="noStrike">
              <a:solidFill>
                <a:srgbClr val="000000"/>
              </a:solidFill>
              <a:latin typeface="Arial"/>
              <a:ea typeface="Arial"/>
              <a:cs typeface="Arial"/>
              <a:sym typeface="Arial"/>
            </a:endParaRPr>
          </a:p>
        </p:txBody>
      </p:sp>
      <p:sp>
        <p:nvSpPr>
          <p:cNvPr id="438" name="Google Shape;438;p75"/>
          <p:cNvSpPr txBox="1"/>
          <p:nvPr/>
        </p:nvSpPr>
        <p:spPr>
          <a:xfrm>
            <a:off x="3607779" y="4300390"/>
            <a:ext cx="1190358" cy="37702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BJT</a:t>
            </a:r>
            <a:endParaRPr b="0" i="0" sz="1400" u="none" cap="none" strike="noStrike">
              <a:solidFill>
                <a:srgbClr val="000000"/>
              </a:solidFill>
              <a:latin typeface="Arial"/>
              <a:ea typeface="Arial"/>
              <a:cs typeface="Arial"/>
              <a:sym typeface="Arial"/>
            </a:endParaRPr>
          </a:p>
        </p:txBody>
      </p:sp>
      <p:sp>
        <p:nvSpPr>
          <p:cNvPr id="439" name="Google Shape;439;p75"/>
          <p:cNvSpPr txBox="1"/>
          <p:nvPr/>
        </p:nvSpPr>
        <p:spPr>
          <a:xfrm>
            <a:off x="6679806" y="4299985"/>
            <a:ext cx="1190358" cy="37702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MOSFET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xEl>
                                              <p:pRg end="0" st="0"/>
                                            </p:txEl>
                                          </p:spTgt>
                                        </p:tgtEl>
                                        <p:attrNameLst>
                                          <p:attrName>style.visibility</p:attrName>
                                        </p:attrNameLst>
                                      </p:cBhvr>
                                      <p:to>
                                        <p:strVal val="visible"/>
                                      </p:to>
                                    </p:set>
                                    <p:animEffect filter="fade" transition="in">
                                      <p:cBhvr>
                                        <p:cTn dur="500"/>
                                        <p:tgtEl>
                                          <p:spTgt spid="4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xEl>
                                              <p:pRg end="1" st="1"/>
                                            </p:txEl>
                                          </p:spTgt>
                                        </p:tgtEl>
                                        <p:attrNameLst>
                                          <p:attrName>style.visibility</p:attrName>
                                        </p:attrNameLst>
                                      </p:cBhvr>
                                      <p:to>
                                        <p:strVal val="visible"/>
                                      </p:to>
                                    </p:set>
                                    <p:animEffect filter="fade" transition="in">
                                      <p:cBhvr>
                                        <p:cTn dur="500"/>
                                        <p:tgtEl>
                                          <p:spTgt spid="4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xEl>
                                              <p:pRg end="2" st="2"/>
                                            </p:txEl>
                                          </p:spTgt>
                                        </p:tgtEl>
                                        <p:attrNameLst>
                                          <p:attrName>style.visibility</p:attrName>
                                        </p:attrNameLst>
                                      </p:cBhvr>
                                      <p:to>
                                        <p:strVal val="visible"/>
                                      </p:to>
                                    </p:set>
                                    <p:animEffect filter="fade" transition="in">
                                      <p:cBhvr>
                                        <p:cTn dur="500"/>
                                        <p:tgtEl>
                                          <p:spTgt spid="4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xEl>
                                              <p:pRg end="3" st="3"/>
                                            </p:txEl>
                                          </p:spTgt>
                                        </p:tgtEl>
                                        <p:attrNameLst>
                                          <p:attrName>style.visibility</p:attrName>
                                        </p:attrNameLst>
                                      </p:cBhvr>
                                      <p:to>
                                        <p:strVal val="visible"/>
                                      </p:to>
                                    </p:set>
                                    <p:animEffect filter="fade" transition="in">
                                      <p:cBhvr>
                                        <p:cTn dur="500"/>
                                        <p:tgtEl>
                                          <p:spTgt spid="4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6"/>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CSE 251: Where does it fit in?</a:t>
            </a:r>
            <a:endParaRPr/>
          </a:p>
        </p:txBody>
      </p:sp>
      <p:sp>
        <p:nvSpPr>
          <p:cNvPr id="445" name="Google Shape;445;p76"/>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446" name="Google Shape;446;p76"/>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447" name="Google Shape;447;p76"/>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448" name="Google Shape;448;p76"/>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449" name="Google Shape;449;p76"/>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50" name="Google Shape;450;p76"/>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451" name="Google Shape;451;p76"/>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452" name="Google Shape;452;p76"/>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53" name="Google Shape;453;p76"/>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54" name="Google Shape;454;p76"/>
          <p:cNvSpPr txBox="1"/>
          <p:nvPr/>
        </p:nvSpPr>
        <p:spPr>
          <a:xfrm>
            <a:off x="913795" y="609600"/>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lt2"/>
              </a:buClr>
              <a:buSzPts val="4000"/>
              <a:buFont typeface="Lustria"/>
              <a:buNone/>
            </a:pPr>
            <a:r>
              <a:t/>
            </a:r>
            <a:endParaRPr b="1" i="0" sz="4800" u="none" cap="none" strike="noStrike">
              <a:solidFill>
                <a:schemeClr val="dk1"/>
              </a:solidFill>
              <a:latin typeface="Calibri"/>
              <a:ea typeface="Calibri"/>
              <a:cs typeface="Calibri"/>
              <a:sym typeface="Calibri"/>
            </a:endParaRPr>
          </a:p>
        </p:txBody>
      </p:sp>
      <p:sp>
        <p:nvSpPr>
          <p:cNvPr id="455" name="Google Shape;455;p76"/>
          <p:cNvSpPr txBox="1"/>
          <p:nvPr/>
        </p:nvSpPr>
        <p:spPr>
          <a:xfrm>
            <a:off x="1323360" y="748009"/>
            <a:ext cx="7303500" cy="507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360"/>
              </a:spcBef>
              <a:spcAft>
                <a:spcPts val="0"/>
              </a:spcAft>
              <a:buClr>
                <a:schemeClr val="dk1"/>
              </a:buClr>
              <a:buSzPts val="2800"/>
              <a:buFont typeface="Arial"/>
              <a:buNone/>
            </a:pPr>
            <a:r>
              <a:rPr b="0" i="0" lang="en-US" sz="1600" u="none" cap="none" strike="noStrike">
                <a:solidFill>
                  <a:schemeClr val="dk1"/>
                </a:solidFill>
                <a:latin typeface="Times New Roman"/>
                <a:ea typeface="Times New Roman"/>
                <a:cs typeface="Times New Roman"/>
                <a:sym typeface="Times New Roman"/>
              </a:rPr>
              <a:t>                     High level programming language ( C++, Java, Python etc.)</a:t>
            </a:r>
            <a:endParaRPr b="0" i="0" sz="1400" u="none" cap="none" strike="noStrike">
              <a:solidFill>
                <a:srgbClr val="000000"/>
              </a:solidFill>
              <a:latin typeface="Arial"/>
              <a:ea typeface="Arial"/>
              <a:cs typeface="Arial"/>
              <a:sym typeface="Arial"/>
            </a:endParaRPr>
          </a:p>
        </p:txBody>
      </p:sp>
      <p:sp>
        <p:nvSpPr>
          <p:cNvPr id="456" name="Google Shape;456;p76"/>
          <p:cNvSpPr/>
          <p:nvPr/>
        </p:nvSpPr>
        <p:spPr>
          <a:xfrm>
            <a:off x="4411914" y="1110152"/>
            <a:ext cx="287905"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457" name="Google Shape;457;p76"/>
          <p:cNvSpPr txBox="1"/>
          <p:nvPr/>
        </p:nvSpPr>
        <p:spPr>
          <a:xfrm>
            <a:off x="1371069" y="1527091"/>
            <a:ext cx="7303500" cy="507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360"/>
              </a:spcBef>
              <a:spcAft>
                <a:spcPts val="0"/>
              </a:spcAft>
              <a:buClr>
                <a:schemeClr val="dk1"/>
              </a:buClr>
              <a:buSzPts val="2800"/>
              <a:buFont typeface="Arial"/>
              <a:buNone/>
            </a:pPr>
            <a:r>
              <a:rPr b="0" i="0" lang="en-US" sz="1600" u="none" cap="none" strike="noStrike">
                <a:solidFill>
                  <a:schemeClr val="dk1"/>
                </a:solidFill>
                <a:latin typeface="Times New Roman"/>
                <a:ea typeface="Times New Roman"/>
                <a:cs typeface="Times New Roman"/>
                <a:sym typeface="Times New Roman"/>
              </a:rPr>
              <a:t>                   Assembly language (x86 assembly language, ARM, CUDA)</a:t>
            </a:r>
            <a:endParaRPr b="0" i="0" sz="1400" u="none" cap="none" strike="noStrike">
              <a:solidFill>
                <a:srgbClr val="000000"/>
              </a:solidFill>
              <a:latin typeface="Arial"/>
              <a:ea typeface="Arial"/>
              <a:cs typeface="Arial"/>
              <a:sym typeface="Arial"/>
            </a:endParaRPr>
          </a:p>
        </p:txBody>
      </p:sp>
      <p:sp>
        <p:nvSpPr>
          <p:cNvPr id="458" name="Google Shape;458;p76"/>
          <p:cNvSpPr/>
          <p:nvPr/>
        </p:nvSpPr>
        <p:spPr>
          <a:xfrm>
            <a:off x="4435504" y="1868056"/>
            <a:ext cx="264315"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459" name="Google Shape;459;p76"/>
          <p:cNvSpPr txBox="1"/>
          <p:nvPr/>
        </p:nvSpPr>
        <p:spPr>
          <a:xfrm>
            <a:off x="3683676" y="2187958"/>
            <a:ext cx="1901562" cy="5076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90000"/>
              </a:lnSpc>
              <a:spcBef>
                <a:spcPts val="360"/>
              </a:spcBef>
              <a:spcAft>
                <a:spcPts val="0"/>
              </a:spcAft>
              <a:buClr>
                <a:schemeClr val="dk1"/>
              </a:buClr>
              <a:buSzPct val="189189"/>
              <a:buFont typeface="Arial"/>
              <a:buNone/>
            </a:pPr>
            <a:r>
              <a:rPr b="0" i="0" lang="en-US" sz="1600" u="none" cap="none" strike="noStrike">
                <a:solidFill>
                  <a:schemeClr val="dk1"/>
                </a:solidFill>
                <a:latin typeface="Times New Roman"/>
                <a:ea typeface="Times New Roman"/>
                <a:cs typeface="Times New Roman"/>
                <a:sym typeface="Times New Roman"/>
              </a:rPr>
              <a:t>                                       Machine Language</a:t>
            </a:r>
            <a:endParaRPr b="0" i="0" sz="1400" u="none" cap="none" strike="noStrike">
              <a:solidFill>
                <a:srgbClr val="000000"/>
              </a:solidFill>
              <a:latin typeface="Arial"/>
              <a:ea typeface="Arial"/>
              <a:cs typeface="Arial"/>
              <a:sym typeface="Arial"/>
            </a:endParaRPr>
          </a:p>
        </p:txBody>
      </p:sp>
      <p:sp>
        <p:nvSpPr>
          <p:cNvPr id="460" name="Google Shape;460;p76"/>
          <p:cNvSpPr/>
          <p:nvPr/>
        </p:nvSpPr>
        <p:spPr>
          <a:xfrm>
            <a:off x="4422446" y="2635826"/>
            <a:ext cx="287905"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461" name="Google Shape;461;p76"/>
          <p:cNvSpPr txBox="1"/>
          <p:nvPr/>
        </p:nvSpPr>
        <p:spPr>
          <a:xfrm>
            <a:off x="2093608" y="3057086"/>
            <a:ext cx="7303500" cy="507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360"/>
              </a:spcBef>
              <a:spcAft>
                <a:spcPts val="0"/>
              </a:spcAft>
              <a:buClr>
                <a:schemeClr val="dk1"/>
              </a:buClr>
              <a:buSzPts val="2800"/>
              <a:buFont typeface="Arial"/>
              <a:buNone/>
            </a:pPr>
            <a:r>
              <a:rPr b="0" i="0" lang="en-US" sz="1600" u="none" cap="none" strike="noStrike">
                <a:solidFill>
                  <a:schemeClr val="dk1"/>
                </a:solidFill>
                <a:latin typeface="Times New Roman"/>
                <a:ea typeface="Times New Roman"/>
                <a:cs typeface="Times New Roman"/>
                <a:sym typeface="Times New Roman"/>
              </a:rPr>
              <a:t>Architecture (RISC, CISC, IBM Power; Instruction sets varies depending on the architecture) </a:t>
            </a:r>
            <a:endParaRPr b="0" i="0" sz="1400" u="none" cap="none" strike="noStrike">
              <a:solidFill>
                <a:srgbClr val="000000"/>
              </a:solidFill>
              <a:latin typeface="Arial"/>
              <a:ea typeface="Arial"/>
              <a:cs typeface="Arial"/>
              <a:sym typeface="Arial"/>
            </a:endParaRPr>
          </a:p>
        </p:txBody>
      </p:sp>
      <p:sp>
        <p:nvSpPr>
          <p:cNvPr id="462" name="Google Shape;462;p76"/>
          <p:cNvSpPr/>
          <p:nvPr/>
        </p:nvSpPr>
        <p:spPr>
          <a:xfrm>
            <a:off x="4445574" y="3425012"/>
            <a:ext cx="254245"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463" name="Google Shape;463;p76"/>
          <p:cNvSpPr/>
          <p:nvPr/>
        </p:nvSpPr>
        <p:spPr>
          <a:xfrm>
            <a:off x="1580248" y="886551"/>
            <a:ext cx="804600" cy="2771918"/>
          </a:xfrm>
          <a:prstGeom prst="leftBrace">
            <a:avLst>
              <a:gd fmla="val 50000" name="adj1"/>
              <a:gd fmla="val 49737" name="adj2"/>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464" name="Google Shape;464;p76"/>
          <p:cNvSpPr txBox="1"/>
          <p:nvPr/>
        </p:nvSpPr>
        <p:spPr>
          <a:xfrm>
            <a:off x="46120" y="1613689"/>
            <a:ext cx="1611230" cy="145888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2"/>
                </a:solidFill>
                <a:highlight>
                  <a:schemeClr val="dk2"/>
                </a:highlight>
                <a:latin typeface="Times New Roman"/>
                <a:ea typeface="Times New Roman"/>
                <a:cs typeface="Times New Roman"/>
                <a:sym typeface="Times New Roman"/>
              </a:rPr>
              <a:t>Computer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2"/>
                </a:solidFill>
                <a:highlight>
                  <a:schemeClr val="dk2"/>
                </a:highlight>
                <a:latin typeface="Times New Roman"/>
                <a:ea typeface="Times New Roman"/>
                <a:cs typeface="Times New Roman"/>
                <a:sym typeface="Times New Roman"/>
              </a:rPr>
              <a:t>Architecture and Microprocessor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2"/>
                </a:solidFill>
                <a:highlight>
                  <a:schemeClr val="dk2"/>
                </a:highlight>
                <a:latin typeface="Times New Roman"/>
                <a:ea typeface="Times New Roman"/>
                <a:cs typeface="Times New Roman"/>
                <a:sym typeface="Times New Roman"/>
              </a:rPr>
              <a:t> courses</a:t>
            </a:r>
            <a:endParaRPr b="0" i="0" sz="1600" u="none" cap="none" strike="noStrike">
              <a:solidFill>
                <a:schemeClr val="lt2"/>
              </a:solidFill>
              <a:highlight>
                <a:schemeClr val="dk2"/>
              </a:highlight>
              <a:latin typeface="Times New Roman"/>
              <a:ea typeface="Times New Roman"/>
              <a:cs typeface="Times New Roman"/>
              <a:sym typeface="Times New Roman"/>
            </a:endParaRPr>
          </a:p>
        </p:txBody>
      </p:sp>
      <p:sp>
        <p:nvSpPr>
          <p:cNvPr id="465" name="Google Shape;465;p76"/>
          <p:cNvSpPr txBox="1"/>
          <p:nvPr/>
        </p:nvSpPr>
        <p:spPr>
          <a:xfrm>
            <a:off x="2265985" y="3993375"/>
            <a:ext cx="4867667" cy="507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360"/>
              </a:spcBef>
              <a:spcAft>
                <a:spcPts val="0"/>
              </a:spcAft>
              <a:buClr>
                <a:schemeClr val="dk1"/>
              </a:buClr>
              <a:buSzPts val="2800"/>
              <a:buFont typeface="Arial"/>
              <a:buNone/>
            </a:pPr>
            <a:r>
              <a:rPr b="0" i="0" lang="en-US" sz="1600" u="none" cap="none" strike="noStrike">
                <a:solidFill>
                  <a:schemeClr val="dk1"/>
                </a:solidFill>
                <a:latin typeface="Times New Roman"/>
                <a:ea typeface="Times New Roman"/>
                <a:cs typeface="Times New Roman"/>
                <a:sym typeface="Times New Roman"/>
              </a:rPr>
              <a:t>System level (Register, MUX, Encoder, Decoder)</a:t>
            </a:r>
            <a:endParaRPr b="0" i="0" sz="1400" u="none" cap="none" strike="noStrike">
              <a:solidFill>
                <a:srgbClr val="000000"/>
              </a:solidFill>
              <a:latin typeface="Arial"/>
              <a:ea typeface="Arial"/>
              <a:cs typeface="Arial"/>
              <a:sym typeface="Arial"/>
            </a:endParaRPr>
          </a:p>
        </p:txBody>
      </p:sp>
      <p:sp>
        <p:nvSpPr>
          <p:cNvPr id="466" name="Google Shape;466;p76"/>
          <p:cNvSpPr txBox="1"/>
          <p:nvPr/>
        </p:nvSpPr>
        <p:spPr>
          <a:xfrm>
            <a:off x="370329" y="3979316"/>
            <a:ext cx="2401500" cy="42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2"/>
                </a:solidFill>
                <a:highlight>
                  <a:schemeClr val="dk2"/>
                </a:highlight>
                <a:latin typeface="Times New Roman"/>
                <a:ea typeface="Times New Roman"/>
                <a:cs typeface="Times New Roman"/>
                <a:sym typeface="Times New Roman"/>
              </a:rPr>
              <a:t>DLD Course</a:t>
            </a:r>
            <a:endParaRPr b="0" i="0" sz="1600" u="none" cap="none" strike="noStrike">
              <a:solidFill>
                <a:schemeClr val="lt2"/>
              </a:solidFill>
              <a:highlight>
                <a:schemeClr val="dk2"/>
              </a:highlight>
              <a:latin typeface="Times New Roman"/>
              <a:ea typeface="Times New Roman"/>
              <a:cs typeface="Times New Roman"/>
              <a:sym typeface="Times New Roman"/>
            </a:endParaRPr>
          </a:p>
        </p:txBody>
      </p:sp>
      <p:sp>
        <p:nvSpPr>
          <p:cNvPr id="467" name="Google Shape;467;p76"/>
          <p:cNvSpPr/>
          <p:nvPr/>
        </p:nvSpPr>
        <p:spPr>
          <a:xfrm>
            <a:off x="1781313" y="3758258"/>
            <a:ext cx="402469" cy="1056000"/>
          </a:xfrm>
          <a:prstGeom prst="leftBrace">
            <a:avLst>
              <a:gd fmla="val 50000" name="adj1"/>
              <a:gd fmla="val 47249" name="adj2"/>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7"/>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CSE 251: Where does it fit in?</a:t>
            </a:r>
            <a:endParaRPr/>
          </a:p>
        </p:txBody>
      </p:sp>
      <p:sp>
        <p:nvSpPr>
          <p:cNvPr id="473" name="Google Shape;473;p77"/>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474" name="Google Shape;474;p77"/>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475" name="Google Shape;475;p77"/>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476" name="Google Shape;476;p77"/>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77" name="Google Shape;477;p77"/>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478" name="Google Shape;478;p77"/>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479" name="Google Shape;479;p77"/>
          <p:cNvSpPr txBox="1"/>
          <p:nvPr/>
        </p:nvSpPr>
        <p:spPr>
          <a:xfrm>
            <a:off x="2707415" y="1174183"/>
            <a:ext cx="5514029" cy="342726"/>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90000"/>
              </a:lnSpc>
              <a:spcBef>
                <a:spcPts val="360"/>
              </a:spcBef>
              <a:spcAft>
                <a:spcPts val="0"/>
              </a:spcAft>
              <a:buClr>
                <a:schemeClr val="dk1"/>
              </a:buClr>
              <a:buSzPct val="164705"/>
              <a:buFont typeface="Arial"/>
              <a:buNone/>
            </a:pPr>
            <a:r>
              <a:rPr b="0" i="0" lang="en-US" sz="2000" u="none" cap="none" strike="noStrike">
                <a:solidFill>
                  <a:schemeClr val="dk1"/>
                </a:solidFill>
                <a:latin typeface="Times New Roman"/>
                <a:ea typeface="Times New Roman"/>
                <a:cs typeface="Times New Roman"/>
                <a:sym typeface="Times New Roman"/>
              </a:rPr>
              <a:t> Gate level (AND, OR, NOT) + Logic level + Logic Family</a:t>
            </a:r>
            <a:endParaRPr b="0" i="0" sz="1400" u="none" cap="none" strike="noStrike">
              <a:solidFill>
                <a:srgbClr val="000000"/>
              </a:solidFill>
              <a:latin typeface="Arial"/>
              <a:ea typeface="Arial"/>
              <a:cs typeface="Arial"/>
              <a:sym typeface="Arial"/>
            </a:endParaRPr>
          </a:p>
        </p:txBody>
      </p:sp>
      <p:sp>
        <p:nvSpPr>
          <p:cNvPr id="480" name="Google Shape;480;p77"/>
          <p:cNvSpPr/>
          <p:nvPr/>
        </p:nvSpPr>
        <p:spPr>
          <a:xfrm>
            <a:off x="5253829" y="1771079"/>
            <a:ext cx="280800"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481" name="Google Shape;481;p77"/>
          <p:cNvSpPr txBox="1"/>
          <p:nvPr/>
        </p:nvSpPr>
        <p:spPr>
          <a:xfrm>
            <a:off x="1643855" y="2494769"/>
            <a:ext cx="5514029" cy="507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360"/>
              </a:spcBef>
              <a:spcAft>
                <a:spcPts val="0"/>
              </a:spcAft>
              <a:buClr>
                <a:schemeClr val="dk1"/>
              </a:buClr>
              <a:buSzPts val="2800"/>
              <a:buFont typeface="Arial"/>
              <a:buNone/>
            </a:pPr>
            <a:r>
              <a:rPr b="0" i="0" lang="en-US" sz="2000" u="none" cap="none" strike="noStrike">
                <a:solidFill>
                  <a:schemeClr val="dk1"/>
                </a:solidFill>
                <a:latin typeface="Times New Roman"/>
                <a:ea typeface="Times New Roman"/>
                <a:cs typeface="Times New Roman"/>
                <a:sym typeface="Times New Roman"/>
              </a:rPr>
              <a:t>                   Transistors/ Switch (Digital Electronics)</a:t>
            </a:r>
            <a:endParaRPr b="0" i="0" sz="1400" u="none" cap="none" strike="noStrike">
              <a:solidFill>
                <a:srgbClr val="000000"/>
              </a:solidFill>
              <a:latin typeface="Arial"/>
              <a:ea typeface="Arial"/>
              <a:cs typeface="Arial"/>
              <a:sym typeface="Arial"/>
            </a:endParaRPr>
          </a:p>
        </p:txBody>
      </p:sp>
      <p:sp>
        <p:nvSpPr>
          <p:cNvPr id="482" name="Google Shape;482;p77"/>
          <p:cNvSpPr txBox="1"/>
          <p:nvPr/>
        </p:nvSpPr>
        <p:spPr>
          <a:xfrm>
            <a:off x="137799" y="1344147"/>
            <a:ext cx="2617750" cy="42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2"/>
                </a:solidFill>
                <a:highlight>
                  <a:schemeClr val="dk2"/>
                </a:highlight>
                <a:latin typeface="Times New Roman"/>
                <a:ea typeface="Times New Roman"/>
                <a:cs typeface="Times New Roman"/>
                <a:sym typeface="Times New Roman"/>
              </a:rPr>
              <a:t>CSE 350 + CSE 460</a:t>
            </a:r>
            <a:endParaRPr b="0" i="0" sz="2000" u="none" cap="none" strike="noStrike">
              <a:solidFill>
                <a:schemeClr val="lt2"/>
              </a:solidFill>
              <a:highlight>
                <a:schemeClr val="dk2"/>
              </a:highlight>
              <a:latin typeface="Times New Roman"/>
              <a:ea typeface="Times New Roman"/>
              <a:cs typeface="Times New Roman"/>
              <a:sym typeface="Times New Roman"/>
            </a:endParaRPr>
          </a:p>
        </p:txBody>
      </p:sp>
      <p:sp>
        <p:nvSpPr>
          <p:cNvPr id="483" name="Google Shape;483;p77"/>
          <p:cNvSpPr/>
          <p:nvPr/>
        </p:nvSpPr>
        <p:spPr>
          <a:xfrm>
            <a:off x="2567015" y="963612"/>
            <a:ext cx="280800" cy="1056000"/>
          </a:xfrm>
          <a:prstGeom prst="leftBrace">
            <a:avLst>
              <a:gd fmla="val 50000" name="adj1"/>
              <a:gd fmla="val 47249" name="adj2"/>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484" name="Google Shape;484;p77"/>
          <p:cNvSpPr/>
          <p:nvPr/>
        </p:nvSpPr>
        <p:spPr>
          <a:xfrm>
            <a:off x="2615149" y="2278679"/>
            <a:ext cx="280800" cy="1056000"/>
          </a:xfrm>
          <a:prstGeom prst="leftBrace">
            <a:avLst>
              <a:gd fmla="val 50000" name="adj1"/>
              <a:gd fmla="val 47249" name="adj2"/>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485" name="Google Shape;485;p77"/>
          <p:cNvSpPr txBox="1"/>
          <p:nvPr/>
        </p:nvSpPr>
        <p:spPr>
          <a:xfrm>
            <a:off x="1330898" y="2536366"/>
            <a:ext cx="1376517" cy="42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2"/>
                </a:solidFill>
                <a:highlight>
                  <a:schemeClr val="dk2"/>
                </a:highlight>
                <a:latin typeface="Times New Roman"/>
                <a:ea typeface="Times New Roman"/>
                <a:cs typeface="Times New Roman"/>
                <a:sym typeface="Times New Roman"/>
              </a:rPr>
              <a:t>CSE 251</a:t>
            </a:r>
            <a:endParaRPr b="0" i="0" sz="2000" u="none" cap="none" strike="noStrike">
              <a:solidFill>
                <a:schemeClr val="lt2"/>
              </a:solidFill>
              <a:highlight>
                <a:schemeClr val="dk2"/>
              </a:highlight>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8"/>
          <p:cNvSpPr txBox="1"/>
          <p:nvPr>
            <p:ph type="ctrTitle"/>
          </p:nvPr>
        </p:nvSpPr>
        <p:spPr>
          <a:xfrm>
            <a:off x="100329" y="201970"/>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CSE 251: Where does it fit in?</a:t>
            </a:r>
            <a:endParaRPr/>
          </a:p>
        </p:txBody>
      </p:sp>
      <p:sp>
        <p:nvSpPr>
          <p:cNvPr id="491" name="Google Shape;491;p78"/>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492" name="Google Shape;492;p78"/>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493" name="Google Shape;493;p78"/>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494" name="Google Shape;494;p78"/>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495" name="Google Shape;495;p78"/>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496" name="Google Shape;496;p78"/>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497" name="Google Shape;497;p78"/>
          <p:cNvSpPr/>
          <p:nvPr/>
        </p:nvSpPr>
        <p:spPr>
          <a:xfrm>
            <a:off x="100329" y="1168253"/>
            <a:ext cx="4419600"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Digital Electronics</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Boolean logic</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Addition, subtraction, multiplication, division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Analog Electronics</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Amplifiers, radio transmitter and receivers, modulator</a:t>
            </a:r>
            <a:endParaRPr b="0" i="0" sz="1400" u="none" cap="none" strike="noStrike">
              <a:solidFill>
                <a:srgbClr val="000000"/>
              </a:solidFill>
              <a:latin typeface="Arial"/>
              <a:ea typeface="Arial"/>
              <a:cs typeface="Arial"/>
              <a:sym typeface="Arial"/>
            </a:endParaRPr>
          </a:p>
        </p:txBody>
      </p:sp>
      <p:sp>
        <p:nvSpPr>
          <p:cNvPr id="498" name="Google Shape;498;p78"/>
          <p:cNvSpPr/>
          <p:nvPr/>
        </p:nvSpPr>
        <p:spPr>
          <a:xfrm>
            <a:off x="4664460" y="1168253"/>
            <a:ext cx="39624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Power Electronics</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Motor control</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AC to DC conversion or vice versa</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HVDC circuits</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Charge control circuits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9"/>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04" name="Google Shape;504;p79"/>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05" name="Google Shape;505;p79"/>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06" name="Google Shape;506;p79"/>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07" name="Google Shape;507;p79"/>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08" name="Google Shape;508;p79"/>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09" name="Google Shape;509;p79"/>
          <p:cNvSpPr txBox="1"/>
          <p:nvPr>
            <p:ph type="ctrTitle"/>
          </p:nvPr>
        </p:nvSpPr>
        <p:spPr>
          <a:xfrm>
            <a:off x="81938" y="255587"/>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Revisit to CSE 250: Ohm’s Law</a:t>
            </a:r>
            <a:endParaRPr/>
          </a:p>
        </p:txBody>
      </p:sp>
      <p:sp>
        <p:nvSpPr>
          <p:cNvPr id="510" name="Google Shape;510;p79"/>
          <p:cNvSpPr txBox="1"/>
          <p:nvPr/>
        </p:nvSpPr>
        <p:spPr>
          <a:xfrm>
            <a:off x="913795" y="609600"/>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lt2"/>
              </a:buClr>
              <a:buSzPts val="4000"/>
              <a:buFont typeface="Lustria"/>
              <a:buNone/>
            </a:pPr>
            <a:r>
              <a:t/>
            </a:r>
            <a:endParaRPr b="1" i="0" sz="4800" u="none" cap="none" strike="noStrike">
              <a:solidFill>
                <a:schemeClr val="dk1"/>
              </a:solidFill>
              <a:latin typeface="Calibri"/>
              <a:ea typeface="Calibri"/>
              <a:cs typeface="Calibri"/>
              <a:sym typeface="Calibri"/>
            </a:endParaRPr>
          </a:p>
        </p:txBody>
      </p:sp>
      <p:sp>
        <p:nvSpPr>
          <p:cNvPr id="511" name="Google Shape;511;p79"/>
          <p:cNvSpPr txBox="1"/>
          <p:nvPr/>
        </p:nvSpPr>
        <p:spPr>
          <a:xfrm>
            <a:off x="658760" y="1118899"/>
            <a:ext cx="7167715" cy="10772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2400" u="none" cap="none" strike="noStrike">
                <a:solidFill>
                  <a:srgbClr val="000000"/>
                </a:solidFill>
                <a:latin typeface="Times New Roman"/>
                <a:ea typeface="Times New Roman"/>
                <a:cs typeface="Times New Roman"/>
                <a:sym typeface="Times New Roman"/>
              </a:rPr>
              <a:t>The Fundamental </a:t>
            </a:r>
            <a:r>
              <a:rPr b="0" i="1" lang="en-US" sz="2400" u="none" cap="none" strike="noStrike">
                <a:solidFill>
                  <a:srgbClr val="000000"/>
                </a:solidFill>
                <a:latin typeface="Times New Roman"/>
                <a:ea typeface="Times New Roman"/>
                <a:cs typeface="Times New Roman"/>
                <a:sym typeface="Times New Roman"/>
              </a:rPr>
              <a:t>Ohm’s Law</a:t>
            </a:r>
            <a:r>
              <a:rPr b="0" i="0" lang="en-US" sz="2400" u="none" cap="none" strike="noStrike">
                <a:solidFill>
                  <a:srgbClr val="000000"/>
                </a:solidFill>
                <a:latin typeface="Times New Roman"/>
                <a:ea typeface="Times New Roman"/>
                <a:cs typeface="Times New Roman"/>
                <a:sym typeface="Times New Roman"/>
              </a:rPr>
              <a:t>: The voltage across a resistor </a:t>
            </a:r>
            <a:r>
              <a:rPr b="0" i="1" lang="en-US" sz="2400" u="none" cap="none" strike="noStrike">
                <a:solidFill>
                  <a:srgbClr val="000000"/>
                </a:solidFill>
                <a:latin typeface="Times New Roman"/>
                <a:ea typeface="Times New Roman"/>
                <a:cs typeface="Times New Roman"/>
                <a:sym typeface="Times New Roman"/>
              </a:rPr>
              <a:t>v</a:t>
            </a:r>
            <a:r>
              <a:rPr b="0" i="0" lang="en-US" sz="2400" u="none" cap="none" strike="noStrike">
                <a:solidFill>
                  <a:srgbClr val="000000"/>
                </a:solidFill>
                <a:latin typeface="Times New Roman"/>
                <a:ea typeface="Times New Roman"/>
                <a:cs typeface="Times New Roman"/>
                <a:sym typeface="Times New Roman"/>
              </a:rPr>
              <a:t> is </a:t>
            </a:r>
            <a:r>
              <a:rPr b="1" i="0" lang="en-US" sz="2400" u="none" cap="none" strike="noStrike">
                <a:solidFill>
                  <a:srgbClr val="000000"/>
                </a:solidFill>
                <a:latin typeface="Times New Roman"/>
                <a:ea typeface="Times New Roman"/>
                <a:cs typeface="Times New Roman"/>
                <a:sym typeface="Times New Roman"/>
              </a:rPr>
              <a:t>directly proportional</a:t>
            </a:r>
            <a:r>
              <a:rPr b="0" i="0" lang="en-US" sz="2400" u="none" cap="none" strike="noStrike">
                <a:solidFill>
                  <a:srgbClr val="000000"/>
                </a:solidFill>
                <a:latin typeface="Times New Roman"/>
                <a:ea typeface="Times New Roman"/>
                <a:cs typeface="Times New Roman"/>
                <a:sym typeface="Times New Roman"/>
              </a:rPr>
              <a:t> to the current </a:t>
            </a:r>
            <a:r>
              <a:rPr b="0" i="1" lang="en-US" sz="2400" u="none" cap="none" strike="noStrike">
                <a:solidFill>
                  <a:srgbClr val="000000"/>
                </a:solidFill>
                <a:latin typeface="Times New Roman"/>
                <a:ea typeface="Times New Roman"/>
                <a:cs typeface="Times New Roman"/>
                <a:sym typeface="Times New Roman"/>
              </a:rPr>
              <a:t>i</a:t>
            </a:r>
            <a:r>
              <a:rPr b="0" i="0" lang="en-US" sz="2400" u="none" cap="none" strike="noStrike">
                <a:solidFill>
                  <a:srgbClr val="000000"/>
                </a:solidFill>
                <a:latin typeface="Times New Roman"/>
                <a:ea typeface="Times New Roman"/>
                <a:cs typeface="Times New Roman"/>
                <a:sym typeface="Times New Roman"/>
              </a:rPr>
              <a:t> flowing through the resistor</a:t>
            </a:r>
            <a:r>
              <a:rPr b="0" i="0" lang="en-US" sz="1600" u="none" cap="none" strike="noStrike">
                <a:solidFill>
                  <a:srgbClr val="000000"/>
                </a:solidFill>
                <a:latin typeface="Arial"/>
                <a:ea typeface="Arial"/>
                <a:cs typeface="Arial"/>
                <a:sym typeface="Arial"/>
              </a:rPr>
              <a:t>.</a:t>
            </a:r>
            <a:endParaRPr b="0" i="0" sz="1600" u="none" cap="small" strike="noStrike">
              <a:solidFill>
                <a:srgbClr val="FFFFFF"/>
              </a:solidFill>
              <a:latin typeface="Times New Roman"/>
              <a:ea typeface="Times New Roman"/>
              <a:cs typeface="Times New Roman"/>
              <a:sym typeface="Times New Roman"/>
            </a:endParaRPr>
          </a:p>
        </p:txBody>
      </p:sp>
      <p:grpSp>
        <p:nvGrpSpPr>
          <p:cNvPr id="512" name="Google Shape;512;p79"/>
          <p:cNvGrpSpPr/>
          <p:nvPr/>
        </p:nvGrpSpPr>
        <p:grpSpPr>
          <a:xfrm>
            <a:off x="2417424" y="2571750"/>
            <a:ext cx="2046421" cy="1077218"/>
            <a:chOff x="2525579" y="3029778"/>
            <a:chExt cx="2046421" cy="1077218"/>
          </a:xfrm>
        </p:grpSpPr>
        <p:sp>
          <p:nvSpPr>
            <p:cNvPr id="513" name="Google Shape;513;p79"/>
            <p:cNvSpPr/>
            <p:nvPr/>
          </p:nvSpPr>
          <p:spPr>
            <a:xfrm>
              <a:off x="2525579" y="3104013"/>
              <a:ext cx="2046421" cy="970450"/>
            </a:xfrm>
            <a:prstGeom prst="rect">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4" name="Google Shape;514;p79"/>
            <p:cNvSpPr txBox="1"/>
            <p:nvPr/>
          </p:nvSpPr>
          <p:spPr>
            <a:xfrm>
              <a:off x="2525579" y="3029778"/>
              <a:ext cx="1933575" cy="107721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ustria"/>
                  <a:ea typeface="Lustria"/>
                  <a:cs typeface="Lustria"/>
                  <a:sym typeface="Lustria"/>
                </a:rPr>
                <a:t> </a:t>
              </a:r>
              <a:endParaRPr b="0" i="0" sz="1400" u="none" cap="none" strike="noStrike">
                <a:solidFill>
                  <a:srgbClr val="000000"/>
                </a:solidFill>
                <a:latin typeface="Arial"/>
                <a:ea typeface="Arial"/>
                <a:cs typeface="Arial"/>
                <a:sym typeface="Arial"/>
              </a:endParaRPr>
            </a:p>
          </p:txBody>
        </p:sp>
      </p:grpSp>
      <p:pic>
        <p:nvPicPr>
          <p:cNvPr id="515" name="Google Shape;515;p79"/>
          <p:cNvPicPr preferRelativeResize="0"/>
          <p:nvPr/>
        </p:nvPicPr>
        <p:blipFill rotWithShape="1">
          <a:blip r:embed="rId5">
            <a:alphaModFix/>
          </a:blip>
          <a:srcRect b="0" l="0" r="0" t="0"/>
          <a:stretch/>
        </p:blipFill>
        <p:spPr>
          <a:xfrm>
            <a:off x="5333218" y="2196117"/>
            <a:ext cx="2866884" cy="20905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0"/>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21" name="Google Shape;521;p80"/>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22" name="Google Shape;522;p80"/>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23" name="Google Shape;523;p80"/>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24" name="Google Shape;524;p80"/>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25" name="Google Shape;525;p80"/>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26" name="Google Shape;526;p80"/>
          <p:cNvSpPr txBox="1"/>
          <p:nvPr>
            <p:ph type="ctrTitle"/>
          </p:nvPr>
        </p:nvSpPr>
        <p:spPr>
          <a:xfrm>
            <a:off x="81938" y="255587"/>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Revisit to CSE 250: KCL</a:t>
            </a:r>
            <a:endParaRPr/>
          </a:p>
        </p:txBody>
      </p:sp>
      <p:sp>
        <p:nvSpPr>
          <p:cNvPr id="527" name="Google Shape;527;p80"/>
          <p:cNvSpPr txBox="1"/>
          <p:nvPr/>
        </p:nvSpPr>
        <p:spPr>
          <a:xfrm>
            <a:off x="435111" y="1118044"/>
            <a:ext cx="7840981" cy="970450"/>
          </a:xfrm>
          <a:prstGeom prst="rect">
            <a:avLst/>
          </a:prstGeom>
          <a:noFill/>
          <a:ln>
            <a:noFill/>
          </a:ln>
          <a:effectLst>
            <a:outerShdw blurRad="25400">
              <a:srgbClr val="000000">
                <a:alpha val="44706"/>
              </a:srgbClr>
            </a:outerShdw>
          </a:effectLst>
        </p:spPr>
        <p:txBody>
          <a:bodyPr anchorCtr="0" anchor="ctr" bIns="45700" lIns="91425" spcFirstLastPara="1" rIns="91425" wrap="square" tIns="45700">
            <a:normAutofit fontScale="32500" lnSpcReduction="20000"/>
          </a:bodyPr>
          <a:lstStyle/>
          <a:p>
            <a:pPr indent="0" lvl="0" marL="0" marR="0" rtl="0" algn="ctr">
              <a:lnSpc>
                <a:spcPct val="100000"/>
              </a:lnSpc>
              <a:spcBef>
                <a:spcPts val="0"/>
              </a:spcBef>
              <a:spcAft>
                <a:spcPts val="0"/>
              </a:spcAft>
              <a:buClr>
                <a:schemeClr val="lt2"/>
              </a:buClr>
              <a:buSzPct val="205128"/>
              <a:buFont typeface="Calibri"/>
              <a:buNone/>
            </a:pPr>
            <a:r>
              <a:rPr b="1" i="0" lang="en-US" sz="6000" u="none" cap="none" strike="noStrike">
                <a:solidFill>
                  <a:schemeClr val="dk1"/>
                </a:solidFill>
                <a:latin typeface="Times New Roman"/>
                <a:ea typeface="Times New Roman"/>
                <a:cs typeface="Times New Roman"/>
                <a:sym typeface="Times New Roman"/>
              </a:rPr>
              <a:t>KCL: “Total current entering a junction or node is exactly equal to the charge leaving the node as it has no other place to go except to leave, as no charge is lost within the node”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2"/>
              </a:buClr>
              <a:buSzPct val="256410"/>
              <a:buFont typeface="Lustria"/>
              <a:buNone/>
            </a:pPr>
            <a:r>
              <a:t/>
            </a:r>
            <a:endParaRPr b="1" i="0" sz="4800" u="none" cap="none" strike="noStrike">
              <a:solidFill>
                <a:schemeClr val="dk1"/>
              </a:solidFill>
              <a:latin typeface="Calibri"/>
              <a:ea typeface="Calibri"/>
              <a:cs typeface="Calibri"/>
              <a:sym typeface="Calibri"/>
            </a:endParaRPr>
          </a:p>
        </p:txBody>
      </p:sp>
      <p:pic>
        <p:nvPicPr>
          <p:cNvPr id="528" name="Google Shape;528;p80"/>
          <p:cNvPicPr preferRelativeResize="0"/>
          <p:nvPr/>
        </p:nvPicPr>
        <p:blipFill rotWithShape="1">
          <a:blip r:embed="rId4">
            <a:alphaModFix/>
          </a:blip>
          <a:srcRect b="0" l="0" r="0" t="0"/>
          <a:stretch/>
        </p:blipFill>
        <p:spPr>
          <a:xfrm>
            <a:off x="2012692" y="2103460"/>
            <a:ext cx="4685820" cy="25110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1"/>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34" name="Google Shape;534;p81"/>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35" name="Google Shape;535;p81"/>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36" name="Google Shape;536;p81"/>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37" name="Google Shape;537;p81"/>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38" name="Google Shape;538;p81"/>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39" name="Google Shape;539;p81"/>
          <p:cNvSpPr txBox="1"/>
          <p:nvPr>
            <p:ph type="ctrTitle"/>
          </p:nvPr>
        </p:nvSpPr>
        <p:spPr>
          <a:xfrm>
            <a:off x="81938" y="255587"/>
            <a:ext cx="7886700" cy="7080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Font typeface="Comic Sans MS"/>
              <a:buNone/>
            </a:pPr>
            <a:r>
              <a:rPr b="0" lang="en-US" sz="3500">
                <a:solidFill>
                  <a:srgbClr val="548135"/>
                </a:solidFill>
                <a:latin typeface="Comic Sans MS"/>
                <a:ea typeface="Comic Sans MS"/>
                <a:cs typeface="Comic Sans MS"/>
                <a:sym typeface="Comic Sans MS"/>
              </a:rPr>
              <a:t>Revisit to CSE 250: KVL</a:t>
            </a:r>
            <a:endParaRPr/>
          </a:p>
        </p:txBody>
      </p:sp>
      <p:pic>
        <p:nvPicPr>
          <p:cNvPr id="540" name="Google Shape;540;p81"/>
          <p:cNvPicPr preferRelativeResize="0"/>
          <p:nvPr/>
        </p:nvPicPr>
        <p:blipFill rotWithShape="1">
          <a:blip r:embed="rId4">
            <a:alphaModFix/>
          </a:blip>
          <a:srcRect b="0" l="0" r="0" t="0"/>
          <a:stretch/>
        </p:blipFill>
        <p:spPr>
          <a:xfrm>
            <a:off x="1912928" y="2450600"/>
            <a:ext cx="4872256" cy="2274007"/>
          </a:xfrm>
          <a:prstGeom prst="rect">
            <a:avLst/>
          </a:prstGeom>
          <a:noFill/>
          <a:ln>
            <a:noFill/>
          </a:ln>
        </p:spPr>
      </p:pic>
      <p:sp>
        <p:nvSpPr>
          <p:cNvPr id="541" name="Google Shape;541;p81"/>
          <p:cNvSpPr txBox="1"/>
          <p:nvPr/>
        </p:nvSpPr>
        <p:spPr>
          <a:xfrm>
            <a:off x="244549" y="956927"/>
            <a:ext cx="8697432" cy="79233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KVL: “In any closed loop network, the total voltage around the loop is equal to the sum of all the voltage drops within the same loop”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1" i="0" sz="1300" u="none" cap="small" strike="noStrike">
              <a:solidFill>
                <a:srgbClr val="FFFFFF"/>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2"/>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47" name="Google Shape;547;p82"/>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48" name="Google Shape;548;p82"/>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49" name="Google Shape;549;p82"/>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50" name="Google Shape;550;p82"/>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51" name="Google Shape;551;p82"/>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52" name="Google Shape;552;p82"/>
          <p:cNvSpPr txBox="1"/>
          <p:nvPr>
            <p:ph type="ctrTitle"/>
          </p:nvPr>
        </p:nvSpPr>
        <p:spPr>
          <a:xfrm>
            <a:off x="81938" y="255587"/>
            <a:ext cx="7886700" cy="708025"/>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78161B"/>
              </a:buClr>
              <a:buSzPct val="126984"/>
              <a:buNone/>
            </a:pPr>
            <a:r>
              <a:rPr b="0" lang="en-US" sz="3500">
                <a:solidFill>
                  <a:srgbClr val="548135"/>
                </a:solidFill>
                <a:latin typeface="Comic Sans MS"/>
                <a:ea typeface="Comic Sans MS"/>
                <a:cs typeface="Comic Sans MS"/>
                <a:sym typeface="Comic Sans MS"/>
              </a:rPr>
              <a:t>Revisit to CSE 250: </a:t>
            </a:r>
            <a:r>
              <a:rPr b="0" i="0" lang="en-US" sz="3600" u="none" cap="none" strike="noStrike">
                <a:solidFill>
                  <a:schemeClr val="accent6"/>
                </a:solidFill>
                <a:latin typeface="Comic Sans MS"/>
                <a:ea typeface="Comic Sans MS"/>
                <a:cs typeface="Comic Sans MS"/>
                <a:sym typeface="Comic Sans MS"/>
              </a:rPr>
              <a:t>KVL – Example 1</a:t>
            </a:r>
            <a:br>
              <a:rPr b="0" i="0" lang="en-US" sz="3600" u="none" cap="none" strike="noStrike">
                <a:solidFill>
                  <a:schemeClr val="accent6"/>
                </a:solidFill>
                <a:latin typeface="Comic Sans MS"/>
                <a:ea typeface="Comic Sans MS"/>
                <a:cs typeface="Comic Sans MS"/>
                <a:sym typeface="Comic Sans MS"/>
              </a:rPr>
            </a:br>
            <a:endParaRPr b="0" sz="3500">
              <a:solidFill>
                <a:schemeClr val="accent6"/>
              </a:solidFill>
              <a:latin typeface="Comic Sans MS"/>
              <a:ea typeface="Comic Sans MS"/>
              <a:cs typeface="Comic Sans MS"/>
              <a:sym typeface="Comic Sans MS"/>
            </a:endParaRPr>
          </a:p>
        </p:txBody>
      </p:sp>
      <p:pic>
        <p:nvPicPr>
          <p:cNvPr id="553" name="Google Shape;553;p82"/>
          <p:cNvPicPr preferRelativeResize="0"/>
          <p:nvPr/>
        </p:nvPicPr>
        <p:blipFill rotWithShape="1">
          <a:blip r:embed="rId4">
            <a:alphaModFix/>
          </a:blip>
          <a:srcRect b="0" l="0" r="0" t="0"/>
          <a:stretch/>
        </p:blipFill>
        <p:spPr>
          <a:xfrm>
            <a:off x="5326453" y="1018299"/>
            <a:ext cx="3731201" cy="1952541"/>
          </a:xfrm>
          <a:prstGeom prst="rect">
            <a:avLst/>
          </a:prstGeom>
          <a:noFill/>
          <a:ln>
            <a:noFill/>
          </a:ln>
        </p:spPr>
      </p:pic>
      <p:sp>
        <p:nvSpPr>
          <p:cNvPr id="554" name="Google Shape;554;p82"/>
          <p:cNvSpPr txBox="1"/>
          <p:nvPr/>
        </p:nvSpPr>
        <p:spPr>
          <a:xfrm>
            <a:off x="170139" y="1018299"/>
            <a:ext cx="4948727" cy="461665"/>
          </a:xfrm>
          <a:prstGeom prst="rect">
            <a:avLst/>
          </a:prstGeom>
          <a:blipFill rotWithShape="1">
            <a:blip r:embed="rId5">
              <a:alphaModFix/>
            </a:blip>
            <a:stretch>
              <a:fillRect b="-28943" l="-1968" r="-489" t="-105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55" name="Google Shape;555;p82"/>
          <p:cNvSpPr txBox="1"/>
          <p:nvPr/>
        </p:nvSpPr>
        <p:spPr>
          <a:xfrm>
            <a:off x="4048125" y="3201871"/>
            <a:ext cx="5095875" cy="1015663"/>
          </a:xfrm>
          <a:prstGeom prst="rect">
            <a:avLst/>
          </a:prstGeom>
          <a:blipFill rotWithShape="1">
            <a:blip r:embed="rId6">
              <a:alphaModFix/>
            </a:blip>
            <a:stretch>
              <a:fillRect b="-9577" l="-1193" r="-955" t="-29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9" name="Shape 559"/>
        <p:cNvGrpSpPr/>
        <p:nvPr/>
      </p:nvGrpSpPr>
      <p:grpSpPr>
        <a:xfrm>
          <a:off x="0" y="0"/>
          <a:ext cx="0" cy="0"/>
          <a:chOff x="0" y="0"/>
          <a:chExt cx="0" cy="0"/>
        </a:xfrm>
      </p:grpSpPr>
      <p:sp>
        <p:nvSpPr>
          <p:cNvPr id="560" name="Google Shape;560;p83"/>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61" name="Google Shape;561;p83"/>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62" name="Google Shape;562;p83"/>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63" name="Google Shape;563;p83"/>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64" name="Google Shape;564;p83"/>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65" name="Google Shape;565;p83"/>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66" name="Google Shape;566;p83"/>
          <p:cNvSpPr txBox="1"/>
          <p:nvPr>
            <p:ph type="ctrTitle"/>
          </p:nvPr>
        </p:nvSpPr>
        <p:spPr>
          <a:xfrm>
            <a:off x="81938" y="255587"/>
            <a:ext cx="7886700" cy="708025"/>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78161B"/>
              </a:buClr>
              <a:buSzPct val="126984"/>
              <a:buNone/>
            </a:pPr>
            <a:r>
              <a:rPr b="0" lang="en-US" sz="3500">
                <a:solidFill>
                  <a:srgbClr val="548135"/>
                </a:solidFill>
                <a:latin typeface="Comic Sans MS"/>
                <a:ea typeface="Comic Sans MS"/>
                <a:cs typeface="Comic Sans MS"/>
                <a:sym typeface="Comic Sans MS"/>
              </a:rPr>
              <a:t>Revisit to CSE 250: </a:t>
            </a:r>
            <a:r>
              <a:rPr b="0" i="0" lang="en-US" sz="3600" u="none" cap="none" strike="noStrike">
                <a:solidFill>
                  <a:schemeClr val="accent6"/>
                </a:solidFill>
                <a:latin typeface="Comic Sans MS"/>
                <a:ea typeface="Comic Sans MS"/>
                <a:cs typeface="Comic Sans MS"/>
                <a:sym typeface="Comic Sans MS"/>
              </a:rPr>
              <a:t>KVL – Example 2</a:t>
            </a:r>
            <a:br>
              <a:rPr b="0" i="0" lang="en-US" sz="3600" u="none" cap="none" strike="noStrike">
                <a:solidFill>
                  <a:schemeClr val="accent6"/>
                </a:solidFill>
                <a:latin typeface="Comic Sans MS"/>
                <a:ea typeface="Comic Sans MS"/>
                <a:cs typeface="Comic Sans MS"/>
                <a:sym typeface="Comic Sans MS"/>
              </a:rPr>
            </a:br>
            <a:endParaRPr b="0" sz="3500">
              <a:solidFill>
                <a:schemeClr val="accent6"/>
              </a:solidFill>
              <a:latin typeface="Comic Sans MS"/>
              <a:ea typeface="Comic Sans MS"/>
              <a:cs typeface="Comic Sans MS"/>
              <a:sym typeface="Comic Sans MS"/>
            </a:endParaRPr>
          </a:p>
        </p:txBody>
      </p:sp>
      <p:sp>
        <p:nvSpPr>
          <p:cNvPr id="567" name="Google Shape;567;p83"/>
          <p:cNvSpPr txBox="1"/>
          <p:nvPr/>
        </p:nvSpPr>
        <p:spPr>
          <a:xfrm>
            <a:off x="170140" y="1018299"/>
            <a:ext cx="6726420" cy="769441"/>
          </a:xfrm>
          <a:prstGeom prst="rect">
            <a:avLst/>
          </a:prstGeom>
          <a:blipFill rotWithShape="1">
            <a:blip r:embed="rId4">
              <a:alphaModFix/>
            </a:blip>
            <a:stretch>
              <a:fillRect b="0" l="-994" r="0" t="-396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68" name="Google Shape;568;p83"/>
          <p:cNvSpPr txBox="1"/>
          <p:nvPr/>
        </p:nvSpPr>
        <p:spPr>
          <a:xfrm>
            <a:off x="4048125" y="3201871"/>
            <a:ext cx="5095875" cy="923330"/>
          </a:xfrm>
          <a:prstGeom prst="rect">
            <a:avLst/>
          </a:prstGeom>
          <a:blipFill rotWithShape="1">
            <a:blip r:embed="rId5">
              <a:alphaModFix/>
            </a:blip>
            <a:stretch>
              <a:fillRect b="-9208" l="-954" r="-1789" t="-32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nvGrpSpPr>
          <p:cNvPr id="569" name="Google Shape;569;p83"/>
          <p:cNvGrpSpPr/>
          <p:nvPr/>
        </p:nvGrpSpPr>
        <p:grpSpPr>
          <a:xfrm>
            <a:off x="5695720" y="1006581"/>
            <a:ext cx="3414199" cy="1964259"/>
            <a:chOff x="5177351" y="1077738"/>
            <a:chExt cx="3616945" cy="1964259"/>
          </a:xfrm>
        </p:grpSpPr>
        <p:pic>
          <p:nvPicPr>
            <p:cNvPr id="570" name="Google Shape;570;p83"/>
            <p:cNvPicPr preferRelativeResize="0"/>
            <p:nvPr/>
          </p:nvPicPr>
          <p:blipFill rotWithShape="1">
            <a:blip r:embed="rId6">
              <a:alphaModFix/>
            </a:blip>
            <a:srcRect b="0" l="0" r="0" t="0"/>
            <a:stretch/>
          </p:blipFill>
          <p:spPr>
            <a:xfrm>
              <a:off x="5177351" y="1077738"/>
              <a:ext cx="3616945" cy="1964259"/>
            </a:xfrm>
            <a:prstGeom prst="rect">
              <a:avLst/>
            </a:prstGeom>
            <a:noFill/>
            <a:ln>
              <a:noFill/>
            </a:ln>
          </p:spPr>
        </p:pic>
        <p:sp>
          <p:nvSpPr>
            <p:cNvPr id="571" name="Google Shape;571;p83"/>
            <p:cNvSpPr txBox="1"/>
            <p:nvPr/>
          </p:nvSpPr>
          <p:spPr>
            <a:xfrm>
              <a:off x="7036802" y="2066909"/>
              <a:ext cx="509752" cy="307777"/>
            </a:xfrm>
            <a:prstGeom prst="rect">
              <a:avLst/>
            </a:prstGeom>
            <a:blipFill rotWithShape="1">
              <a:blip r:embed="rId7">
                <a:alphaModFix/>
              </a:blip>
              <a:stretch>
                <a:fillRect b="0" l="0" r="-632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sp>
        <p:nvSpPr>
          <p:cNvPr id="572" name="Google Shape;572;p83"/>
          <p:cNvSpPr txBox="1"/>
          <p:nvPr/>
        </p:nvSpPr>
        <p:spPr>
          <a:xfrm>
            <a:off x="221857" y="1432156"/>
            <a:ext cx="3416256" cy="3539430"/>
          </a:xfrm>
          <a:prstGeom prst="rect">
            <a:avLst/>
          </a:prstGeom>
          <a:blipFill rotWithShape="1">
            <a:blip r:embed="rId8">
              <a:alphaModFix/>
            </a:blip>
            <a:stretch>
              <a:fillRect b="0" l="-888" r="0" t="-5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73" name="Google Shape;573;p83"/>
          <p:cNvSpPr txBox="1"/>
          <p:nvPr/>
        </p:nvSpPr>
        <p:spPr>
          <a:xfrm>
            <a:off x="2576595" y="3718066"/>
            <a:ext cx="1595413" cy="923330"/>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4"/>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79" name="Google Shape;579;p84"/>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80" name="Google Shape;580;p84"/>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81" name="Google Shape;581;p84"/>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82" name="Google Shape;582;p84"/>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83" name="Google Shape;583;p84"/>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84" name="Google Shape;584;p84"/>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78161B"/>
              </a:buClr>
              <a:buSzPct val="126984"/>
              <a:buNone/>
            </a:pPr>
            <a:r>
              <a:rPr b="0" lang="en-US" sz="3500">
                <a:solidFill>
                  <a:srgbClr val="548135"/>
                </a:solidFill>
                <a:latin typeface="Comic Sans MS"/>
                <a:ea typeface="Comic Sans MS"/>
                <a:cs typeface="Comic Sans MS"/>
                <a:sym typeface="Comic Sans MS"/>
              </a:rPr>
              <a:t>Revisit to CSE 250: </a:t>
            </a:r>
            <a:r>
              <a:rPr b="0" i="0" lang="en-US" sz="3600" u="none" cap="none" strike="noStrike">
                <a:solidFill>
                  <a:schemeClr val="accent6"/>
                </a:solidFill>
                <a:latin typeface="Comic Sans MS"/>
                <a:ea typeface="Comic Sans MS"/>
                <a:cs typeface="Comic Sans MS"/>
                <a:sym typeface="Comic Sans MS"/>
              </a:rPr>
              <a:t>Series Resistors and Voltage Division</a:t>
            </a:r>
            <a:endParaRPr b="0" sz="3500">
              <a:solidFill>
                <a:schemeClr val="accent6"/>
              </a:solidFill>
              <a:latin typeface="Comic Sans MS"/>
              <a:ea typeface="Comic Sans MS"/>
              <a:cs typeface="Comic Sans MS"/>
              <a:sym typeface="Comic Sans MS"/>
            </a:endParaRPr>
          </a:p>
        </p:txBody>
      </p:sp>
      <p:sp>
        <p:nvSpPr>
          <p:cNvPr id="585" name="Google Shape;585;p84"/>
          <p:cNvSpPr txBox="1"/>
          <p:nvPr/>
        </p:nvSpPr>
        <p:spPr>
          <a:xfrm>
            <a:off x="244549" y="1304974"/>
            <a:ext cx="8633637" cy="935260"/>
          </a:xfrm>
          <a:prstGeom prst="rect">
            <a:avLst/>
          </a:prstGeom>
          <a:blipFill rotWithShape="1">
            <a:blip r:embed="rId4">
              <a:alphaModFix/>
            </a:blip>
            <a:stretch>
              <a:fillRect b="-653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86" name="Google Shape;586;p84"/>
          <p:cNvSpPr txBox="1"/>
          <p:nvPr/>
        </p:nvSpPr>
        <p:spPr>
          <a:xfrm>
            <a:off x="504244" y="1967266"/>
            <a:ext cx="3071601" cy="210179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587" name="Google Shape;587;p84"/>
          <p:cNvPicPr preferRelativeResize="0"/>
          <p:nvPr/>
        </p:nvPicPr>
        <p:blipFill rotWithShape="1">
          <a:blip r:embed="rId6">
            <a:alphaModFix/>
          </a:blip>
          <a:srcRect b="0" l="0" r="0" t="0"/>
          <a:stretch/>
        </p:blipFill>
        <p:spPr>
          <a:xfrm>
            <a:off x="3575845" y="2224443"/>
            <a:ext cx="4834507" cy="21139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5"/>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593" name="Google Shape;593;p85"/>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594" name="Google Shape;594;p85"/>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595" name="Google Shape;595;p85"/>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596" name="Google Shape;596;p85"/>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597" name="Google Shape;597;p85"/>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598" name="Google Shape;598;p85"/>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78161B"/>
              </a:buClr>
              <a:buSzPct val="126984"/>
              <a:buNone/>
            </a:pPr>
            <a:r>
              <a:rPr b="0" lang="en-US" sz="3500">
                <a:solidFill>
                  <a:srgbClr val="548135"/>
                </a:solidFill>
                <a:latin typeface="Comic Sans MS"/>
                <a:ea typeface="Comic Sans MS"/>
                <a:cs typeface="Comic Sans MS"/>
                <a:sym typeface="Comic Sans MS"/>
              </a:rPr>
              <a:t>Revisit to CSE 250: </a:t>
            </a:r>
            <a:r>
              <a:rPr b="0" i="0" lang="en-US" sz="3600" u="none" cap="none" strike="noStrike">
                <a:solidFill>
                  <a:schemeClr val="accent6"/>
                </a:solidFill>
                <a:latin typeface="Comic Sans MS"/>
                <a:ea typeface="Comic Sans MS"/>
                <a:cs typeface="Comic Sans MS"/>
                <a:sym typeface="Comic Sans MS"/>
              </a:rPr>
              <a:t>Series Resistors and Voltage Division</a:t>
            </a:r>
            <a:endParaRPr b="0" sz="3500">
              <a:solidFill>
                <a:schemeClr val="accent6"/>
              </a:solidFill>
              <a:latin typeface="Comic Sans MS"/>
              <a:ea typeface="Comic Sans MS"/>
              <a:cs typeface="Comic Sans MS"/>
              <a:sym typeface="Comic Sans MS"/>
            </a:endParaRPr>
          </a:p>
        </p:txBody>
      </p:sp>
      <p:sp>
        <p:nvSpPr>
          <p:cNvPr id="599" name="Google Shape;599;p85"/>
          <p:cNvSpPr txBox="1"/>
          <p:nvPr/>
        </p:nvSpPr>
        <p:spPr>
          <a:xfrm>
            <a:off x="244549" y="1304974"/>
            <a:ext cx="8633637" cy="935260"/>
          </a:xfrm>
          <a:prstGeom prst="rect">
            <a:avLst/>
          </a:prstGeom>
          <a:blipFill rotWithShape="1">
            <a:blip r:embed="rId4">
              <a:alphaModFix/>
            </a:blip>
            <a:stretch>
              <a:fillRect b="-653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0" name="Google Shape;600;p85"/>
          <p:cNvSpPr txBox="1"/>
          <p:nvPr/>
        </p:nvSpPr>
        <p:spPr>
          <a:xfrm>
            <a:off x="81938" y="2538381"/>
            <a:ext cx="3071601" cy="1762598"/>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601" name="Google Shape;601;p85"/>
          <p:cNvPicPr preferRelativeResize="0"/>
          <p:nvPr/>
        </p:nvPicPr>
        <p:blipFill rotWithShape="1">
          <a:blip r:embed="rId6">
            <a:alphaModFix/>
          </a:blip>
          <a:srcRect b="2776" l="21458" r="19167" t="57361"/>
          <a:stretch/>
        </p:blipFill>
        <p:spPr>
          <a:xfrm>
            <a:off x="4680672" y="2176684"/>
            <a:ext cx="4293207" cy="2161668"/>
          </a:xfrm>
          <a:prstGeom prst="rect">
            <a:avLst/>
          </a:prstGeom>
          <a:noFill/>
          <a:ln>
            <a:noFill/>
          </a:ln>
        </p:spPr>
      </p:pic>
      <p:sp>
        <p:nvSpPr>
          <p:cNvPr id="602" name="Google Shape;602;p85"/>
          <p:cNvSpPr txBox="1"/>
          <p:nvPr/>
        </p:nvSpPr>
        <p:spPr>
          <a:xfrm>
            <a:off x="1780349" y="2236838"/>
            <a:ext cx="3071601" cy="2149114"/>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xEl>
                                              <p:pRg end="0" st="0"/>
                                            </p:txEl>
                                          </p:spTgt>
                                        </p:tgtEl>
                                        <p:attrNameLst>
                                          <p:attrName>style.visibility</p:attrName>
                                        </p:attrNameLst>
                                      </p:cBhvr>
                                      <p:to>
                                        <p:strVal val="visible"/>
                                      </p:to>
                                    </p:set>
                                    <p:animEffect filter="fade" transition="in">
                                      <p:cBhvr>
                                        <p:cTn dur="500"/>
                                        <p:tgtEl>
                                          <p:spTgt spid="6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6"/>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608" name="Google Shape;608;p86"/>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609" name="Google Shape;609;p86"/>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610" name="Google Shape;610;p86"/>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611" name="Google Shape;611;p86"/>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612" name="Google Shape;612;p86"/>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613" name="Google Shape;613;p86"/>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Revisit to CSE 250: </a:t>
            </a:r>
            <a:r>
              <a:rPr b="0" i="0" lang="en-US" sz="3600" u="none" cap="none" strike="noStrike">
                <a:solidFill>
                  <a:schemeClr val="accent6"/>
                </a:solidFill>
                <a:latin typeface="Comic Sans MS"/>
                <a:ea typeface="Comic Sans MS"/>
                <a:cs typeface="Comic Sans MS"/>
                <a:sym typeface="Comic Sans MS"/>
              </a:rPr>
              <a:t>Nodal Analysis</a:t>
            </a:r>
            <a:endParaRPr b="0" sz="3500">
              <a:solidFill>
                <a:schemeClr val="accent6"/>
              </a:solidFill>
              <a:latin typeface="Comic Sans MS"/>
              <a:ea typeface="Comic Sans MS"/>
              <a:cs typeface="Comic Sans MS"/>
              <a:sym typeface="Comic Sans MS"/>
            </a:endParaRPr>
          </a:p>
        </p:txBody>
      </p:sp>
      <p:pic>
        <p:nvPicPr>
          <p:cNvPr id="614" name="Google Shape;614;p86"/>
          <p:cNvPicPr preferRelativeResize="0"/>
          <p:nvPr/>
        </p:nvPicPr>
        <p:blipFill rotWithShape="1">
          <a:blip r:embed="rId4">
            <a:alphaModFix/>
          </a:blip>
          <a:srcRect b="0" l="0" r="0" t="0"/>
          <a:stretch/>
        </p:blipFill>
        <p:spPr>
          <a:xfrm>
            <a:off x="2116234" y="1620482"/>
            <a:ext cx="4607042" cy="3063633"/>
          </a:xfrm>
          <a:prstGeom prst="rect">
            <a:avLst/>
          </a:prstGeom>
          <a:noFill/>
          <a:ln>
            <a:noFill/>
          </a:ln>
        </p:spPr>
      </p:pic>
      <p:sp>
        <p:nvSpPr>
          <p:cNvPr id="615" name="Google Shape;615;p86"/>
          <p:cNvSpPr txBox="1"/>
          <p:nvPr/>
        </p:nvSpPr>
        <p:spPr>
          <a:xfrm>
            <a:off x="212651" y="1010093"/>
            <a:ext cx="8414209" cy="5954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2400" u="none" cap="none" strike="noStrike">
                <a:solidFill>
                  <a:schemeClr val="dk1"/>
                </a:solidFill>
                <a:latin typeface="Times New Roman"/>
                <a:ea typeface="Times New Roman"/>
                <a:cs typeface="Times New Roman"/>
                <a:sym typeface="Times New Roman"/>
              </a:rPr>
              <a:t>Write down the node equations for the given circuit.</a:t>
            </a:r>
            <a:endParaRPr b="0" i="0" sz="2400" u="none" cap="small" strike="noStrike">
              <a:solidFill>
                <a:schemeClr val="dk1"/>
              </a:solidFill>
              <a:latin typeface="Comic Sans MS"/>
              <a:ea typeface="Comic Sans MS"/>
              <a:cs typeface="Comic Sans MS"/>
              <a:sym typeface="Comic Sans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7"/>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621" name="Google Shape;621;p87"/>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622" name="Google Shape;622;p87"/>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623" name="Google Shape;623;p87"/>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624" name="Google Shape;624;p87"/>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625" name="Google Shape;625;p87"/>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626" name="Google Shape;626;p87"/>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78161B"/>
              </a:buClr>
              <a:buSzPct val="126984"/>
              <a:buNone/>
            </a:pPr>
            <a:r>
              <a:rPr b="0" lang="en-US" sz="3500">
                <a:solidFill>
                  <a:srgbClr val="548135"/>
                </a:solidFill>
                <a:latin typeface="Comic Sans MS"/>
                <a:ea typeface="Comic Sans MS"/>
                <a:cs typeface="Comic Sans MS"/>
                <a:sym typeface="Comic Sans MS"/>
              </a:rPr>
              <a:t>Alternative Circuit Representation: Line diagrams</a:t>
            </a:r>
            <a:endParaRPr/>
          </a:p>
        </p:txBody>
      </p:sp>
      <p:sp>
        <p:nvSpPr>
          <p:cNvPr id="627" name="Google Shape;627;p87"/>
          <p:cNvSpPr txBox="1"/>
          <p:nvPr/>
        </p:nvSpPr>
        <p:spPr>
          <a:xfrm>
            <a:off x="81938" y="1173020"/>
            <a:ext cx="5624100" cy="567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sng" cap="none" strike="noStrike">
                <a:solidFill>
                  <a:srgbClr val="00B050"/>
                </a:solidFill>
                <a:highlight>
                  <a:srgbClr val="FFFF00"/>
                </a:highlight>
                <a:latin typeface="Times New Roman"/>
                <a:ea typeface="Times New Roman"/>
                <a:cs typeface="Times New Roman"/>
                <a:sym typeface="Times New Roman"/>
              </a:rPr>
              <a:t>Goal:</a:t>
            </a:r>
            <a:r>
              <a:rPr b="1" i="0" lang="en-US" sz="1800" u="none" cap="none" strike="noStrike">
                <a:solidFill>
                  <a:srgbClr val="00B050"/>
                </a:solidFill>
                <a:latin typeface="Times New Roman"/>
                <a:ea typeface="Times New Roman"/>
                <a:cs typeface="Times New Roman"/>
                <a:sym typeface="Times New Roman"/>
              </a:rPr>
              <a:t> </a:t>
            </a:r>
            <a:r>
              <a:rPr b="1" i="0" lang="en-US" sz="1800" u="none" cap="none" strike="noStrike">
                <a:solidFill>
                  <a:srgbClr val="7030A0"/>
                </a:solidFill>
                <a:latin typeface="Times New Roman"/>
                <a:ea typeface="Times New Roman"/>
                <a:cs typeface="Times New Roman"/>
                <a:sym typeface="Times New Roman"/>
              </a:rPr>
              <a:t>R</a:t>
            </a:r>
            <a:r>
              <a:rPr b="0" i="0" lang="en-US" sz="1800" u="none" cap="none" strike="noStrike">
                <a:solidFill>
                  <a:srgbClr val="7030A0"/>
                </a:solidFill>
                <a:latin typeface="Times New Roman"/>
                <a:ea typeface="Times New Roman"/>
                <a:cs typeface="Times New Roman"/>
                <a:sym typeface="Times New Roman"/>
              </a:rPr>
              <a:t>epresenting circuits using Shorthand notations</a:t>
            </a:r>
            <a:endParaRPr b="0" i="0" sz="1800" u="none" cap="none" strike="noStrike">
              <a:solidFill>
                <a:srgbClr val="7030A0"/>
              </a:solidFill>
              <a:latin typeface="Times New Roman"/>
              <a:ea typeface="Times New Roman"/>
              <a:cs typeface="Times New Roman"/>
              <a:sym typeface="Times New Roman"/>
            </a:endParaRPr>
          </a:p>
          <a:p>
            <a:pPr indent="0" lvl="0" marL="12700" marR="0" rtl="0" algn="l">
              <a:lnSpc>
                <a:spcPct val="100000"/>
              </a:lnSpc>
              <a:spcBef>
                <a:spcPts val="5"/>
              </a:spcBef>
              <a:spcAft>
                <a:spcPts val="0"/>
              </a:spcAft>
              <a:buClr>
                <a:srgbClr val="000000"/>
              </a:buClr>
              <a:buSzPts val="1800"/>
              <a:buFont typeface="Arial"/>
              <a:buNone/>
            </a:pPr>
            <a:r>
              <a:rPr b="1" i="0" lang="en-US" sz="1800" u="sng" cap="none" strike="noStrike">
                <a:solidFill>
                  <a:srgbClr val="00B050"/>
                </a:solidFill>
                <a:highlight>
                  <a:srgbClr val="FFFF00"/>
                </a:highlight>
                <a:latin typeface="Times New Roman"/>
                <a:ea typeface="Times New Roman"/>
                <a:cs typeface="Times New Roman"/>
                <a:sym typeface="Times New Roman"/>
              </a:rPr>
              <a:t>Steps</a:t>
            </a:r>
            <a:endParaRPr b="0" i="0" sz="1800" u="none" cap="none" strike="noStrike">
              <a:solidFill>
                <a:srgbClr val="00B050"/>
              </a:solidFill>
              <a:highlight>
                <a:srgbClr val="FFFF00"/>
              </a:highlight>
              <a:latin typeface="Times New Roman"/>
              <a:ea typeface="Times New Roman"/>
              <a:cs typeface="Times New Roman"/>
              <a:sym typeface="Times New Roman"/>
            </a:endParaRPr>
          </a:p>
        </p:txBody>
      </p:sp>
      <p:sp>
        <p:nvSpPr>
          <p:cNvPr id="628" name="Google Shape;628;p87"/>
          <p:cNvSpPr txBox="1"/>
          <p:nvPr/>
        </p:nvSpPr>
        <p:spPr>
          <a:xfrm>
            <a:off x="711138" y="1475854"/>
            <a:ext cx="5339715" cy="843821"/>
          </a:xfrm>
          <a:prstGeom prst="rect">
            <a:avLst/>
          </a:prstGeom>
          <a:noFill/>
          <a:ln>
            <a:noFill/>
          </a:ln>
        </p:spPr>
        <p:txBody>
          <a:bodyPr anchorCtr="0" anchor="t" bIns="0" lIns="0" spcFirstLastPara="1" rIns="0" wrap="square" tIns="12700">
            <a:spAutoFit/>
          </a:bodyPr>
          <a:lstStyle/>
          <a:p>
            <a:pPr indent="-287019" lvl="0" marL="299085" marR="0" rtl="0" algn="l">
              <a:lnSpc>
                <a:spcPct val="100000"/>
              </a:lnSpc>
              <a:spcBef>
                <a:spcPts val="0"/>
              </a:spcBef>
              <a:spcAft>
                <a:spcPts val="0"/>
              </a:spcAft>
              <a:buClr>
                <a:srgbClr val="00B050"/>
              </a:buClr>
              <a:buSzPts val="1800"/>
              <a:buFont typeface="Arial"/>
              <a:buChar char="•"/>
            </a:pPr>
            <a:r>
              <a:rPr b="0" i="0" lang="en-US" sz="1800" u="none" cap="none" strike="noStrike">
                <a:solidFill>
                  <a:srgbClr val="C55A11"/>
                </a:solidFill>
                <a:latin typeface="Times New Roman"/>
                <a:ea typeface="Times New Roman"/>
                <a:cs typeface="Times New Roman"/>
                <a:sym typeface="Times New Roman"/>
              </a:rPr>
              <a:t>Identify the ‘Nodes’</a:t>
            </a:r>
            <a:endParaRPr b="0" i="0" sz="1800" u="none" cap="none" strike="noStrike">
              <a:solidFill>
                <a:srgbClr val="C55A11"/>
              </a:solidFill>
              <a:latin typeface="Times New Roman"/>
              <a:ea typeface="Times New Roman"/>
              <a:cs typeface="Times New Roman"/>
              <a:sym typeface="Times New Roman"/>
            </a:endParaRPr>
          </a:p>
          <a:p>
            <a:pPr indent="-287019" lvl="0" marL="299085" marR="0" rtl="0" algn="l">
              <a:lnSpc>
                <a:spcPct val="100000"/>
              </a:lnSpc>
              <a:spcBef>
                <a:spcPts val="0"/>
              </a:spcBef>
              <a:spcAft>
                <a:spcPts val="0"/>
              </a:spcAft>
              <a:buClr>
                <a:srgbClr val="00B050"/>
              </a:buClr>
              <a:buSzPts val="1800"/>
              <a:buFont typeface="Arial"/>
              <a:buChar char="•"/>
            </a:pPr>
            <a:r>
              <a:rPr b="0" i="0" lang="en-US" sz="1800" u="none" cap="none" strike="noStrike">
                <a:solidFill>
                  <a:srgbClr val="C55A11"/>
                </a:solidFill>
                <a:latin typeface="Times New Roman"/>
                <a:ea typeface="Times New Roman"/>
                <a:cs typeface="Times New Roman"/>
                <a:sym typeface="Times New Roman"/>
              </a:rPr>
              <a:t>Select one node as ‘Ground’</a:t>
            </a:r>
            <a:endParaRPr b="0" i="0" sz="1800" u="none" cap="none" strike="noStrike">
              <a:solidFill>
                <a:srgbClr val="C55A11"/>
              </a:solidFill>
              <a:latin typeface="Times New Roman"/>
              <a:ea typeface="Times New Roman"/>
              <a:cs typeface="Times New Roman"/>
              <a:sym typeface="Times New Roman"/>
            </a:endParaRPr>
          </a:p>
          <a:p>
            <a:pPr indent="-287019" lvl="0" marL="299085" marR="0" rtl="0" algn="l">
              <a:lnSpc>
                <a:spcPct val="100000"/>
              </a:lnSpc>
              <a:spcBef>
                <a:spcPts val="0"/>
              </a:spcBef>
              <a:spcAft>
                <a:spcPts val="0"/>
              </a:spcAft>
              <a:buClr>
                <a:srgbClr val="00B050"/>
              </a:buClr>
              <a:buSzPts val="1800"/>
              <a:buFont typeface="Arial"/>
              <a:buChar char="•"/>
            </a:pPr>
            <a:r>
              <a:rPr b="0" i="0" lang="en-US" sz="1800" u="none" cap="none" strike="noStrike">
                <a:solidFill>
                  <a:srgbClr val="C55A11"/>
                </a:solidFill>
                <a:latin typeface="Times New Roman"/>
                <a:ea typeface="Times New Roman"/>
                <a:cs typeface="Times New Roman"/>
                <a:sym typeface="Times New Roman"/>
              </a:rPr>
              <a:t>Replace the other known voltage nodes with an arrow</a:t>
            </a:r>
            <a:endParaRPr b="0" i="0" sz="1800" u="none" cap="none" strike="noStrike">
              <a:solidFill>
                <a:srgbClr val="C55A11"/>
              </a:solidFill>
              <a:latin typeface="Times New Roman"/>
              <a:ea typeface="Times New Roman"/>
              <a:cs typeface="Times New Roman"/>
              <a:sym typeface="Times New Roman"/>
            </a:endParaRPr>
          </a:p>
        </p:txBody>
      </p:sp>
      <p:pic>
        <p:nvPicPr>
          <p:cNvPr id="629" name="Google Shape;629;p87"/>
          <p:cNvPicPr preferRelativeResize="0"/>
          <p:nvPr/>
        </p:nvPicPr>
        <p:blipFill rotWithShape="1">
          <a:blip r:embed="rId4">
            <a:alphaModFix/>
          </a:blip>
          <a:srcRect b="0" l="0" r="0" t="0"/>
          <a:stretch/>
        </p:blipFill>
        <p:spPr>
          <a:xfrm>
            <a:off x="8014377" y="1408465"/>
            <a:ext cx="740439" cy="831992"/>
          </a:xfrm>
          <a:prstGeom prst="rect">
            <a:avLst/>
          </a:prstGeom>
          <a:noFill/>
          <a:ln cap="flat" cmpd="sng" w="9525">
            <a:solidFill>
              <a:schemeClr val="lt1"/>
            </a:solidFill>
            <a:prstDash val="solid"/>
            <a:round/>
            <a:headEnd len="sm" w="sm" type="none"/>
            <a:tailEnd len="sm" w="sm" type="none"/>
          </a:ln>
        </p:spPr>
      </p:pic>
      <p:sp>
        <p:nvSpPr>
          <p:cNvPr id="630" name="Google Shape;630;p87"/>
          <p:cNvSpPr txBox="1"/>
          <p:nvPr/>
        </p:nvSpPr>
        <p:spPr>
          <a:xfrm>
            <a:off x="7147995" y="1557298"/>
            <a:ext cx="489040" cy="347511"/>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39350">
            <a:spAutoFit/>
          </a:bodyPr>
          <a:lstStyle/>
          <a:p>
            <a:pPr indent="0" lvl="0" marL="9271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mbria"/>
                <a:ea typeface="Cambria"/>
                <a:cs typeface="Cambria"/>
                <a:sym typeface="Cambria"/>
              </a:rPr>
              <a:t>Vs</a:t>
            </a:r>
            <a:endParaRPr b="0" i="0" sz="2000" u="none" cap="none" strike="noStrike">
              <a:solidFill>
                <a:schemeClr val="dk1"/>
              </a:solidFill>
              <a:latin typeface="Cambria"/>
              <a:ea typeface="Cambria"/>
              <a:cs typeface="Cambria"/>
              <a:sym typeface="Cambria"/>
            </a:endParaRPr>
          </a:p>
        </p:txBody>
      </p:sp>
      <p:grpSp>
        <p:nvGrpSpPr>
          <p:cNvPr id="631" name="Google Shape;631;p87"/>
          <p:cNvGrpSpPr/>
          <p:nvPr/>
        </p:nvGrpSpPr>
        <p:grpSpPr>
          <a:xfrm>
            <a:off x="2748601" y="2909049"/>
            <a:ext cx="1339435" cy="1654938"/>
            <a:chOff x="4280703" y="3392010"/>
            <a:chExt cx="2142807" cy="3004485"/>
          </a:xfrm>
        </p:grpSpPr>
        <p:pic>
          <p:nvPicPr>
            <p:cNvPr id="632" name="Google Shape;632;p87"/>
            <p:cNvPicPr preferRelativeResize="0"/>
            <p:nvPr/>
          </p:nvPicPr>
          <p:blipFill rotWithShape="1">
            <a:blip r:embed="rId5">
              <a:alphaModFix/>
            </a:blip>
            <a:srcRect b="0" l="0" r="0" t="0"/>
            <a:stretch/>
          </p:blipFill>
          <p:spPr>
            <a:xfrm>
              <a:off x="5309579" y="5873027"/>
              <a:ext cx="435566" cy="523468"/>
            </a:xfrm>
            <a:prstGeom prst="rect">
              <a:avLst/>
            </a:prstGeom>
            <a:noFill/>
            <a:ln cap="flat" cmpd="sng" w="9525">
              <a:solidFill>
                <a:schemeClr val="dk1"/>
              </a:solidFill>
              <a:prstDash val="solid"/>
              <a:round/>
              <a:headEnd len="sm" w="sm" type="none"/>
              <a:tailEnd len="sm" w="sm" type="none"/>
            </a:ln>
          </p:spPr>
        </p:pic>
        <p:pic>
          <p:nvPicPr>
            <p:cNvPr id="633" name="Google Shape;633;p87"/>
            <p:cNvPicPr preferRelativeResize="0"/>
            <p:nvPr/>
          </p:nvPicPr>
          <p:blipFill rotWithShape="1">
            <a:blip r:embed="rId4">
              <a:alphaModFix/>
            </a:blip>
            <a:srcRect b="0" l="0" r="0" t="0"/>
            <a:stretch/>
          </p:blipFill>
          <p:spPr>
            <a:xfrm>
              <a:off x="4280703" y="4155349"/>
              <a:ext cx="894350" cy="1154601"/>
            </a:xfrm>
            <a:prstGeom prst="rect">
              <a:avLst/>
            </a:prstGeom>
            <a:noFill/>
            <a:ln cap="flat" cmpd="sng" w="9525">
              <a:solidFill>
                <a:schemeClr val="lt1"/>
              </a:solidFill>
              <a:prstDash val="solid"/>
              <a:round/>
              <a:headEnd len="sm" w="sm" type="none"/>
              <a:tailEnd len="sm" w="sm" type="none"/>
            </a:ln>
          </p:spPr>
        </p:pic>
        <p:pic>
          <p:nvPicPr>
            <p:cNvPr id="634" name="Google Shape;634;p87"/>
            <p:cNvPicPr preferRelativeResize="0"/>
            <p:nvPr/>
          </p:nvPicPr>
          <p:blipFill rotWithShape="1">
            <a:blip r:embed="rId6">
              <a:alphaModFix/>
            </a:blip>
            <a:srcRect b="0" l="0" r="0" t="0"/>
            <a:stretch/>
          </p:blipFill>
          <p:spPr>
            <a:xfrm>
              <a:off x="4708552" y="3392010"/>
              <a:ext cx="1168767" cy="273723"/>
            </a:xfrm>
            <a:prstGeom prst="rect">
              <a:avLst/>
            </a:prstGeom>
            <a:noFill/>
            <a:ln cap="flat" cmpd="sng" w="9525">
              <a:solidFill>
                <a:schemeClr val="lt1"/>
              </a:solidFill>
              <a:prstDash val="solid"/>
              <a:round/>
              <a:headEnd len="sm" w="sm" type="none"/>
              <a:tailEnd len="sm" w="sm" type="none"/>
            </a:ln>
          </p:spPr>
        </p:pic>
        <p:sp>
          <p:nvSpPr>
            <p:cNvPr id="635" name="Google Shape;635;p87"/>
            <p:cNvSpPr/>
            <p:nvPr/>
          </p:nvSpPr>
          <p:spPr>
            <a:xfrm>
              <a:off x="4733544" y="3531108"/>
              <a:ext cx="1560830" cy="815975"/>
            </a:xfrm>
            <a:custGeom>
              <a:rect b="b" l="l" r="r" t="t"/>
              <a:pathLst>
                <a:path extrusionOk="0" h="815975" w="1560829">
                  <a:moveTo>
                    <a:pt x="0" y="815974"/>
                  </a:moveTo>
                  <a:lnTo>
                    <a:pt x="0" y="1524"/>
                  </a:lnTo>
                </a:path>
                <a:path extrusionOk="0" h="815975" w="1560829">
                  <a:moveTo>
                    <a:pt x="1560321" y="2031"/>
                  </a:moveTo>
                  <a:lnTo>
                    <a:pt x="926591" y="0"/>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636" name="Google Shape;636;p87"/>
            <p:cNvPicPr preferRelativeResize="0"/>
            <p:nvPr/>
          </p:nvPicPr>
          <p:blipFill rotWithShape="1">
            <a:blip r:embed="rId7">
              <a:alphaModFix/>
            </a:blip>
            <a:srcRect b="0" l="0" r="0" t="0"/>
            <a:stretch/>
          </p:blipFill>
          <p:spPr>
            <a:xfrm>
              <a:off x="6133089" y="4115822"/>
              <a:ext cx="290421" cy="1101067"/>
            </a:xfrm>
            <a:prstGeom prst="rect">
              <a:avLst/>
            </a:prstGeom>
            <a:noFill/>
            <a:ln cap="flat" cmpd="sng" w="9525">
              <a:solidFill>
                <a:schemeClr val="lt1"/>
              </a:solidFill>
              <a:prstDash val="solid"/>
              <a:round/>
              <a:headEnd len="sm" w="sm" type="none"/>
              <a:tailEnd len="sm" w="sm" type="none"/>
            </a:ln>
          </p:spPr>
        </p:pic>
        <p:sp>
          <p:nvSpPr>
            <p:cNvPr id="637" name="Google Shape;637;p87"/>
            <p:cNvSpPr/>
            <p:nvPr/>
          </p:nvSpPr>
          <p:spPr>
            <a:xfrm>
              <a:off x="4712208" y="3511296"/>
              <a:ext cx="1581785" cy="2402205"/>
            </a:xfrm>
            <a:custGeom>
              <a:rect b="b" l="l" r="r" t="t"/>
              <a:pathLst>
                <a:path extrusionOk="0" h="2402204" w="1581785">
                  <a:moveTo>
                    <a:pt x="1565147" y="781811"/>
                  </a:moveTo>
                  <a:lnTo>
                    <a:pt x="1565147" y="0"/>
                  </a:lnTo>
                </a:path>
                <a:path extrusionOk="0" h="2402204" w="1581785">
                  <a:moveTo>
                    <a:pt x="19812" y="2401874"/>
                  </a:moveTo>
                  <a:lnTo>
                    <a:pt x="19812" y="1620011"/>
                  </a:lnTo>
                </a:path>
                <a:path extrusionOk="0" h="2402204" w="1581785">
                  <a:moveTo>
                    <a:pt x="1565147" y="2390279"/>
                  </a:moveTo>
                  <a:lnTo>
                    <a:pt x="1565147" y="1522476"/>
                  </a:lnTo>
                </a:path>
                <a:path extrusionOk="0" h="2402204" w="1581785">
                  <a:moveTo>
                    <a:pt x="0" y="2391155"/>
                  </a:moveTo>
                  <a:lnTo>
                    <a:pt x="1581530" y="2391155"/>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grpSp>
      <p:grpSp>
        <p:nvGrpSpPr>
          <p:cNvPr id="638" name="Google Shape;638;p87"/>
          <p:cNvGrpSpPr/>
          <p:nvPr/>
        </p:nvGrpSpPr>
        <p:grpSpPr>
          <a:xfrm>
            <a:off x="389763" y="2638135"/>
            <a:ext cx="4399563" cy="1674314"/>
            <a:chOff x="674519" y="2866644"/>
            <a:chExt cx="6988787" cy="3367434"/>
          </a:xfrm>
        </p:grpSpPr>
        <p:sp>
          <p:nvSpPr>
            <p:cNvPr id="639" name="Google Shape;639;p87"/>
            <p:cNvSpPr/>
            <p:nvPr/>
          </p:nvSpPr>
          <p:spPr>
            <a:xfrm>
              <a:off x="5992747" y="4108704"/>
              <a:ext cx="171450" cy="1307466"/>
            </a:xfrm>
            <a:custGeom>
              <a:rect b="b" l="l" r="r" t="t"/>
              <a:pathLst>
                <a:path extrusionOk="0" h="1307464" w="171450">
                  <a:moveTo>
                    <a:pt x="57150" y="1135507"/>
                  </a:moveTo>
                  <a:lnTo>
                    <a:pt x="0" y="1135507"/>
                  </a:lnTo>
                  <a:lnTo>
                    <a:pt x="85725" y="1306957"/>
                  </a:lnTo>
                  <a:lnTo>
                    <a:pt x="157099" y="1164209"/>
                  </a:lnTo>
                  <a:lnTo>
                    <a:pt x="57150" y="1164209"/>
                  </a:lnTo>
                  <a:lnTo>
                    <a:pt x="57150" y="1135507"/>
                  </a:lnTo>
                  <a:close/>
                </a:path>
                <a:path extrusionOk="0" h="1307464" w="171450">
                  <a:moveTo>
                    <a:pt x="114300" y="0"/>
                  </a:moveTo>
                  <a:lnTo>
                    <a:pt x="57150" y="0"/>
                  </a:lnTo>
                  <a:lnTo>
                    <a:pt x="57150" y="1164209"/>
                  </a:lnTo>
                  <a:lnTo>
                    <a:pt x="114300" y="1164209"/>
                  </a:lnTo>
                  <a:lnTo>
                    <a:pt x="114300" y="0"/>
                  </a:lnTo>
                  <a:close/>
                </a:path>
                <a:path extrusionOk="0" h="1307464" w="171450">
                  <a:moveTo>
                    <a:pt x="171450" y="1135507"/>
                  </a:moveTo>
                  <a:lnTo>
                    <a:pt x="114300" y="1135507"/>
                  </a:lnTo>
                  <a:lnTo>
                    <a:pt x="114300" y="1164209"/>
                  </a:lnTo>
                  <a:lnTo>
                    <a:pt x="157099" y="1164209"/>
                  </a:lnTo>
                  <a:lnTo>
                    <a:pt x="171450" y="1135507"/>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
          <p:nvSpPr>
            <p:cNvPr id="640" name="Google Shape;640;p87"/>
            <p:cNvSpPr/>
            <p:nvPr/>
          </p:nvSpPr>
          <p:spPr>
            <a:xfrm>
              <a:off x="3756151" y="2919984"/>
              <a:ext cx="946150" cy="462280"/>
            </a:xfrm>
            <a:custGeom>
              <a:rect b="b" l="l" r="r" t="t"/>
              <a:pathLst>
                <a:path extrusionOk="0" h="462279" w="946150">
                  <a:moveTo>
                    <a:pt x="115443" y="0"/>
                  </a:moveTo>
                  <a:lnTo>
                    <a:pt x="0" y="0"/>
                  </a:lnTo>
                  <a:lnTo>
                    <a:pt x="60205" y="1305"/>
                  </a:lnTo>
                  <a:lnTo>
                    <a:pt x="119371" y="5166"/>
                  </a:lnTo>
                  <a:lnTo>
                    <a:pt x="177311" y="11498"/>
                  </a:lnTo>
                  <a:lnTo>
                    <a:pt x="233840" y="20219"/>
                  </a:lnTo>
                  <a:lnTo>
                    <a:pt x="288770" y="31245"/>
                  </a:lnTo>
                  <a:lnTo>
                    <a:pt x="341916" y="44492"/>
                  </a:lnTo>
                  <a:lnTo>
                    <a:pt x="393093" y="59877"/>
                  </a:lnTo>
                  <a:lnTo>
                    <a:pt x="442113" y="77316"/>
                  </a:lnTo>
                  <a:lnTo>
                    <a:pt x="488791" y="96726"/>
                  </a:lnTo>
                  <a:lnTo>
                    <a:pt x="532940" y="118023"/>
                  </a:lnTo>
                  <a:lnTo>
                    <a:pt x="574376" y="141125"/>
                  </a:lnTo>
                  <a:lnTo>
                    <a:pt x="612911" y="165946"/>
                  </a:lnTo>
                  <a:lnTo>
                    <a:pt x="648360" y="192405"/>
                  </a:lnTo>
                  <a:lnTo>
                    <a:pt x="680536" y="220417"/>
                  </a:lnTo>
                  <a:lnTo>
                    <a:pt x="709253" y="249898"/>
                  </a:lnTo>
                  <a:lnTo>
                    <a:pt x="734326" y="280767"/>
                  </a:lnTo>
                  <a:lnTo>
                    <a:pt x="755569" y="312938"/>
                  </a:lnTo>
                  <a:lnTo>
                    <a:pt x="772795" y="346328"/>
                  </a:lnTo>
                  <a:lnTo>
                    <a:pt x="715010" y="346328"/>
                  </a:lnTo>
                  <a:lnTo>
                    <a:pt x="855852" y="461771"/>
                  </a:lnTo>
                  <a:lnTo>
                    <a:pt x="945896" y="346328"/>
                  </a:lnTo>
                  <a:lnTo>
                    <a:pt x="888238" y="346328"/>
                  </a:lnTo>
                  <a:lnTo>
                    <a:pt x="871012" y="312938"/>
                  </a:lnTo>
                  <a:lnTo>
                    <a:pt x="849769" y="280767"/>
                  </a:lnTo>
                  <a:lnTo>
                    <a:pt x="824696" y="249898"/>
                  </a:lnTo>
                  <a:lnTo>
                    <a:pt x="795979" y="220417"/>
                  </a:lnTo>
                  <a:lnTo>
                    <a:pt x="763803" y="192405"/>
                  </a:lnTo>
                  <a:lnTo>
                    <a:pt x="728354" y="165946"/>
                  </a:lnTo>
                  <a:lnTo>
                    <a:pt x="689819" y="141125"/>
                  </a:lnTo>
                  <a:lnTo>
                    <a:pt x="648383" y="118023"/>
                  </a:lnTo>
                  <a:lnTo>
                    <a:pt x="604234" y="96726"/>
                  </a:lnTo>
                  <a:lnTo>
                    <a:pt x="557556" y="77316"/>
                  </a:lnTo>
                  <a:lnTo>
                    <a:pt x="508536" y="59877"/>
                  </a:lnTo>
                  <a:lnTo>
                    <a:pt x="457359" y="44492"/>
                  </a:lnTo>
                  <a:lnTo>
                    <a:pt x="404213" y="31245"/>
                  </a:lnTo>
                  <a:lnTo>
                    <a:pt x="349283" y="20219"/>
                  </a:lnTo>
                  <a:lnTo>
                    <a:pt x="292754" y="11498"/>
                  </a:lnTo>
                  <a:lnTo>
                    <a:pt x="234814" y="5166"/>
                  </a:lnTo>
                  <a:lnTo>
                    <a:pt x="175648" y="1305"/>
                  </a:lnTo>
                  <a:lnTo>
                    <a:pt x="115443" y="0"/>
                  </a:lnTo>
                  <a:close/>
                </a:path>
              </a:pathLst>
            </a:custGeom>
            <a:solidFill>
              <a:srgbClr val="FF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pic>
          <p:nvPicPr>
            <p:cNvPr id="641" name="Google Shape;641;p87"/>
            <p:cNvPicPr preferRelativeResize="0"/>
            <p:nvPr/>
          </p:nvPicPr>
          <p:blipFill rotWithShape="1">
            <a:blip r:embed="rId4">
              <a:alphaModFix/>
            </a:blip>
            <a:srcRect b="0" l="0" r="0" t="0"/>
            <a:stretch/>
          </p:blipFill>
          <p:spPr>
            <a:xfrm>
              <a:off x="674519" y="4195731"/>
              <a:ext cx="935948" cy="1205539"/>
            </a:xfrm>
            <a:prstGeom prst="rect">
              <a:avLst/>
            </a:prstGeom>
            <a:noFill/>
            <a:ln cap="flat" cmpd="sng" w="9525">
              <a:solidFill>
                <a:schemeClr val="lt1"/>
              </a:solidFill>
              <a:prstDash val="solid"/>
              <a:round/>
              <a:headEnd len="sm" w="sm" type="none"/>
              <a:tailEnd len="sm" w="sm" type="none"/>
            </a:ln>
          </p:spPr>
        </p:pic>
        <p:pic>
          <p:nvPicPr>
            <p:cNvPr id="642" name="Google Shape;642;p87"/>
            <p:cNvPicPr preferRelativeResize="0"/>
            <p:nvPr/>
          </p:nvPicPr>
          <p:blipFill rotWithShape="1">
            <a:blip r:embed="rId6">
              <a:alphaModFix/>
            </a:blip>
            <a:srcRect b="0" l="0" r="0" t="0"/>
            <a:stretch/>
          </p:blipFill>
          <p:spPr>
            <a:xfrm>
              <a:off x="1121338" y="3400292"/>
              <a:ext cx="1222415" cy="285650"/>
            </a:xfrm>
            <a:prstGeom prst="rect">
              <a:avLst/>
            </a:prstGeom>
            <a:noFill/>
            <a:ln cap="flat" cmpd="sng" w="9525">
              <a:solidFill>
                <a:schemeClr val="lt1"/>
              </a:solidFill>
              <a:prstDash val="solid"/>
              <a:round/>
              <a:headEnd len="sm" w="sm" type="none"/>
              <a:tailEnd len="sm" w="sm" type="none"/>
            </a:ln>
          </p:spPr>
        </p:pic>
        <p:sp>
          <p:nvSpPr>
            <p:cNvPr id="643" name="Google Shape;643;p87"/>
            <p:cNvSpPr/>
            <p:nvPr/>
          </p:nvSpPr>
          <p:spPr>
            <a:xfrm>
              <a:off x="1147572" y="3544824"/>
              <a:ext cx="1631950" cy="853440"/>
            </a:xfrm>
            <a:custGeom>
              <a:rect b="b" l="l" r="r" t="t"/>
              <a:pathLst>
                <a:path extrusionOk="0" h="853439" w="1631950">
                  <a:moveTo>
                    <a:pt x="0" y="853186"/>
                  </a:moveTo>
                  <a:lnTo>
                    <a:pt x="0" y="3048"/>
                  </a:lnTo>
                </a:path>
                <a:path extrusionOk="0" h="853439" w="1631950">
                  <a:moveTo>
                    <a:pt x="1631696" y="2159"/>
                  </a:moveTo>
                  <a:lnTo>
                    <a:pt x="969264" y="0"/>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pic>
          <p:nvPicPr>
            <p:cNvPr id="644" name="Google Shape;644;p87"/>
            <p:cNvPicPr preferRelativeResize="0"/>
            <p:nvPr/>
          </p:nvPicPr>
          <p:blipFill rotWithShape="1">
            <a:blip r:embed="rId7">
              <a:alphaModFix/>
            </a:blip>
            <a:srcRect b="0" l="0" r="0" t="0"/>
            <a:stretch/>
          </p:blipFill>
          <p:spPr>
            <a:xfrm>
              <a:off x="2611092" y="4155710"/>
              <a:ext cx="303541" cy="1149606"/>
            </a:xfrm>
            <a:prstGeom prst="rect">
              <a:avLst/>
            </a:prstGeom>
            <a:noFill/>
            <a:ln cap="flat" cmpd="sng" w="9525">
              <a:solidFill>
                <a:schemeClr val="lt1"/>
              </a:solidFill>
              <a:prstDash val="solid"/>
              <a:round/>
              <a:headEnd len="sm" w="sm" type="none"/>
              <a:tailEnd len="sm" w="sm" type="none"/>
            </a:ln>
          </p:spPr>
        </p:pic>
        <p:sp>
          <p:nvSpPr>
            <p:cNvPr id="645" name="Google Shape;645;p87"/>
            <p:cNvSpPr/>
            <p:nvPr/>
          </p:nvSpPr>
          <p:spPr>
            <a:xfrm>
              <a:off x="1126236" y="3523488"/>
              <a:ext cx="1653540" cy="2710590"/>
            </a:xfrm>
            <a:custGeom>
              <a:rect b="b" l="l" r="r" t="t"/>
              <a:pathLst>
                <a:path extrusionOk="0" h="2508250" w="1653539">
                  <a:moveTo>
                    <a:pt x="1635252" y="816101"/>
                  </a:moveTo>
                  <a:lnTo>
                    <a:pt x="1635252" y="0"/>
                  </a:lnTo>
                </a:path>
                <a:path extrusionOk="0" h="2508250" w="1653539">
                  <a:moveTo>
                    <a:pt x="21335" y="2507678"/>
                  </a:moveTo>
                  <a:lnTo>
                    <a:pt x="21335" y="1691639"/>
                  </a:lnTo>
                </a:path>
                <a:path extrusionOk="0" h="2508250" w="1653539">
                  <a:moveTo>
                    <a:pt x="1635252" y="2496794"/>
                  </a:moveTo>
                  <a:lnTo>
                    <a:pt x="1635252" y="1591056"/>
                  </a:lnTo>
                </a:path>
                <a:path extrusionOk="0" h="2508250" w="1653539">
                  <a:moveTo>
                    <a:pt x="0" y="2496312"/>
                  </a:moveTo>
                  <a:lnTo>
                    <a:pt x="1653158" y="2496312"/>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
          <p:nvSpPr>
            <p:cNvPr id="646" name="Google Shape;646;p87"/>
            <p:cNvSpPr/>
            <p:nvPr/>
          </p:nvSpPr>
          <p:spPr>
            <a:xfrm>
              <a:off x="2361819" y="4148327"/>
              <a:ext cx="171450" cy="1364615"/>
            </a:xfrm>
            <a:custGeom>
              <a:rect b="b" l="l" r="r" t="t"/>
              <a:pathLst>
                <a:path extrusionOk="0" h="1364614" w="171450">
                  <a:moveTo>
                    <a:pt x="57150" y="1192657"/>
                  </a:moveTo>
                  <a:lnTo>
                    <a:pt x="0" y="1192657"/>
                  </a:lnTo>
                  <a:lnTo>
                    <a:pt x="85725" y="1364107"/>
                  </a:lnTo>
                  <a:lnTo>
                    <a:pt x="157162" y="1221232"/>
                  </a:lnTo>
                  <a:lnTo>
                    <a:pt x="57150" y="1221232"/>
                  </a:lnTo>
                  <a:lnTo>
                    <a:pt x="57150" y="1192657"/>
                  </a:lnTo>
                  <a:close/>
                </a:path>
                <a:path extrusionOk="0" h="1364614" w="171450">
                  <a:moveTo>
                    <a:pt x="114300" y="0"/>
                  </a:moveTo>
                  <a:lnTo>
                    <a:pt x="57150" y="0"/>
                  </a:lnTo>
                  <a:lnTo>
                    <a:pt x="57150" y="1221232"/>
                  </a:lnTo>
                  <a:lnTo>
                    <a:pt x="114300" y="1221232"/>
                  </a:lnTo>
                  <a:lnTo>
                    <a:pt x="114300" y="0"/>
                  </a:lnTo>
                  <a:close/>
                </a:path>
                <a:path extrusionOk="0" h="1364614" w="171450">
                  <a:moveTo>
                    <a:pt x="171450" y="1192657"/>
                  </a:moveTo>
                  <a:lnTo>
                    <a:pt x="114300" y="1192657"/>
                  </a:lnTo>
                  <a:lnTo>
                    <a:pt x="114300" y="1221232"/>
                  </a:lnTo>
                  <a:lnTo>
                    <a:pt x="157162" y="1221232"/>
                  </a:lnTo>
                  <a:lnTo>
                    <a:pt x="171450" y="1192657"/>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
          <p:nvSpPr>
            <p:cNvPr id="647" name="Google Shape;647;p87"/>
            <p:cNvSpPr/>
            <p:nvPr/>
          </p:nvSpPr>
          <p:spPr>
            <a:xfrm>
              <a:off x="2958084" y="2919984"/>
              <a:ext cx="855980" cy="462280"/>
            </a:xfrm>
            <a:custGeom>
              <a:rect b="b" l="l" r="r" t="t"/>
              <a:pathLst>
                <a:path extrusionOk="0" h="462279" w="855979">
                  <a:moveTo>
                    <a:pt x="798068" y="0"/>
                  </a:moveTo>
                  <a:lnTo>
                    <a:pt x="738516" y="1266"/>
                  </a:lnTo>
                  <a:lnTo>
                    <a:pt x="680151" y="5007"/>
                  </a:lnTo>
                  <a:lnTo>
                    <a:pt x="623128" y="11132"/>
                  </a:lnTo>
                  <a:lnTo>
                    <a:pt x="567601" y="19552"/>
                  </a:lnTo>
                  <a:lnTo>
                    <a:pt x="513724" y="30178"/>
                  </a:lnTo>
                  <a:lnTo>
                    <a:pt x="461653" y="42920"/>
                  </a:lnTo>
                  <a:lnTo>
                    <a:pt x="411541" y="57690"/>
                  </a:lnTo>
                  <a:lnTo>
                    <a:pt x="363542" y="74397"/>
                  </a:lnTo>
                  <a:lnTo>
                    <a:pt x="317812" y="92953"/>
                  </a:lnTo>
                  <a:lnTo>
                    <a:pt x="274505" y="113269"/>
                  </a:lnTo>
                  <a:lnTo>
                    <a:pt x="233775" y="135255"/>
                  </a:lnTo>
                  <a:lnTo>
                    <a:pt x="195776" y="158821"/>
                  </a:lnTo>
                  <a:lnTo>
                    <a:pt x="160663" y="183878"/>
                  </a:lnTo>
                  <a:lnTo>
                    <a:pt x="128591" y="210338"/>
                  </a:lnTo>
                  <a:lnTo>
                    <a:pt x="99714" y="238110"/>
                  </a:lnTo>
                  <a:lnTo>
                    <a:pt x="74185" y="267106"/>
                  </a:lnTo>
                  <a:lnTo>
                    <a:pt x="33795" y="328411"/>
                  </a:lnTo>
                  <a:lnTo>
                    <a:pt x="8654" y="393537"/>
                  </a:lnTo>
                  <a:lnTo>
                    <a:pt x="0" y="461771"/>
                  </a:lnTo>
                  <a:lnTo>
                    <a:pt x="115443" y="461771"/>
                  </a:lnTo>
                  <a:lnTo>
                    <a:pt x="117837" y="425788"/>
                  </a:lnTo>
                  <a:lnTo>
                    <a:pt x="124906" y="390526"/>
                  </a:lnTo>
                  <a:lnTo>
                    <a:pt x="152382" y="322598"/>
                  </a:lnTo>
                  <a:lnTo>
                    <a:pt x="172446" y="290145"/>
                  </a:lnTo>
                  <a:lnTo>
                    <a:pt x="196497" y="258842"/>
                  </a:lnTo>
                  <a:lnTo>
                    <a:pt x="224365" y="228796"/>
                  </a:lnTo>
                  <a:lnTo>
                    <a:pt x="255878" y="200115"/>
                  </a:lnTo>
                  <a:lnTo>
                    <a:pt x="290864" y="172904"/>
                  </a:lnTo>
                  <a:lnTo>
                    <a:pt x="329152" y="147272"/>
                  </a:lnTo>
                  <a:lnTo>
                    <a:pt x="370569" y="123324"/>
                  </a:lnTo>
                  <a:lnTo>
                    <a:pt x="414945" y="101169"/>
                  </a:lnTo>
                  <a:lnTo>
                    <a:pt x="462108" y="80912"/>
                  </a:lnTo>
                  <a:lnTo>
                    <a:pt x="511885" y="62661"/>
                  </a:lnTo>
                  <a:lnTo>
                    <a:pt x="564106" y="46523"/>
                  </a:lnTo>
                  <a:lnTo>
                    <a:pt x="618598" y="32605"/>
                  </a:lnTo>
                  <a:lnTo>
                    <a:pt x="675191" y="21014"/>
                  </a:lnTo>
                  <a:lnTo>
                    <a:pt x="733712" y="11856"/>
                  </a:lnTo>
                  <a:lnTo>
                    <a:pt x="793990" y="5239"/>
                  </a:lnTo>
                  <a:lnTo>
                    <a:pt x="855853" y="1269"/>
                  </a:lnTo>
                  <a:lnTo>
                    <a:pt x="826960" y="301"/>
                  </a:lnTo>
                  <a:lnTo>
                    <a:pt x="798068" y="0"/>
                  </a:lnTo>
                  <a:close/>
                </a:path>
              </a:pathLst>
            </a:custGeom>
            <a:solidFill>
              <a:srgbClr val="CD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
          <p:nvSpPr>
            <p:cNvPr id="648" name="Google Shape;648;p87"/>
            <p:cNvSpPr/>
            <p:nvPr/>
          </p:nvSpPr>
          <p:spPr>
            <a:xfrm>
              <a:off x="6723506" y="2866644"/>
              <a:ext cx="939800" cy="433070"/>
            </a:xfrm>
            <a:custGeom>
              <a:rect b="b" l="l" r="r" t="t"/>
              <a:pathLst>
                <a:path extrusionOk="0" h="433070" w="939800">
                  <a:moveTo>
                    <a:pt x="108203" y="0"/>
                  </a:moveTo>
                  <a:lnTo>
                    <a:pt x="0" y="0"/>
                  </a:lnTo>
                  <a:lnTo>
                    <a:pt x="60543" y="1222"/>
                  </a:lnTo>
                  <a:lnTo>
                    <a:pt x="120042" y="4839"/>
                  </a:lnTo>
                  <a:lnTo>
                    <a:pt x="178311" y="10772"/>
                  </a:lnTo>
                  <a:lnTo>
                    <a:pt x="235162" y="18942"/>
                  </a:lnTo>
                  <a:lnTo>
                    <a:pt x="290407" y="29272"/>
                  </a:lnTo>
                  <a:lnTo>
                    <a:pt x="343859" y="41684"/>
                  </a:lnTo>
                  <a:lnTo>
                    <a:pt x="395331" y="56099"/>
                  </a:lnTo>
                  <a:lnTo>
                    <a:pt x="444635" y="72441"/>
                  </a:lnTo>
                  <a:lnTo>
                    <a:pt x="491585" y="90630"/>
                  </a:lnTo>
                  <a:lnTo>
                    <a:pt x="535992" y="110589"/>
                  </a:lnTo>
                  <a:lnTo>
                    <a:pt x="577669" y="132239"/>
                  </a:lnTo>
                  <a:lnTo>
                    <a:pt x="616429" y="155504"/>
                  </a:lnTo>
                  <a:lnTo>
                    <a:pt x="652085" y="180304"/>
                  </a:lnTo>
                  <a:lnTo>
                    <a:pt x="684449" y="206562"/>
                  </a:lnTo>
                  <a:lnTo>
                    <a:pt x="713334" y="234200"/>
                  </a:lnTo>
                  <a:lnTo>
                    <a:pt x="738552" y="263139"/>
                  </a:lnTo>
                  <a:lnTo>
                    <a:pt x="777240" y="324611"/>
                  </a:lnTo>
                  <a:lnTo>
                    <a:pt x="723138" y="324611"/>
                  </a:lnTo>
                  <a:lnTo>
                    <a:pt x="856869" y="432815"/>
                  </a:lnTo>
                  <a:lnTo>
                    <a:pt x="939546" y="324611"/>
                  </a:lnTo>
                  <a:lnTo>
                    <a:pt x="885444" y="324611"/>
                  </a:lnTo>
                  <a:lnTo>
                    <a:pt x="868120" y="293303"/>
                  </a:lnTo>
                  <a:lnTo>
                    <a:pt x="821538" y="234200"/>
                  </a:lnTo>
                  <a:lnTo>
                    <a:pt x="792653" y="206562"/>
                  </a:lnTo>
                  <a:lnTo>
                    <a:pt x="760289" y="180304"/>
                  </a:lnTo>
                  <a:lnTo>
                    <a:pt x="724633" y="155504"/>
                  </a:lnTo>
                  <a:lnTo>
                    <a:pt x="685873" y="132239"/>
                  </a:lnTo>
                  <a:lnTo>
                    <a:pt x="644196" y="110589"/>
                  </a:lnTo>
                  <a:lnTo>
                    <a:pt x="599789" y="90630"/>
                  </a:lnTo>
                  <a:lnTo>
                    <a:pt x="552839" y="72441"/>
                  </a:lnTo>
                  <a:lnTo>
                    <a:pt x="503535" y="56099"/>
                  </a:lnTo>
                  <a:lnTo>
                    <a:pt x="452063" y="41684"/>
                  </a:lnTo>
                  <a:lnTo>
                    <a:pt x="398611" y="29272"/>
                  </a:lnTo>
                  <a:lnTo>
                    <a:pt x="343366" y="18942"/>
                  </a:lnTo>
                  <a:lnTo>
                    <a:pt x="286515" y="10772"/>
                  </a:lnTo>
                  <a:lnTo>
                    <a:pt x="228246" y="4839"/>
                  </a:lnTo>
                  <a:lnTo>
                    <a:pt x="168747" y="1222"/>
                  </a:lnTo>
                  <a:lnTo>
                    <a:pt x="108203" y="0"/>
                  </a:lnTo>
                  <a:close/>
                </a:path>
              </a:pathLst>
            </a:custGeom>
            <a:solidFill>
              <a:srgbClr val="FF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
          <p:nvSpPr>
            <p:cNvPr id="649" name="Google Shape;649;p87"/>
            <p:cNvSpPr/>
            <p:nvPr/>
          </p:nvSpPr>
          <p:spPr>
            <a:xfrm>
              <a:off x="5920740" y="2866644"/>
              <a:ext cx="857250" cy="433070"/>
            </a:xfrm>
            <a:custGeom>
              <a:rect b="b" l="l" r="r" t="t"/>
              <a:pathLst>
                <a:path extrusionOk="0" h="433070" w="857250">
                  <a:moveTo>
                    <a:pt x="802766" y="0"/>
                  </a:moveTo>
                  <a:lnTo>
                    <a:pt x="740031" y="1302"/>
                  </a:lnTo>
                  <a:lnTo>
                    <a:pt x="678615" y="5145"/>
                  </a:lnTo>
                  <a:lnTo>
                    <a:pt x="618699" y="11432"/>
                  </a:lnTo>
                  <a:lnTo>
                    <a:pt x="560460" y="20067"/>
                  </a:lnTo>
                  <a:lnTo>
                    <a:pt x="504078" y="30953"/>
                  </a:lnTo>
                  <a:lnTo>
                    <a:pt x="449729" y="43996"/>
                  </a:lnTo>
                  <a:lnTo>
                    <a:pt x="397594" y="59097"/>
                  </a:lnTo>
                  <a:lnTo>
                    <a:pt x="347850" y="76161"/>
                  </a:lnTo>
                  <a:lnTo>
                    <a:pt x="300676" y="95092"/>
                  </a:lnTo>
                  <a:lnTo>
                    <a:pt x="256251" y="115793"/>
                  </a:lnTo>
                  <a:lnTo>
                    <a:pt x="214752" y="138168"/>
                  </a:lnTo>
                  <a:lnTo>
                    <a:pt x="176358" y="162121"/>
                  </a:lnTo>
                  <a:lnTo>
                    <a:pt x="141248" y="187556"/>
                  </a:lnTo>
                  <a:lnTo>
                    <a:pt x="109601" y="214375"/>
                  </a:lnTo>
                  <a:lnTo>
                    <a:pt x="81593" y="242484"/>
                  </a:lnTo>
                  <a:lnTo>
                    <a:pt x="37215" y="302184"/>
                  </a:lnTo>
                  <a:lnTo>
                    <a:pt x="9541" y="365884"/>
                  </a:lnTo>
                  <a:lnTo>
                    <a:pt x="0" y="432815"/>
                  </a:lnTo>
                  <a:lnTo>
                    <a:pt x="108204" y="432815"/>
                  </a:lnTo>
                  <a:lnTo>
                    <a:pt x="110629" y="398968"/>
                  </a:lnTo>
                  <a:lnTo>
                    <a:pt x="117789" y="365806"/>
                  </a:lnTo>
                  <a:lnTo>
                    <a:pt x="145612" y="301943"/>
                  </a:lnTo>
                  <a:lnTo>
                    <a:pt x="190273" y="242031"/>
                  </a:lnTo>
                  <a:lnTo>
                    <a:pt x="218481" y="213808"/>
                  </a:lnTo>
                  <a:lnTo>
                    <a:pt x="250374" y="186876"/>
                  </a:lnTo>
                  <a:lnTo>
                    <a:pt x="285778" y="161336"/>
                  </a:lnTo>
                  <a:lnTo>
                    <a:pt x="324516" y="137287"/>
                  </a:lnTo>
                  <a:lnTo>
                    <a:pt x="366415" y="114830"/>
                  </a:lnTo>
                  <a:lnTo>
                    <a:pt x="411300" y="94067"/>
                  </a:lnTo>
                  <a:lnTo>
                    <a:pt x="458995" y="75098"/>
                  </a:lnTo>
                  <a:lnTo>
                    <a:pt x="509326" y="58024"/>
                  </a:lnTo>
                  <a:lnTo>
                    <a:pt x="562117" y="42945"/>
                  </a:lnTo>
                  <a:lnTo>
                    <a:pt x="617195" y="29963"/>
                  </a:lnTo>
                  <a:lnTo>
                    <a:pt x="674384" y="19179"/>
                  </a:lnTo>
                  <a:lnTo>
                    <a:pt x="733509" y="10692"/>
                  </a:lnTo>
                  <a:lnTo>
                    <a:pt x="794396" y="4604"/>
                  </a:lnTo>
                  <a:lnTo>
                    <a:pt x="856868" y="1015"/>
                  </a:lnTo>
                  <a:lnTo>
                    <a:pt x="843343" y="589"/>
                  </a:lnTo>
                  <a:lnTo>
                    <a:pt x="802766" y="0"/>
                  </a:lnTo>
                  <a:close/>
                </a:path>
              </a:pathLst>
            </a:custGeom>
            <a:solidFill>
              <a:srgbClr val="CD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grpSp>
      <p:grpSp>
        <p:nvGrpSpPr>
          <p:cNvPr id="650" name="Google Shape;650;p87"/>
          <p:cNvGrpSpPr/>
          <p:nvPr/>
        </p:nvGrpSpPr>
        <p:grpSpPr>
          <a:xfrm>
            <a:off x="4701619" y="2887437"/>
            <a:ext cx="1096895" cy="1567024"/>
            <a:chOff x="7247820" y="3395736"/>
            <a:chExt cx="1749076" cy="3028375"/>
          </a:xfrm>
        </p:grpSpPr>
        <p:pic>
          <p:nvPicPr>
            <p:cNvPr id="651" name="Google Shape;651;p87"/>
            <p:cNvPicPr preferRelativeResize="0"/>
            <p:nvPr/>
          </p:nvPicPr>
          <p:blipFill rotWithShape="1">
            <a:blip r:embed="rId5">
              <a:alphaModFix/>
            </a:blip>
            <a:srcRect b="0" l="0" r="0" t="0"/>
            <a:stretch/>
          </p:blipFill>
          <p:spPr>
            <a:xfrm>
              <a:off x="8596456" y="5889087"/>
              <a:ext cx="400440" cy="535024"/>
            </a:xfrm>
            <a:prstGeom prst="rect">
              <a:avLst/>
            </a:prstGeom>
            <a:noFill/>
            <a:ln cap="flat" cmpd="sng" w="9525">
              <a:solidFill>
                <a:schemeClr val="dk1"/>
              </a:solidFill>
              <a:prstDash val="solid"/>
              <a:round/>
              <a:headEnd len="sm" w="sm" type="none"/>
              <a:tailEnd len="sm" w="sm" type="none"/>
            </a:ln>
          </p:spPr>
        </p:pic>
        <p:pic>
          <p:nvPicPr>
            <p:cNvPr id="652" name="Google Shape;652;p87"/>
            <p:cNvPicPr preferRelativeResize="0"/>
            <p:nvPr/>
          </p:nvPicPr>
          <p:blipFill rotWithShape="1">
            <a:blip r:embed="rId7">
              <a:alphaModFix/>
            </a:blip>
            <a:srcRect b="0" l="0" r="0" t="0"/>
            <a:stretch/>
          </p:blipFill>
          <p:spPr>
            <a:xfrm>
              <a:off x="8663128" y="4133907"/>
              <a:ext cx="266567" cy="1122782"/>
            </a:xfrm>
            <a:prstGeom prst="rect">
              <a:avLst/>
            </a:prstGeom>
            <a:noFill/>
            <a:ln cap="flat" cmpd="sng" w="9525">
              <a:solidFill>
                <a:schemeClr val="lt1"/>
              </a:solidFill>
              <a:prstDash val="solid"/>
              <a:round/>
              <a:headEnd len="sm" w="sm" type="none"/>
              <a:tailEnd len="sm" w="sm" type="none"/>
            </a:ln>
          </p:spPr>
        </p:pic>
        <p:pic>
          <p:nvPicPr>
            <p:cNvPr id="653" name="Google Shape;653;p87"/>
            <p:cNvPicPr preferRelativeResize="0"/>
            <p:nvPr/>
          </p:nvPicPr>
          <p:blipFill rotWithShape="1">
            <a:blip r:embed="rId6">
              <a:alphaModFix/>
            </a:blip>
            <a:srcRect b="0" l="0" r="0" t="0"/>
            <a:stretch/>
          </p:blipFill>
          <p:spPr>
            <a:xfrm>
              <a:off x="7353000" y="3395736"/>
              <a:ext cx="1075521" cy="279090"/>
            </a:xfrm>
            <a:prstGeom prst="rect">
              <a:avLst/>
            </a:prstGeom>
            <a:noFill/>
            <a:ln cap="flat" cmpd="sng" w="9525">
              <a:solidFill>
                <a:schemeClr val="lt1"/>
              </a:solidFill>
              <a:prstDash val="solid"/>
              <a:round/>
              <a:headEnd len="sm" w="sm" type="none"/>
              <a:tailEnd len="sm" w="sm" type="none"/>
            </a:ln>
          </p:spPr>
        </p:pic>
        <p:sp>
          <p:nvSpPr>
            <p:cNvPr id="654" name="Google Shape;654;p87"/>
            <p:cNvSpPr/>
            <p:nvPr/>
          </p:nvSpPr>
          <p:spPr>
            <a:xfrm>
              <a:off x="7247820" y="3538727"/>
              <a:ext cx="257175" cy="831215"/>
            </a:xfrm>
            <a:custGeom>
              <a:rect b="b" l="l" r="r" t="t"/>
              <a:pathLst>
                <a:path extrusionOk="0" h="831214" w="257175">
                  <a:moveTo>
                    <a:pt x="24632" y="574478"/>
                  </a:moveTo>
                  <a:lnTo>
                    <a:pt x="13912" y="578104"/>
                  </a:lnTo>
                  <a:lnTo>
                    <a:pt x="5464" y="585680"/>
                  </a:lnTo>
                  <a:lnTo>
                    <a:pt x="720" y="595566"/>
                  </a:lnTo>
                  <a:lnTo>
                    <a:pt x="0" y="606500"/>
                  </a:lnTo>
                  <a:lnTo>
                    <a:pt x="3625" y="617220"/>
                  </a:lnTo>
                  <a:lnTo>
                    <a:pt x="128339" y="830961"/>
                  </a:lnTo>
                  <a:lnTo>
                    <a:pt x="161389" y="774319"/>
                  </a:lnTo>
                  <a:lnTo>
                    <a:pt x="99764" y="774319"/>
                  </a:lnTo>
                  <a:lnTo>
                    <a:pt x="99764" y="668560"/>
                  </a:lnTo>
                  <a:lnTo>
                    <a:pt x="53028" y="588391"/>
                  </a:lnTo>
                  <a:lnTo>
                    <a:pt x="45452" y="579943"/>
                  </a:lnTo>
                  <a:lnTo>
                    <a:pt x="35565" y="575198"/>
                  </a:lnTo>
                  <a:lnTo>
                    <a:pt x="24632" y="574478"/>
                  </a:lnTo>
                  <a:close/>
                </a:path>
                <a:path extrusionOk="0" h="831214" w="257175">
                  <a:moveTo>
                    <a:pt x="99764" y="668560"/>
                  </a:moveTo>
                  <a:lnTo>
                    <a:pt x="99764" y="774319"/>
                  </a:lnTo>
                  <a:lnTo>
                    <a:pt x="156914" y="774319"/>
                  </a:lnTo>
                  <a:lnTo>
                    <a:pt x="156914" y="759841"/>
                  </a:lnTo>
                  <a:lnTo>
                    <a:pt x="103701" y="759841"/>
                  </a:lnTo>
                  <a:lnTo>
                    <a:pt x="128339" y="717577"/>
                  </a:lnTo>
                  <a:lnTo>
                    <a:pt x="99764" y="668560"/>
                  </a:lnTo>
                  <a:close/>
                </a:path>
                <a:path extrusionOk="0" h="831214" w="257175">
                  <a:moveTo>
                    <a:pt x="232046" y="574478"/>
                  </a:moveTo>
                  <a:lnTo>
                    <a:pt x="221112" y="575198"/>
                  </a:lnTo>
                  <a:lnTo>
                    <a:pt x="211226" y="579943"/>
                  </a:lnTo>
                  <a:lnTo>
                    <a:pt x="203650" y="588391"/>
                  </a:lnTo>
                  <a:lnTo>
                    <a:pt x="156914" y="668560"/>
                  </a:lnTo>
                  <a:lnTo>
                    <a:pt x="156914" y="774319"/>
                  </a:lnTo>
                  <a:lnTo>
                    <a:pt x="161389" y="774319"/>
                  </a:lnTo>
                  <a:lnTo>
                    <a:pt x="253053" y="617220"/>
                  </a:lnTo>
                  <a:lnTo>
                    <a:pt x="256678" y="606500"/>
                  </a:lnTo>
                  <a:lnTo>
                    <a:pt x="255958" y="595566"/>
                  </a:lnTo>
                  <a:lnTo>
                    <a:pt x="251213" y="585680"/>
                  </a:lnTo>
                  <a:lnTo>
                    <a:pt x="242766" y="578104"/>
                  </a:lnTo>
                  <a:lnTo>
                    <a:pt x="232046" y="574478"/>
                  </a:lnTo>
                  <a:close/>
                </a:path>
                <a:path extrusionOk="0" h="831214" w="257175">
                  <a:moveTo>
                    <a:pt x="128339" y="717577"/>
                  </a:moveTo>
                  <a:lnTo>
                    <a:pt x="103701" y="759841"/>
                  </a:lnTo>
                  <a:lnTo>
                    <a:pt x="152977" y="759841"/>
                  </a:lnTo>
                  <a:lnTo>
                    <a:pt x="128339" y="717577"/>
                  </a:lnTo>
                  <a:close/>
                </a:path>
                <a:path extrusionOk="0" h="831214" w="257175">
                  <a:moveTo>
                    <a:pt x="156914" y="668560"/>
                  </a:moveTo>
                  <a:lnTo>
                    <a:pt x="128339" y="717577"/>
                  </a:lnTo>
                  <a:lnTo>
                    <a:pt x="152977" y="759841"/>
                  </a:lnTo>
                  <a:lnTo>
                    <a:pt x="156914" y="759841"/>
                  </a:lnTo>
                  <a:lnTo>
                    <a:pt x="156914" y="668560"/>
                  </a:lnTo>
                  <a:close/>
                </a:path>
                <a:path extrusionOk="0" h="831214" w="257175">
                  <a:moveTo>
                    <a:pt x="156914" y="0"/>
                  </a:moveTo>
                  <a:lnTo>
                    <a:pt x="99764" y="0"/>
                  </a:lnTo>
                  <a:lnTo>
                    <a:pt x="99764" y="668560"/>
                  </a:lnTo>
                  <a:lnTo>
                    <a:pt x="128339" y="717577"/>
                  </a:lnTo>
                  <a:lnTo>
                    <a:pt x="156914" y="668560"/>
                  </a:lnTo>
                  <a:lnTo>
                    <a:pt x="156914" y="0"/>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655" name="Google Shape;655;p87"/>
            <p:cNvSpPr/>
            <p:nvPr/>
          </p:nvSpPr>
          <p:spPr>
            <a:xfrm>
              <a:off x="8228075" y="3515867"/>
              <a:ext cx="582930" cy="2440305"/>
            </a:xfrm>
            <a:custGeom>
              <a:rect b="b" l="l" r="r" t="t"/>
              <a:pathLst>
                <a:path extrusionOk="0" h="2440304" w="582929">
                  <a:moveTo>
                    <a:pt x="582549" y="23495"/>
                  </a:moveTo>
                  <a:lnTo>
                    <a:pt x="0" y="21336"/>
                  </a:lnTo>
                </a:path>
                <a:path extrusionOk="0" h="2440304" w="582929">
                  <a:moveTo>
                    <a:pt x="566927" y="797560"/>
                  </a:moveTo>
                  <a:lnTo>
                    <a:pt x="566927" y="0"/>
                  </a:lnTo>
                </a:path>
                <a:path extrusionOk="0" h="2440304" w="582929">
                  <a:moveTo>
                    <a:pt x="566927" y="2439708"/>
                  </a:moveTo>
                  <a:lnTo>
                    <a:pt x="566927" y="1554480"/>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656" name="Google Shape;656;p87"/>
            <p:cNvSpPr/>
            <p:nvPr/>
          </p:nvSpPr>
          <p:spPr>
            <a:xfrm>
              <a:off x="8433434" y="4126991"/>
              <a:ext cx="171450" cy="1333500"/>
            </a:xfrm>
            <a:custGeom>
              <a:rect b="b" l="l" r="r" t="t"/>
              <a:pathLst>
                <a:path extrusionOk="0" h="1333500" w="171450">
                  <a:moveTo>
                    <a:pt x="57150" y="1161795"/>
                  </a:moveTo>
                  <a:lnTo>
                    <a:pt x="0" y="1161795"/>
                  </a:lnTo>
                  <a:lnTo>
                    <a:pt x="85725" y="1333245"/>
                  </a:lnTo>
                  <a:lnTo>
                    <a:pt x="157162" y="1190370"/>
                  </a:lnTo>
                  <a:lnTo>
                    <a:pt x="57150" y="1190370"/>
                  </a:lnTo>
                  <a:lnTo>
                    <a:pt x="57150" y="1161795"/>
                  </a:lnTo>
                  <a:close/>
                </a:path>
                <a:path extrusionOk="0" h="1333500" w="171450">
                  <a:moveTo>
                    <a:pt x="114300" y="0"/>
                  </a:moveTo>
                  <a:lnTo>
                    <a:pt x="57150" y="0"/>
                  </a:lnTo>
                  <a:lnTo>
                    <a:pt x="57150" y="1190370"/>
                  </a:lnTo>
                  <a:lnTo>
                    <a:pt x="114300" y="1190370"/>
                  </a:lnTo>
                  <a:lnTo>
                    <a:pt x="114300" y="0"/>
                  </a:lnTo>
                  <a:close/>
                </a:path>
                <a:path extrusionOk="0" h="1333500" w="171450">
                  <a:moveTo>
                    <a:pt x="171450" y="1161795"/>
                  </a:moveTo>
                  <a:lnTo>
                    <a:pt x="114300" y="1161795"/>
                  </a:lnTo>
                  <a:lnTo>
                    <a:pt x="114300" y="1190370"/>
                  </a:lnTo>
                  <a:lnTo>
                    <a:pt x="157162" y="1190370"/>
                  </a:lnTo>
                  <a:lnTo>
                    <a:pt x="171450" y="1161795"/>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grpSp>
      <p:grpSp>
        <p:nvGrpSpPr>
          <p:cNvPr id="657" name="Google Shape;657;p87"/>
          <p:cNvGrpSpPr/>
          <p:nvPr/>
        </p:nvGrpSpPr>
        <p:grpSpPr>
          <a:xfrm>
            <a:off x="7119951" y="1955456"/>
            <a:ext cx="569341" cy="2752161"/>
            <a:chOff x="10276967" y="3667378"/>
            <a:chExt cx="569341" cy="2752161"/>
          </a:xfrm>
        </p:grpSpPr>
        <p:pic>
          <p:nvPicPr>
            <p:cNvPr id="658" name="Google Shape;658;p87"/>
            <p:cNvPicPr preferRelativeResize="0"/>
            <p:nvPr/>
          </p:nvPicPr>
          <p:blipFill rotWithShape="1">
            <a:blip r:embed="rId5">
              <a:alphaModFix/>
            </a:blip>
            <a:srcRect b="0" l="0" r="0" t="0"/>
            <a:stretch/>
          </p:blipFill>
          <p:spPr>
            <a:xfrm>
              <a:off x="10394776" y="5884515"/>
              <a:ext cx="400440" cy="535024"/>
            </a:xfrm>
            <a:prstGeom prst="rect">
              <a:avLst/>
            </a:prstGeom>
            <a:noFill/>
            <a:ln cap="flat" cmpd="sng" w="9525">
              <a:solidFill>
                <a:schemeClr val="lt1"/>
              </a:solidFill>
              <a:prstDash val="solid"/>
              <a:round/>
              <a:headEnd len="sm" w="sm" type="none"/>
              <a:tailEnd len="sm" w="sm" type="none"/>
            </a:ln>
          </p:spPr>
        </p:pic>
        <p:pic>
          <p:nvPicPr>
            <p:cNvPr id="659" name="Google Shape;659;p87"/>
            <p:cNvPicPr preferRelativeResize="0"/>
            <p:nvPr/>
          </p:nvPicPr>
          <p:blipFill rotWithShape="1">
            <a:blip r:embed="rId8">
              <a:alphaModFix/>
            </a:blip>
            <a:srcRect b="0" l="0" r="0" t="0"/>
            <a:stretch/>
          </p:blipFill>
          <p:spPr>
            <a:xfrm>
              <a:off x="10392537" y="5196839"/>
              <a:ext cx="453771" cy="827532"/>
            </a:xfrm>
            <a:prstGeom prst="rect">
              <a:avLst/>
            </a:prstGeom>
            <a:noFill/>
            <a:ln cap="flat" cmpd="sng" w="9525">
              <a:solidFill>
                <a:schemeClr val="lt1"/>
              </a:solidFill>
              <a:prstDash val="solid"/>
              <a:round/>
              <a:headEnd len="sm" w="sm" type="none"/>
              <a:tailEnd len="sm" w="sm" type="none"/>
            </a:ln>
          </p:spPr>
        </p:pic>
        <p:sp>
          <p:nvSpPr>
            <p:cNvPr id="660" name="Google Shape;660;p87"/>
            <p:cNvSpPr/>
            <p:nvPr/>
          </p:nvSpPr>
          <p:spPr>
            <a:xfrm>
              <a:off x="10276967" y="3667378"/>
              <a:ext cx="410845" cy="1789430"/>
            </a:xfrm>
            <a:custGeom>
              <a:rect b="b" l="l" r="r" t="t"/>
              <a:pathLst>
                <a:path extrusionOk="0" h="1789429" w="410845">
                  <a:moveTo>
                    <a:pt x="85725" y="1703324"/>
                  </a:moveTo>
                  <a:lnTo>
                    <a:pt x="57150" y="1703324"/>
                  </a:lnTo>
                  <a:lnTo>
                    <a:pt x="57150" y="455803"/>
                  </a:lnTo>
                  <a:lnTo>
                    <a:pt x="28575" y="455803"/>
                  </a:lnTo>
                  <a:lnTo>
                    <a:pt x="28575" y="1703324"/>
                  </a:lnTo>
                  <a:lnTo>
                    <a:pt x="0" y="1703324"/>
                  </a:lnTo>
                  <a:lnTo>
                    <a:pt x="42799" y="1789049"/>
                  </a:lnTo>
                  <a:lnTo>
                    <a:pt x="78536" y="1717675"/>
                  </a:lnTo>
                  <a:lnTo>
                    <a:pt x="85725" y="1703324"/>
                  </a:lnTo>
                  <a:close/>
                </a:path>
                <a:path extrusionOk="0" h="1789429" w="410845">
                  <a:moveTo>
                    <a:pt x="410311" y="149694"/>
                  </a:moveTo>
                  <a:lnTo>
                    <a:pt x="407924" y="142494"/>
                  </a:lnTo>
                  <a:lnTo>
                    <a:pt x="346824" y="37846"/>
                  </a:lnTo>
                  <a:lnTo>
                    <a:pt x="324739" y="0"/>
                  </a:lnTo>
                  <a:lnTo>
                    <a:pt x="241554" y="142494"/>
                  </a:lnTo>
                  <a:lnTo>
                    <a:pt x="239153" y="149694"/>
                  </a:lnTo>
                  <a:lnTo>
                    <a:pt x="239649" y="157010"/>
                  </a:lnTo>
                  <a:lnTo>
                    <a:pt x="242798" y="163614"/>
                  </a:lnTo>
                  <a:lnTo>
                    <a:pt x="248412" y="168656"/>
                  </a:lnTo>
                  <a:lnTo>
                    <a:pt x="255600" y="171056"/>
                  </a:lnTo>
                  <a:lnTo>
                    <a:pt x="262915" y="170561"/>
                  </a:lnTo>
                  <a:lnTo>
                    <a:pt x="269519" y="167411"/>
                  </a:lnTo>
                  <a:lnTo>
                    <a:pt x="274574" y="161798"/>
                  </a:lnTo>
                  <a:lnTo>
                    <a:pt x="305689" y="108470"/>
                  </a:lnTo>
                  <a:lnTo>
                    <a:pt x="305689" y="830961"/>
                  </a:lnTo>
                  <a:lnTo>
                    <a:pt x="343789" y="830961"/>
                  </a:lnTo>
                  <a:lnTo>
                    <a:pt x="343789" y="108470"/>
                  </a:lnTo>
                  <a:lnTo>
                    <a:pt x="374904" y="161798"/>
                  </a:lnTo>
                  <a:lnTo>
                    <a:pt x="379945" y="167411"/>
                  </a:lnTo>
                  <a:lnTo>
                    <a:pt x="386549" y="170561"/>
                  </a:lnTo>
                  <a:lnTo>
                    <a:pt x="393865" y="171056"/>
                  </a:lnTo>
                  <a:lnTo>
                    <a:pt x="401066" y="168656"/>
                  </a:lnTo>
                  <a:lnTo>
                    <a:pt x="406666" y="163614"/>
                  </a:lnTo>
                  <a:lnTo>
                    <a:pt x="409829" y="157010"/>
                  </a:lnTo>
                  <a:lnTo>
                    <a:pt x="410311" y="149694"/>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661" name="Google Shape;661;p87"/>
            <p:cNvPicPr preferRelativeResize="0"/>
            <p:nvPr/>
          </p:nvPicPr>
          <p:blipFill rotWithShape="1">
            <a:blip r:embed="rId9">
              <a:alphaModFix/>
            </a:blip>
            <a:srcRect b="0" l="0" r="0" t="0"/>
            <a:stretch/>
          </p:blipFill>
          <p:spPr>
            <a:xfrm>
              <a:off x="10391013" y="4494275"/>
              <a:ext cx="453771" cy="826008"/>
            </a:xfrm>
            <a:prstGeom prst="rect">
              <a:avLst/>
            </a:prstGeom>
            <a:noFill/>
            <a:ln cap="flat" cmpd="sng" w="9525">
              <a:solidFill>
                <a:schemeClr val="lt1"/>
              </a:solidFill>
              <a:prstDash val="solid"/>
              <a:round/>
              <a:headEnd len="sm" w="sm" type="none"/>
              <a:tailEnd len="sm" w="sm" type="none"/>
            </a:ln>
          </p:spPr>
        </p:pic>
      </p:grpSp>
      <p:sp>
        <p:nvSpPr>
          <p:cNvPr id="662" name="Google Shape;662;p87"/>
          <p:cNvSpPr txBox="1"/>
          <p:nvPr/>
        </p:nvSpPr>
        <p:spPr>
          <a:xfrm>
            <a:off x="3155719" y="2533935"/>
            <a:ext cx="407034"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R1</a:t>
            </a:r>
            <a:endParaRPr b="0" i="0" sz="2400" u="none" cap="none" strike="noStrike">
              <a:solidFill>
                <a:schemeClr val="dk1"/>
              </a:solidFill>
              <a:latin typeface="Cambria"/>
              <a:ea typeface="Cambria"/>
              <a:cs typeface="Cambria"/>
              <a:sym typeface="Cambria"/>
            </a:endParaRPr>
          </a:p>
        </p:txBody>
      </p:sp>
      <p:sp>
        <p:nvSpPr>
          <p:cNvPr id="663" name="Google Shape;663;p87"/>
          <p:cNvSpPr txBox="1"/>
          <p:nvPr/>
        </p:nvSpPr>
        <p:spPr>
          <a:xfrm>
            <a:off x="2361192" y="3389977"/>
            <a:ext cx="527133"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Vs</a:t>
            </a:r>
            <a:endParaRPr b="0" i="0" sz="2400" u="none" cap="none" strike="noStrike">
              <a:solidFill>
                <a:schemeClr val="dk1"/>
              </a:solidFill>
              <a:latin typeface="Cambria"/>
              <a:ea typeface="Cambria"/>
              <a:cs typeface="Cambria"/>
              <a:sym typeface="Cambria"/>
            </a:endParaRPr>
          </a:p>
        </p:txBody>
      </p:sp>
      <p:sp>
        <p:nvSpPr>
          <p:cNvPr id="664" name="Google Shape;664;p87"/>
          <p:cNvSpPr txBox="1"/>
          <p:nvPr/>
        </p:nvSpPr>
        <p:spPr>
          <a:xfrm>
            <a:off x="3591663" y="3383959"/>
            <a:ext cx="13208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endParaRPr b="0" i="0" sz="2400" u="none" cap="none" strike="noStrike">
              <a:solidFill>
                <a:schemeClr val="dk1"/>
              </a:solidFill>
              <a:latin typeface="Cambria"/>
              <a:ea typeface="Cambria"/>
              <a:cs typeface="Cambria"/>
              <a:sym typeface="Cambria"/>
            </a:endParaRPr>
          </a:p>
        </p:txBody>
      </p:sp>
      <p:sp>
        <p:nvSpPr>
          <p:cNvPr id="665" name="Google Shape;665;p87"/>
          <p:cNvSpPr txBox="1"/>
          <p:nvPr/>
        </p:nvSpPr>
        <p:spPr>
          <a:xfrm>
            <a:off x="880327" y="2557831"/>
            <a:ext cx="407034"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R1</a:t>
            </a:r>
            <a:endParaRPr b="0" i="0" sz="2400" u="none" cap="none" strike="noStrike">
              <a:solidFill>
                <a:schemeClr val="dk1"/>
              </a:solidFill>
              <a:latin typeface="Cambria"/>
              <a:ea typeface="Cambria"/>
              <a:cs typeface="Cambria"/>
              <a:sym typeface="Cambria"/>
            </a:endParaRPr>
          </a:p>
        </p:txBody>
      </p:sp>
      <p:sp>
        <p:nvSpPr>
          <p:cNvPr id="666" name="Google Shape;666;p87"/>
          <p:cNvSpPr txBox="1"/>
          <p:nvPr/>
        </p:nvSpPr>
        <p:spPr>
          <a:xfrm>
            <a:off x="11976" y="3340871"/>
            <a:ext cx="538938"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Vs</a:t>
            </a:r>
            <a:endParaRPr b="0" i="0" sz="2400" u="none" cap="none" strike="noStrike">
              <a:solidFill>
                <a:schemeClr val="dk1"/>
              </a:solidFill>
              <a:latin typeface="Cambria"/>
              <a:ea typeface="Cambria"/>
              <a:cs typeface="Cambria"/>
              <a:sym typeface="Cambria"/>
            </a:endParaRPr>
          </a:p>
        </p:txBody>
      </p:sp>
      <p:sp>
        <p:nvSpPr>
          <p:cNvPr id="667" name="Google Shape;667;p87"/>
          <p:cNvSpPr txBox="1"/>
          <p:nvPr/>
        </p:nvSpPr>
        <p:spPr>
          <a:xfrm>
            <a:off x="1298587" y="3331867"/>
            <a:ext cx="1320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endParaRPr b="0" i="0" sz="2400" u="none" cap="none" strike="noStrike">
              <a:solidFill>
                <a:schemeClr val="dk1"/>
              </a:solidFill>
              <a:latin typeface="Cambria"/>
              <a:ea typeface="Cambria"/>
              <a:cs typeface="Cambria"/>
              <a:sym typeface="Cambria"/>
            </a:endParaRPr>
          </a:p>
        </p:txBody>
      </p:sp>
      <p:sp>
        <p:nvSpPr>
          <p:cNvPr id="668" name="Google Shape;668;p87"/>
          <p:cNvSpPr txBox="1"/>
          <p:nvPr/>
        </p:nvSpPr>
        <p:spPr>
          <a:xfrm>
            <a:off x="4871506" y="2510519"/>
            <a:ext cx="407034"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R1</a:t>
            </a:r>
            <a:endParaRPr b="0" i="0" sz="2400" u="none" cap="none" strike="noStrike">
              <a:solidFill>
                <a:schemeClr val="dk1"/>
              </a:solidFill>
              <a:latin typeface="Cambria"/>
              <a:ea typeface="Cambria"/>
              <a:cs typeface="Cambria"/>
              <a:sym typeface="Cambria"/>
            </a:endParaRPr>
          </a:p>
        </p:txBody>
      </p:sp>
      <p:sp>
        <p:nvSpPr>
          <p:cNvPr id="669" name="Google Shape;669;p87"/>
          <p:cNvSpPr txBox="1"/>
          <p:nvPr/>
        </p:nvSpPr>
        <p:spPr>
          <a:xfrm>
            <a:off x="5291285" y="3389346"/>
            <a:ext cx="1320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endParaRPr b="0" i="0" sz="2400" u="none" cap="none" strike="noStrike">
              <a:solidFill>
                <a:schemeClr val="dk1"/>
              </a:solidFill>
              <a:latin typeface="Cambria"/>
              <a:ea typeface="Cambria"/>
              <a:cs typeface="Cambria"/>
              <a:sym typeface="Cambria"/>
            </a:endParaRPr>
          </a:p>
        </p:txBody>
      </p:sp>
      <p:sp>
        <p:nvSpPr>
          <p:cNvPr id="670" name="Google Shape;670;p87"/>
          <p:cNvSpPr txBox="1"/>
          <p:nvPr/>
        </p:nvSpPr>
        <p:spPr>
          <a:xfrm>
            <a:off x="4062367" y="3427050"/>
            <a:ext cx="453771" cy="75148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R2	</a:t>
            </a:r>
            <a:endParaRPr b="0" i="0" sz="2400" u="none" cap="none" strike="noStrike">
              <a:solidFill>
                <a:schemeClr val="dk1"/>
              </a:solidFill>
              <a:latin typeface="Cambria"/>
              <a:ea typeface="Cambria"/>
              <a:cs typeface="Cambria"/>
              <a:sym typeface="Cambria"/>
            </a:endParaRPr>
          </a:p>
        </p:txBody>
      </p:sp>
      <p:sp>
        <p:nvSpPr>
          <p:cNvPr id="671" name="Google Shape;671;p87"/>
          <p:cNvSpPr txBox="1"/>
          <p:nvPr/>
        </p:nvSpPr>
        <p:spPr>
          <a:xfrm>
            <a:off x="5772524" y="3347104"/>
            <a:ext cx="413757" cy="382156"/>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R2</a:t>
            </a:r>
            <a:endParaRPr b="0" i="0" sz="2400" u="none" cap="none" strike="noStrike">
              <a:solidFill>
                <a:schemeClr val="dk1"/>
              </a:solidFill>
              <a:latin typeface="Cambria"/>
              <a:ea typeface="Cambria"/>
              <a:cs typeface="Cambria"/>
              <a:sym typeface="Cambria"/>
            </a:endParaRPr>
          </a:p>
        </p:txBody>
      </p:sp>
      <p:sp>
        <p:nvSpPr>
          <p:cNvPr id="672" name="Google Shape;672;p87"/>
          <p:cNvSpPr txBox="1"/>
          <p:nvPr/>
        </p:nvSpPr>
        <p:spPr>
          <a:xfrm>
            <a:off x="1788702" y="3358254"/>
            <a:ext cx="407034"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R2</a:t>
            </a:r>
            <a:endParaRPr b="0" i="0" sz="2400" u="none" cap="none" strike="noStrike">
              <a:solidFill>
                <a:schemeClr val="dk1"/>
              </a:solidFill>
              <a:latin typeface="Cambria"/>
              <a:ea typeface="Cambria"/>
              <a:cs typeface="Cambria"/>
              <a:sym typeface="Cambria"/>
            </a:endParaRPr>
          </a:p>
        </p:txBody>
      </p:sp>
      <p:sp>
        <p:nvSpPr>
          <p:cNvPr id="673" name="Google Shape;673;p87"/>
          <p:cNvSpPr txBox="1"/>
          <p:nvPr/>
        </p:nvSpPr>
        <p:spPr>
          <a:xfrm>
            <a:off x="7549861" y="2992164"/>
            <a:ext cx="407034"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R1</a:t>
            </a:r>
            <a:endParaRPr b="0" i="0" sz="2400" u="none" cap="none" strike="noStrike">
              <a:solidFill>
                <a:schemeClr val="dk1"/>
              </a:solidFill>
              <a:latin typeface="Cambria"/>
              <a:ea typeface="Cambria"/>
              <a:cs typeface="Cambria"/>
              <a:sym typeface="Cambria"/>
            </a:endParaRPr>
          </a:p>
        </p:txBody>
      </p:sp>
      <p:sp>
        <p:nvSpPr>
          <p:cNvPr id="674" name="Google Shape;674;p87"/>
          <p:cNvSpPr txBox="1"/>
          <p:nvPr/>
        </p:nvSpPr>
        <p:spPr>
          <a:xfrm>
            <a:off x="4587382" y="3298787"/>
            <a:ext cx="484377"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Vs</a:t>
            </a:r>
            <a:endParaRPr b="0" i="0" sz="2400" u="none" cap="none" strike="noStrike">
              <a:solidFill>
                <a:schemeClr val="dk1"/>
              </a:solidFill>
              <a:latin typeface="Cambria"/>
              <a:ea typeface="Cambria"/>
              <a:cs typeface="Cambria"/>
              <a:sym typeface="Cambria"/>
            </a:endParaRPr>
          </a:p>
        </p:txBody>
      </p:sp>
      <p:sp>
        <p:nvSpPr>
          <p:cNvPr id="675" name="Google Shape;675;p87"/>
          <p:cNvSpPr txBox="1"/>
          <p:nvPr/>
        </p:nvSpPr>
        <p:spPr>
          <a:xfrm>
            <a:off x="6961455" y="3000377"/>
            <a:ext cx="1320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endParaRPr b="0" i="0" sz="2400" u="none" cap="none" strike="noStrike">
              <a:solidFill>
                <a:schemeClr val="dk1"/>
              </a:solidFill>
              <a:latin typeface="Cambria"/>
              <a:ea typeface="Cambria"/>
              <a:cs typeface="Cambria"/>
              <a:sym typeface="Cambria"/>
            </a:endParaRPr>
          </a:p>
        </p:txBody>
      </p:sp>
      <p:sp>
        <p:nvSpPr>
          <p:cNvPr id="676" name="Google Shape;676;p87"/>
          <p:cNvSpPr txBox="1"/>
          <p:nvPr/>
        </p:nvSpPr>
        <p:spPr>
          <a:xfrm>
            <a:off x="7549861" y="3763159"/>
            <a:ext cx="407034"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R2</a:t>
            </a:r>
            <a:endParaRPr b="0" i="0" sz="2400" u="none" cap="none" strike="noStrike">
              <a:solidFill>
                <a:schemeClr val="dk1"/>
              </a:solidFill>
              <a:latin typeface="Cambria"/>
              <a:ea typeface="Cambria"/>
              <a:cs typeface="Cambria"/>
              <a:sym typeface="Cambria"/>
            </a:endParaRPr>
          </a:p>
        </p:txBody>
      </p:sp>
      <p:sp>
        <p:nvSpPr>
          <p:cNvPr id="677" name="Google Shape;677;p87"/>
          <p:cNvSpPr/>
          <p:nvPr/>
        </p:nvSpPr>
        <p:spPr>
          <a:xfrm>
            <a:off x="5752176" y="2638486"/>
            <a:ext cx="1098096" cy="229849"/>
          </a:xfrm>
          <a:custGeom>
            <a:rect b="b" l="l" r="r" t="t"/>
            <a:pathLst>
              <a:path extrusionOk="0" h="462279" w="1744345">
                <a:moveTo>
                  <a:pt x="855853" y="1269"/>
                </a:moveTo>
                <a:lnTo>
                  <a:pt x="793990" y="5239"/>
                </a:lnTo>
                <a:lnTo>
                  <a:pt x="733712" y="11856"/>
                </a:lnTo>
                <a:lnTo>
                  <a:pt x="675191" y="21014"/>
                </a:lnTo>
                <a:lnTo>
                  <a:pt x="618598" y="32605"/>
                </a:lnTo>
                <a:lnTo>
                  <a:pt x="564106" y="46523"/>
                </a:lnTo>
                <a:lnTo>
                  <a:pt x="511885" y="62661"/>
                </a:lnTo>
                <a:lnTo>
                  <a:pt x="462108" y="80912"/>
                </a:lnTo>
                <a:lnTo>
                  <a:pt x="414945" y="101169"/>
                </a:lnTo>
                <a:lnTo>
                  <a:pt x="370569" y="123324"/>
                </a:lnTo>
                <a:lnTo>
                  <a:pt x="329152" y="147272"/>
                </a:lnTo>
                <a:lnTo>
                  <a:pt x="290864" y="172904"/>
                </a:lnTo>
                <a:lnTo>
                  <a:pt x="255878" y="200115"/>
                </a:lnTo>
                <a:lnTo>
                  <a:pt x="224365" y="228796"/>
                </a:lnTo>
                <a:lnTo>
                  <a:pt x="196497" y="258842"/>
                </a:lnTo>
                <a:lnTo>
                  <a:pt x="172446" y="290145"/>
                </a:lnTo>
                <a:lnTo>
                  <a:pt x="152382" y="322598"/>
                </a:lnTo>
                <a:lnTo>
                  <a:pt x="124906" y="390526"/>
                </a:lnTo>
                <a:lnTo>
                  <a:pt x="115443" y="461771"/>
                </a:lnTo>
                <a:lnTo>
                  <a:pt x="0" y="461771"/>
                </a:lnTo>
                <a:lnTo>
                  <a:pt x="8654" y="393537"/>
                </a:lnTo>
                <a:lnTo>
                  <a:pt x="33795" y="328411"/>
                </a:lnTo>
                <a:lnTo>
                  <a:pt x="74185" y="267106"/>
                </a:lnTo>
                <a:lnTo>
                  <a:pt x="99714" y="238110"/>
                </a:lnTo>
                <a:lnTo>
                  <a:pt x="128591" y="210338"/>
                </a:lnTo>
                <a:lnTo>
                  <a:pt x="160663" y="183878"/>
                </a:lnTo>
                <a:lnTo>
                  <a:pt x="195776" y="158821"/>
                </a:lnTo>
                <a:lnTo>
                  <a:pt x="233775" y="135255"/>
                </a:lnTo>
                <a:lnTo>
                  <a:pt x="274505" y="113269"/>
                </a:lnTo>
                <a:lnTo>
                  <a:pt x="317812" y="92953"/>
                </a:lnTo>
                <a:lnTo>
                  <a:pt x="363542" y="74397"/>
                </a:lnTo>
                <a:lnTo>
                  <a:pt x="411541" y="57690"/>
                </a:lnTo>
                <a:lnTo>
                  <a:pt x="461653" y="42920"/>
                </a:lnTo>
                <a:lnTo>
                  <a:pt x="513724" y="30178"/>
                </a:lnTo>
                <a:lnTo>
                  <a:pt x="567601" y="19552"/>
                </a:lnTo>
                <a:lnTo>
                  <a:pt x="623128" y="11132"/>
                </a:lnTo>
                <a:lnTo>
                  <a:pt x="680151" y="5007"/>
                </a:lnTo>
                <a:lnTo>
                  <a:pt x="738516" y="1266"/>
                </a:lnTo>
                <a:lnTo>
                  <a:pt x="798068" y="0"/>
                </a:lnTo>
                <a:lnTo>
                  <a:pt x="913511" y="0"/>
                </a:lnTo>
                <a:lnTo>
                  <a:pt x="973716" y="1305"/>
                </a:lnTo>
                <a:lnTo>
                  <a:pt x="1032882" y="5166"/>
                </a:lnTo>
                <a:lnTo>
                  <a:pt x="1090822" y="11498"/>
                </a:lnTo>
                <a:lnTo>
                  <a:pt x="1147351" y="20219"/>
                </a:lnTo>
                <a:lnTo>
                  <a:pt x="1202281" y="31245"/>
                </a:lnTo>
                <a:lnTo>
                  <a:pt x="1255427" y="44492"/>
                </a:lnTo>
                <a:lnTo>
                  <a:pt x="1306604" y="59877"/>
                </a:lnTo>
                <a:lnTo>
                  <a:pt x="1355624" y="77316"/>
                </a:lnTo>
                <a:lnTo>
                  <a:pt x="1402302" y="96726"/>
                </a:lnTo>
                <a:lnTo>
                  <a:pt x="1446451" y="118023"/>
                </a:lnTo>
                <a:lnTo>
                  <a:pt x="1487887" y="141125"/>
                </a:lnTo>
                <a:lnTo>
                  <a:pt x="1526422" y="165946"/>
                </a:lnTo>
                <a:lnTo>
                  <a:pt x="1561871" y="192405"/>
                </a:lnTo>
                <a:lnTo>
                  <a:pt x="1594047" y="220417"/>
                </a:lnTo>
                <a:lnTo>
                  <a:pt x="1622764" y="249898"/>
                </a:lnTo>
                <a:lnTo>
                  <a:pt x="1647837" y="280767"/>
                </a:lnTo>
                <a:lnTo>
                  <a:pt x="1669080" y="312938"/>
                </a:lnTo>
                <a:lnTo>
                  <a:pt x="1686306" y="346328"/>
                </a:lnTo>
                <a:lnTo>
                  <a:pt x="1743964" y="346328"/>
                </a:lnTo>
                <a:lnTo>
                  <a:pt x="1653920" y="461771"/>
                </a:lnTo>
                <a:lnTo>
                  <a:pt x="1513078" y="346328"/>
                </a:lnTo>
                <a:lnTo>
                  <a:pt x="1570863" y="346328"/>
                </a:lnTo>
                <a:lnTo>
                  <a:pt x="1553637" y="312938"/>
                </a:lnTo>
                <a:lnTo>
                  <a:pt x="1532394" y="280767"/>
                </a:lnTo>
                <a:lnTo>
                  <a:pt x="1507321" y="249898"/>
                </a:lnTo>
                <a:lnTo>
                  <a:pt x="1478604" y="220417"/>
                </a:lnTo>
                <a:lnTo>
                  <a:pt x="1446428" y="192405"/>
                </a:lnTo>
                <a:lnTo>
                  <a:pt x="1410979" y="165946"/>
                </a:lnTo>
                <a:lnTo>
                  <a:pt x="1372444" y="141125"/>
                </a:lnTo>
                <a:lnTo>
                  <a:pt x="1331008" y="118023"/>
                </a:lnTo>
                <a:lnTo>
                  <a:pt x="1286859" y="96726"/>
                </a:lnTo>
                <a:lnTo>
                  <a:pt x="1240181" y="77316"/>
                </a:lnTo>
                <a:lnTo>
                  <a:pt x="1191161" y="59877"/>
                </a:lnTo>
                <a:lnTo>
                  <a:pt x="1139984" y="44492"/>
                </a:lnTo>
                <a:lnTo>
                  <a:pt x="1086838" y="31245"/>
                </a:lnTo>
                <a:lnTo>
                  <a:pt x="1031908" y="20219"/>
                </a:lnTo>
                <a:lnTo>
                  <a:pt x="975379" y="11498"/>
                </a:lnTo>
                <a:lnTo>
                  <a:pt x="917439" y="5166"/>
                </a:lnTo>
                <a:lnTo>
                  <a:pt x="858273" y="1305"/>
                </a:lnTo>
                <a:lnTo>
                  <a:pt x="798068" y="0"/>
                </a:lnTo>
              </a:path>
            </a:pathLst>
          </a:custGeom>
          <a:noFill/>
          <a:ln cap="flat" cmpd="sng" w="12700">
            <a:solidFill>
              <a:srgbClr val="0070C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797FF"/>
              </a:solidFill>
              <a:latin typeface="Lustria"/>
              <a:ea typeface="Lustria"/>
              <a:cs typeface="Lustria"/>
              <a:sym typeface="Lustr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8"/>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683" name="Google Shape;683;p88"/>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684" name="Google Shape;684;p88"/>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685" name="Google Shape;685;p88"/>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686" name="Google Shape;686;p88"/>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687" name="Google Shape;687;p88"/>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688" name="Google Shape;688;p88"/>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1</a:t>
            </a:r>
            <a:endParaRPr/>
          </a:p>
        </p:txBody>
      </p:sp>
      <p:sp>
        <p:nvSpPr>
          <p:cNvPr id="689" name="Google Shape;689;p88"/>
          <p:cNvSpPr txBox="1"/>
          <p:nvPr/>
        </p:nvSpPr>
        <p:spPr>
          <a:xfrm>
            <a:off x="199390" y="931078"/>
            <a:ext cx="8592070" cy="628377"/>
          </a:xfrm>
          <a:prstGeom prst="rect">
            <a:avLst/>
          </a:prstGeom>
          <a:noFill/>
          <a:ln>
            <a:noFill/>
          </a:ln>
        </p:spPr>
        <p:txBody>
          <a:bodyPr anchorCtr="0" anchor="t" bIns="0" lIns="0" spcFirstLastPara="1" rIns="0" wrap="square" tIns="12700">
            <a:spAutoFit/>
          </a:bodyPr>
          <a:lstStyle/>
          <a:p>
            <a:pPr indent="0" lvl="0" marL="12065"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Times New Roman"/>
                <a:ea typeface="Times New Roman"/>
                <a:cs typeface="Times New Roman"/>
                <a:sym typeface="Times New Roman"/>
              </a:rPr>
              <a:t>Question: Find the line diagram of the given circuit with voltage sources of opposite polarities.</a:t>
            </a:r>
            <a:endParaRPr b="0" i="0" sz="2000" u="none" cap="none" strike="noStrike">
              <a:solidFill>
                <a:schemeClr val="dk1"/>
              </a:solidFill>
              <a:latin typeface="Times New Roman"/>
              <a:ea typeface="Times New Roman"/>
              <a:cs typeface="Times New Roman"/>
              <a:sym typeface="Times New Roman"/>
            </a:endParaRPr>
          </a:p>
        </p:txBody>
      </p:sp>
      <p:grpSp>
        <p:nvGrpSpPr>
          <p:cNvPr id="690" name="Google Shape;690;p88"/>
          <p:cNvGrpSpPr/>
          <p:nvPr/>
        </p:nvGrpSpPr>
        <p:grpSpPr>
          <a:xfrm>
            <a:off x="1959609" y="1602791"/>
            <a:ext cx="5040905" cy="2803800"/>
            <a:chOff x="81938" y="1757443"/>
            <a:chExt cx="5047442" cy="2832978"/>
          </a:xfrm>
        </p:grpSpPr>
        <p:grpSp>
          <p:nvGrpSpPr>
            <p:cNvPr id="691" name="Google Shape;691;p88"/>
            <p:cNvGrpSpPr/>
            <p:nvPr/>
          </p:nvGrpSpPr>
          <p:grpSpPr>
            <a:xfrm>
              <a:off x="81938" y="2117846"/>
              <a:ext cx="4437340" cy="2472575"/>
              <a:chOff x="596458" y="1559598"/>
              <a:chExt cx="4788333" cy="3113973"/>
            </a:xfrm>
          </p:grpSpPr>
          <p:pic>
            <p:nvPicPr>
              <p:cNvPr id="692" name="Google Shape;692;p88"/>
              <p:cNvPicPr preferRelativeResize="0"/>
              <p:nvPr/>
            </p:nvPicPr>
            <p:blipFill rotWithShape="1">
              <a:blip r:embed="rId4">
                <a:alphaModFix/>
              </a:blip>
              <a:srcRect b="0" l="0" r="0" t="0"/>
              <a:stretch/>
            </p:blipFill>
            <p:spPr>
              <a:xfrm>
                <a:off x="2745746" y="4143169"/>
                <a:ext cx="448613" cy="530402"/>
              </a:xfrm>
              <a:prstGeom prst="rect">
                <a:avLst/>
              </a:prstGeom>
              <a:noFill/>
              <a:ln cap="flat" cmpd="sng" w="9525">
                <a:solidFill>
                  <a:schemeClr val="dk1"/>
                </a:solidFill>
                <a:prstDash val="solid"/>
                <a:round/>
                <a:headEnd len="sm" w="sm" type="none"/>
                <a:tailEnd len="sm" w="sm" type="none"/>
              </a:ln>
            </p:spPr>
          </p:pic>
          <p:pic>
            <p:nvPicPr>
              <p:cNvPr id="693" name="Google Shape;693;p88"/>
              <p:cNvPicPr preferRelativeResize="0"/>
              <p:nvPr/>
            </p:nvPicPr>
            <p:blipFill rotWithShape="1">
              <a:blip r:embed="rId5">
                <a:alphaModFix/>
              </a:blip>
              <a:srcRect b="0" l="0" r="0" t="0"/>
              <a:stretch/>
            </p:blipFill>
            <p:spPr>
              <a:xfrm>
                <a:off x="596458" y="2342659"/>
                <a:ext cx="923469" cy="1169155"/>
              </a:xfrm>
              <a:prstGeom prst="rect">
                <a:avLst/>
              </a:prstGeom>
              <a:noFill/>
              <a:ln cap="flat" cmpd="sng" w="9525">
                <a:solidFill>
                  <a:schemeClr val="lt1"/>
                </a:solidFill>
                <a:prstDash val="solid"/>
                <a:round/>
                <a:headEnd len="sm" w="sm" type="none"/>
                <a:tailEnd len="sm" w="sm" type="none"/>
              </a:ln>
            </p:spPr>
          </p:pic>
          <p:pic>
            <p:nvPicPr>
              <p:cNvPr id="694" name="Google Shape;694;p88"/>
              <p:cNvPicPr preferRelativeResize="0"/>
              <p:nvPr/>
            </p:nvPicPr>
            <p:blipFill rotWithShape="1">
              <a:blip r:embed="rId6">
                <a:alphaModFix/>
              </a:blip>
              <a:srcRect b="0" l="0" r="0" t="0"/>
              <a:stretch/>
            </p:blipFill>
            <p:spPr>
              <a:xfrm>
                <a:off x="1079238" y="1559598"/>
                <a:ext cx="1207087" cy="277301"/>
              </a:xfrm>
              <a:prstGeom prst="rect">
                <a:avLst/>
              </a:prstGeom>
              <a:noFill/>
              <a:ln cap="flat" cmpd="sng" w="9525">
                <a:solidFill>
                  <a:schemeClr val="lt1"/>
                </a:solidFill>
                <a:prstDash val="solid"/>
                <a:round/>
                <a:headEnd len="sm" w="sm" type="none"/>
                <a:tailEnd len="sm" w="sm" type="none"/>
              </a:ln>
            </p:spPr>
          </p:pic>
          <p:sp>
            <p:nvSpPr>
              <p:cNvPr id="695" name="Google Shape;695;p88"/>
              <p:cNvSpPr/>
              <p:nvPr/>
            </p:nvSpPr>
            <p:spPr>
              <a:xfrm>
                <a:off x="1063751" y="1673351"/>
                <a:ext cx="0" cy="791845"/>
              </a:xfrm>
              <a:custGeom>
                <a:rect b="b" l="l" r="r" t="t"/>
                <a:pathLst>
                  <a:path extrusionOk="0" h="791844" w="120000">
                    <a:moveTo>
                      <a:pt x="0" y="791590"/>
                    </a:moveTo>
                    <a:lnTo>
                      <a:pt x="0" y="0"/>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696" name="Google Shape;696;p88"/>
              <p:cNvPicPr preferRelativeResize="0"/>
              <p:nvPr/>
            </p:nvPicPr>
            <p:blipFill rotWithShape="1">
              <a:blip r:embed="rId6">
                <a:alphaModFix/>
              </a:blip>
              <a:srcRect b="0" l="0" r="0" t="0"/>
              <a:stretch/>
            </p:blipFill>
            <p:spPr>
              <a:xfrm>
                <a:off x="3727950" y="1561122"/>
                <a:ext cx="1207087" cy="277301"/>
              </a:xfrm>
              <a:prstGeom prst="rect">
                <a:avLst/>
              </a:prstGeom>
              <a:noFill/>
              <a:ln cap="flat" cmpd="sng" w="9525">
                <a:solidFill>
                  <a:schemeClr val="lt1"/>
                </a:solidFill>
                <a:prstDash val="solid"/>
                <a:round/>
                <a:headEnd len="sm" w="sm" type="none"/>
                <a:tailEnd len="sm" w="sm" type="none"/>
              </a:ln>
            </p:spPr>
          </p:pic>
          <p:pic>
            <p:nvPicPr>
              <p:cNvPr id="697" name="Google Shape;697;p88"/>
              <p:cNvPicPr preferRelativeResize="0"/>
              <p:nvPr/>
            </p:nvPicPr>
            <p:blipFill rotWithShape="1">
              <a:blip r:embed="rId7">
                <a:alphaModFix/>
              </a:blip>
              <a:srcRect b="0" l="0" r="0" t="0"/>
              <a:stretch/>
            </p:blipFill>
            <p:spPr>
              <a:xfrm>
                <a:off x="4461322" y="2262621"/>
                <a:ext cx="923469" cy="1169155"/>
              </a:xfrm>
              <a:prstGeom prst="rect">
                <a:avLst/>
              </a:prstGeom>
              <a:noFill/>
              <a:ln cap="flat" cmpd="sng" w="9525">
                <a:solidFill>
                  <a:schemeClr val="lt1"/>
                </a:solidFill>
                <a:prstDash val="solid"/>
                <a:round/>
                <a:headEnd len="sm" w="sm" type="none"/>
                <a:tailEnd len="sm" w="sm" type="none"/>
              </a:ln>
            </p:spPr>
          </p:pic>
          <p:sp>
            <p:nvSpPr>
              <p:cNvPr id="698" name="Google Shape;698;p88"/>
              <p:cNvSpPr/>
              <p:nvPr/>
            </p:nvSpPr>
            <p:spPr>
              <a:xfrm>
                <a:off x="2232659" y="1680971"/>
                <a:ext cx="2696210" cy="791845"/>
              </a:xfrm>
              <a:custGeom>
                <a:rect b="b" l="l" r="r" t="t"/>
                <a:pathLst>
                  <a:path extrusionOk="0" h="791844" w="2696210">
                    <a:moveTo>
                      <a:pt x="2695955" y="791590"/>
                    </a:moveTo>
                    <a:lnTo>
                      <a:pt x="2695955" y="0"/>
                    </a:lnTo>
                  </a:path>
                  <a:path extrusionOk="0" h="791844" w="2696210">
                    <a:moveTo>
                      <a:pt x="1671827" y="13715"/>
                    </a:moveTo>
                    <a:lnTo>
                      <a:pt x="0" y="13715"/>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699" name="Google Shape;699;p88"/>
              <p:cNvPicPr preferRelativeResize="0"/>
              <p:nvPr/>
            </p:nvPicPr>
            <p:blipFill rotWithShape="1">
              <a:blip r:embed="rId8">
                <a:alphaModFix/>
              </a:blip>
              <a:srcRect b="0" l="0" r="0" t="0"/>
              <a:stretch/>
            </p:blipFill>
            <p:spPr>
              <a:xfrm>
                <a:off x="2820029" y="2349822"/>
                <a:ext cx="299366" cy="1115118"/>
              </a:xfrm>
              <a:prstGeom prst="rect">
                <a:avLst/>
              </a:prstGeom>
              <a:noFill/>
              <a:ln cap="flat" cmpd="sng" w="9525">
                <a:solidFill>
                  <a:schemeClr val="lt1"/>
                </a:solidFill>
                <a:prstDash val="solid"/>
                <a:round/>
                <a:headEnd len="sm" w="sm" type="none"/>
                <a:tailEnd len="sm" w="sm" type="none"/>
              </a:ln>
            </p:spPr>
          </p:pic>
          <p:sp>
            <p:nvSpPr>
              <p:cNvPr id="700" name="Google Shape;700;p88"/>
              <p:cNvSpPr/>
              <p:nvPr/>
            </p:nvSpPr>
            <p:spPr>
              <a:xfrm>
                <a:off x="1051559" y="1694687"/>
                <a:ext cx="3912235" cy="2460625"/>
              </a:xfrm>
              <a:custGeom>
                <a:rect b="b" l="l" r="r" t="t"/>
                <a:pathLst>
                  <a:path extrusionOk="0" h="2460625" w="3912235">
                    <a:moveTo>
                      <a:pt x="1911096" y="791590"/>
                    </a:moveTo>
                    <a:lnTo>
                      <a:pt x="1911096" y="0"/>
                    </a:lnTo>
                  </a:path>
                  <a:path extrusionOk="0" h="2460625" w="3912235">
                    <a:moveTo>
                      <a:pt x="12192" y="2460371"/>
                    </a:moveTo>
                    <a:lnTo>
                      <a:pt x="12192" y="1668779"/>
                    </a:lnTo>
                  </a:path>
                  <a:path extrusionOk="0" h="2460625" w="3912235">
                    <a:moveTo>
                      <a:pt x="1911096" y="2411730"/>
                    </a:moveTo>
                    <a:lnTo>
                      <a:pt x="1911096" y="1533144"/>
                    </a:lnTo>
                  </a:path>
                  <a:path extrusionOk="0" h="2460625" w="3912235">
                    <a:moveTo>
                      <a:pt x="3877055" y="2419604"/>
                    </a:moveTo>
                    <a:lnTo>
                      <a:pt x="3877055" y="1548384"/>
                    </a:lnTo>
                  </a:path>
                  <a:path extrusionOk="0" h="2460625" w="3912235">
                    <a:moveTo>
                      <a:pt x="0" y="2433828"/>
                    </a:moveTo>
                    <a:lnTo>
                      <a:pt x="3912235" y="2433828"/>
                    </a:lnTo>
                  </a:path>
                </a:pathLst>
              </a:custGeom>
              <a:noFill/>
              <a:ln cap="flat" cmpd="sng" w="5715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grpSp>
        <p:grpSp>
          <p:nvGrpSpPr>
            <p:cNvPr id="701" name="Google Shape;701;p88"/>
            <p:cNvGrpSpPr/>
            <p:nvPr/>
          </p:nvGrpSpPr>
          <p:grpSpPr>
            <a:xfrm>
              <a:off x="136183" y="1757443"/>
              <a:ext cx="4993197" cy="2366503"/>
              <a:chOff x="136183" y="1757443"/>
              <a:chExt cx="4993197" cy="2366503"/>
            </a:xfrm>
          </p:grpSpPr>
          <p:sp>
            <p:nvSpPr>
              <p:cNvPr id="702" name="Google Shape;702;p88"/>
              <p:cNvSpPr txBox="1"/>
              <p:nvPr/>
            </p:nvSpPr>
            <p:spPr>
              <a:xfrm>
                <a:off x="974122" y="2264314"/>
                <a:ext cx="790078" cy="382156"/>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R1</a:t>
                </a:r>
                <a:endParaRPr b="0" i="0" sz="2400" u="none" cap="none" strike="noStrike">
                  <a:solidFill>
                    <a:schemeClr val="dk1"/>
                  </a:solidFill>
                  <a:latin typeface="Cambria"/>
                  <a:ea typeface="Cambria"/>
                  <a:cs typeface="Cambria"/>
                  <a:sym typeface="Cambria"/>
                </a:endParaRPr>
              </a:p>
            </p:txBody>
          </p:sp>
          <p:sp>
            <p:nvSpPr>
              <p:cNvPr id="703" name="Google Shape;703;p88"/>
              <p:cNvSpPr txBox="1"/>
              <p:nvPr/>
            </p:nvSpPr>
            <p:spPr>
              <a:xfrm>
                <a:off x="930301" y="3042072"/>
                <a:ext cx="3981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5V</a:t>
                </a:r>
                <a:endParaRPr b="0" i="0" sz="2400" u="none" cap="none" strike="noStrike">
                  <a:solidFill>
                    <a:schemeClr val="dk1"/>
                  </a:solidFill>
                  <a:latin typeface="Cambria"/>
                  <a:ea typeface="Cambria"/>
                  <a:cs typeface="Cambria"/>
                  <a:sym typeface="Cambria"/>
                </a:endParaRPr>
              </a:p>
            </p:txBody>
          </p:sp>
          <p:sp>
            <p:nvSpPr>
              <p:cNvPr id="704" name="Google Shape;704;p88"/>
              <p:cNvSpPr txBox="1"/>
              <p:nvPr/>
            </p:nvSpPr>
            <p:spPr>
              <a:xfrm>
                <a:off x="4550260" y="2977992"/>
                <a:ext cx="57912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10V</a:t>
                </a:r>
                <a:endParaRPr b="0" i="0" sz="2400" u="none" cap="none" strike="noStrike">
                  <a:solidFill>
                    <a:schemeClr val="dk1"/>
                  </a:solidFill>
                  <a:latin typeface="Cambria"/>
                  <a:ea typeface="Cambria"/>
                  <a:cs typeface="Cambria"/>
                  <a:sym typeface="Cambria"/>
                </a:endParaRPr>
              </a:p>
            </p:txBody>
          </p:sp>
          <p:sp>
            <p:nvSpPr>
              <p:cNvPr id="705" name="Google Shape;705;p88"/>
              <p:cNvSpPr/>
              <p:nvPr/>
            </p:nvSpPr>
            <p:spPr>
              <a:xfrm>
                <a:off x="483626" y="1873506"/>
                <a:ext cx="3618865" cy="2250440"/>
              </a:xfrm>
              <a:custGeom>
                <a:rect b="b" l="l" r="r" t="t"/>
                <a:pathLst>
                  <a:path extrusionOk="0" h="2250440" w="3618865">
                    <a:moveTo>
                      <a:pt x="1346073" y="2078736"/>
                    </a:moveTo>
                    <a:lnTo>
                      <a:pt x="1288923" y="2078736"/>
                    </a:lnTo>
                    <a:lnTo>
                      <a:pt x="1288923" y="926973"/>
                    </a:lnTo>
                    <a:lnTo>
                      <a:pt x="1231773" y="926973"/>
                    </a:lnTo>
                    <a:lnTo>
                      <a:pt x="1231773" y="2078736"/>
                    </a:lnTo>
                    <a:lnTo>
                      <a:pt x="1174623" y="2078736"/>
                    </a:lnTo>
                    <a:lnTo>
                      <a:pt x="1260348" y="2250186"/>
                    </a:lnTo>
                    <a:lnTo>
                      <a:pt x="1331785" y="2107311"/>
                    </a:lnTo>
                    <a:lnTo>
                      <a:pt x="1346073" y="2078736"/>
                    </a:lnTo>
                    <a:close/>
                  </a:path>
                  <a:path extrusionOk="0" h="2250440" w="3618865">
                    <a:moveTo>
                      <a:pt x="1431671" y="85725"/>
                    </a:moveTo>
                    <a:lnTo>
                      <a:pt x="1374521" y="57150"/>
                    </a:lnTo>
                    <a:lnTo>
                      <a:pt x="1260221" y="0"/>
                    </a:lnTo>
                    <a:lnTo>
                      <a:pt x="1260221" y="57150"/>
                    </a:lnTo>
                    <a:lnTo>
                      <a:pt x="0" y="57150"/>
                    </a:lnTo>
                    <a:lnTo>
                      <a:pt x="0" y="114300"/>
                    </a:lnTo>
                    <a:lnTo>
                      <a:pt x="1260221" y="114300"/>
                    </a:lnTo>
                    <a:lnTo>
                      <a:pt x="1260221" y="171450"/>
                    </a:lnTo>
                    <a:lnTo>
                      <a:pt x="1374521" y="114300"/>
                    </a:lnTo>
                    <a:lnTo>
                      <a:pt x="1431671" y="85725"/>
                    </a:lnTo>
                    <a:close/>
                  </a:path>
                  <a:path extrusionOk="0" h="2250440" w="3618865">
                    <a:moveTo>
                      <a:pt x="3618611" y="85725"/>
                    </a:moveTo>
                    <a:lnTo>
                      <a:pt x="3561461" y="57150"/>
                    </a:lnTo>
                    <a:lnTo>
                      <a:pt x="3447161" y="0"/>
                    </a:lnTo>
                    <a:lnTo>
                      <a:pt x="3447161" y="57150"/>
                    </a:lnTo>
                    <a:lnTo>
                      <a:pt x="2186940" y="57150"/>
                    </a:lnTo>
                    <a:lnTo>
                      <a:pt x="2186940" y="114300"/>
                    </a:lnTo>
                    <a:lnTo>
                      <a:pt x="3447161" y="114300"/>
                    </a:lnTo>
                    <a:lnTo>
                      <a:pt x="3447161" y="171450"/>
                    </a:lnTo>
                    <a:lnTo>
                      <a:pt x="3561461" y="114300"/>
                    </a:lnTo>
                    <a:lnTo>
                      <a:pt x="3618611" y="85725"/>
                    </a:lnTo>
                    <a:close/>
                  </a:path>
                </a:pathLst>
              </a:custGeom>
              <a:solidFill>
                <a:srgbClr val="000000"/>
              </a:solid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ustria"/>
                  <a:ea typeface="Lustria"/>
                  <a:cs typeface="Lustria"/>
                  <a:sym typeface="Lustria"/>
                </a:endParaRPr>
              </a:p>
            </p:txBody>
          </p:sp>
          <p:sp>
            <p:nvSpPr>
              <p:cNvPr id="706" name="Google Shape;706;p88"/>
              <p:cNvSpPr txBox="1"/>
              <p:nvPr/>
            </p:nvSpPr>
            <p:spPr>
              <a:xfrm>
                <a:off x="136183" y="1803935"/>
                <a:ext cx="303530"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r>
                  <a:rPr b="1" baseline="-25000" i="0" lang="en-US" sz="2400" u="none" cap="none" strike="noStrike">
                    <a:solidFill>
                      <a:schemeClr val="dk1"/>
                    </a:solidFill>
                    <a:latin typeface="Cambria"/>
                    <a:ea typeface="Cambria"/>
                    <a:cs typeface="Cambria"/>
                    <a:sym typeface="Cambria"/>
                  </a:rPr>
                  <a:t>1</a:t>
                </a:r>
                <a:endParaRPr b="0" baseline="-25000" i="0" sz="2400" u="none" cap="none" strike="noStrike">
                  <a:solidFill>
                    <a:schemeClr val="dk1"/>
                  </a:solidFill>
                  <a:latin typeface="Cambria"/>
                  <a:ea typeface="Cambria"/>
                  <a:cs typeface="Cambria"/>
                  <a:sym typeface="Cambria"/>
                </a:endParaRPr>
              </a:p>
            </p:txBody>
          </p:sp>
          <p:sp>
            <p:nvSpPr>
              <p:cNvPr id="707" name="Google Shape;707;p88"/>
              <p:cNvSpPr txBox="1"/>
              <p:nvPr/>
            </p:nvSpPr>
            <p:spPr>
              <a:xfrm>
                <a:off x="1789908" y="2977992"/>
                <a:ext cx="303530"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r>
                  <a:rPr b="1" baseline="-25000" i="0" lang="en-US" sz="2400" u="none" cap="none" strike="noStrike">
                    <a:solidFill>
                      <a:schemeClr val="dk1"/>
                    </a:solidFill>
                    <a:latin typeface="Cambria"/>
                    <a:ea typeface="Cambria"/>
                    <a:cs typeface="Cambria"/>
                    <a:sym typeface="Cambria"/>
                  </a:rPr>
                  <a:t>2</a:t>
                </a:r>
                <a:endParaRPr b="0" baseline="-25000" i="0" sz="2400" u="none" cap="none" strike="noStrike">
                  <a:solidFill>
                    <a:schemeClr val="dk1"/>
                  </a:solidFill>
                  <a:latin typeface="Cambria"/>
                  <a:ea typeface="Cambria"/>
                  <a:cs typeface="Cambria"/>
                  <a:sym typeface="Cambria"/>
                </a:endParaRPr>
              </a:p>
            </p:txBody>
          </p:sp>
          <p:sp>
            <p:nvSpPr>
              <p:cNvPr id="708" name="Google Shape;708;p88"/>
              <p:cNvSpPr txBox="1"/>
              <p:nvPr/>
            </p:nvSpPr>
            <p:spPr>
              <a:xfrm>
                <a:off x="2382521" y="1757443"/>
                <a:ext cx="303530" cy="391795"/>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I</a:t>
                </a:r>
                <a:r>
                  <a:rPr b="1" baseline="-25000" i="0" lang="en-US" sz="2400" u="none" cap="none" strike="noStrike">
                    <a:solidFill>
                      <a:schemeClr val="dk1"/>
                    </a:solidFill>
                    <a:latin typeface="Cambria"/>
                    <a:ea typeface="Cambria"/>
                    <a:cs typeface="Cambria"/>
                    <a:sym typeface="Cambria"/>
                  </a:rPr>
                  <a:t>3</a:t>
                </a:r>
                <a:endParaRPr b="0" baseline="-25000" i="0" sz="2400" u="none" cap="none" strike="noStrike">
                  <a:solidFill>
                    <a:schemeClr val="dk1"/>
                  </a:solidFill>
                  <a:latin typeface="Cambria"/>
                  <a:ea typeface="Cambria"/>
                  <a:cs typeface="Cambria"/>
                  <a:sym typeface="Cambria"/>
                </a:endParaRPr>
              </a:p>
            </p:txBody>
          </p:sp>
        </p:grpSp>
      </p:grpSp>
      <p:sp>
        <p:nvSpPr>
          <p:cNvPr id="709" name="Google Shape;709;p88"/>
          <p:cNvSpPr txBox="1"/>
          <p:nvPr/>
        </p:nvSpPr>
        <p:spPr>
          <a:xfrm>
            <a:off x="5060925" y="2159323"/>
            <a:ext cx="789055" cy="382156"/>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R3</a:t>
            </a:r>
            <a:endParaRPr b="0" i="0" sz="2400" u="none" cap="none" strike="noStrike">
              <a:solidFill>
                <a:schemeClr val="dk1"/>
              </a:solidFill>
              <a:latin typeface="Cambria"/>
              <a:ea typeface="Cambria"/>
              <a:cs typeface="Cambria"/>
              <a:sym typeface="Cambria"/>
            </a:endParaRPr>
          </a:p>
        </p:txBody>
      </p:sp>
      <p:sp>
        <p:nvSpPr>
          <p:cNvPr id="710" name="Google Shape;710;p88"/>
          <p:cNvSpPr txBox="1"/>
          <p:nvPr/>
        </p:nvSpPr>
        <p:spPr>
          <a:xfrm>
            <a:off x="4357846" y="2813256"/>
            <a:ext cx="789055" cy="382156"/>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R2</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9"/>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716" name="Google Shape;716;p89"/>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717" name="Google Shape;717;p89"/>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718" name="Google Shape;718;p89"/>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719" name="Google Shape;719;p89"/>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720" name="Google Shape;720;p89"/>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721" name="Google Shape;721;p89"/>
          <p:cNvSpPr txBox="1"/>
          <p:nvPr>
            <p:ph type="ctrTitle"/>
          </p:nvPr>
        </p:nvSpPr>
        <p:spPr>
          <a:xfrm>
            <a:off x="81938" y="255587"/>
            <a:ext cx="8796248" cy="9352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1 (Solution)</a:t>
            </a:r>
            <a:endParaRPr/>
          </a:p>
        </p:txBody>
      </p:sp>
      <p:pic>
        <p:nvPicPr>
          <p:cNvPr id="722" name="Google Shape;722;p89"/>
          <p:cNvPicPr preferRelativeResize="0"/>
          <p:nvPr/>
        </p:nvPicPr>
        <p:blipFill rotWithShape="1">
          <a:blip r:embed="rId4">
            <a:alphaModFix/>
          </a:blip>
          <a:srcRect b="0" l="0" r="0" t="0"/>
          <a:stretch/>
        </p:blipFill>
        <p:spPr>
          <a:xfrm>
            <a:off x="477493" y="1030655"/>
            <a:ext cx="7487702" cy="352432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0"/>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728" name="Google Shape;728;p90"/>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729" name="Google Shape;729;p90"/>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730" name="Google Shape;730;p90"/>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731" name="Google Shape;731;p90"/>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732" name="Google Shape;732;p90"/>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733" name="Google Shape;733;p90"/>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2</a:t>
            </a:r>
            <a:endParaRPr/>
          </a:p>
        </p:txBody>
      </p:sp>
      <p:sp>
        <p:nvSpPr>
          <p:cNvPr id="734" name="Google Shape;734;p90"/>
          <p:cNvSpPr txBox="1"/>
          <p:nvPr/>
        </p:nvSpPr>
        <p:spPr>
          <a:xfrm>
            <a:off x="214017" y="985635"/>
            <a:ext cx="7877359" cy="1863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2000" u="none" cap="none" strike="noStrike">
                <a:solidFill>
                  <a:srgbClr val="000000"/>
                </a:solidFill>
                <a:latin typeface="Times New Roman"/>
                <a:ea typeface="Times New Roman"/>
                <a:cs typeface="Times New Roman"/>
                <a:sym typeface="Times New Roman"/>
              </a:rPr>
              <a:t>What if the circuit contains a current source/ floating voltage source!!!!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2000" u="none" cap="none" strike="noStrike">
                <a:solidFill>
                  <a:srgbClr val="000000"/>
                </a:solidFill>
                <a:latin typeface="Times New Roman"/>
                <a:ea typeface="Times New Roman"/>
                <a:cs typeface="Times New Roman"/>
                <a:sym typeface="Times New Roman"/>
              </a:rPr>
              <a:t>Solution: Keep them as they 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rPr b="0" i="0" lang="en-US" sz="2000" u="none" cap="none" strike="noStrike">
                <a:solidFill>
                  <a:srgbClr val="000000"/>
                </a:solidFill>
                <a:latin typeface="Times New Roman"/>
                <a:ea typeface="Times New Roman"/>
                <a:cs typeface="Times New Roman"/>
                <a:sym typeface="Times New Roman"/>
              </a:rPr>
              <a:t>Question: </a:t>
            </a:r>
            <a:r>
              <a:rPr b="0" i="0" lang="en-US" sz="2000" u="none" cap="none" strike="noStrike">
                <a:solidFill>
                  <a:schemeClr val="dk1"/>
                </a:solidFill>
                <a:latin typeface="Times New Roman"/>
                <a:ea typeface="Times New Roman"/>
                <a:cs typeface="Times New Roman"/>
                <a:sym typeface="Times New Roman"/>
              </a:rPr>
              <a:t>Find the line diagram of the given circuit.</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300"/>
              <a:buFont typeface="Arial"/>
              <a:buNone/>
            </a:pPr>
            <a:r>
              <a:t/>
            </a:r>
            <a:endParaRPr b="0" i="0" sz="2000" u="none" cap="small" strike="noStrike">
              <a:solidFill>
                <a:srgbClr val="FFFFFF"/>
              </a:solidFill>
              <a:latin typeface="Times New Roman"/>
              <a:ea typeface="Times New Roman"/>
              <a:cs typeface="Times New Roman"/>
              <a:sym typeface="Times New Roman"/>
            </a:endParaRPr>
          </a:p>
        </p:txBody>
      </p:sp>
      <p:pic>
        <p:nvPicPr>
          <p:cNvPr id="735" name="Google Shape;735;p90"/>
          <p:cNvPicPr preferRelativeResize="0"/>
          <p:nvPr/>
        </p:nvPicPr>
        <p:blipFill rotWithShape="1">
          <a:blip r:embed="rId4">
            <a:alphaModFix/>
          </a:blip>
          <a:srcRect b="0" l="0" r="0" t="0"/>
          <a:stretch/>
        </p:blipFill>
        <p:spPr>
          <a:xfrm>
            <a:off x="2163953" y="2400439"/>
            <a:ext cx="4239217" cy="2286319"/>
          </a:xfrm>
          <a:prstGeom prst="rect">
            <a:avLst/>
          </a:prstGeom>
          <a:noFill/>
          <a:ln>
            <a:noFill/>
          </a:ln>
        </p:spPr>
      </p:pic>
      <p:sp>
        <p:nvSpPr>
          <p:cNvPr id="736" name="Google Shape;736;p90"/>
          <p:cNvSpPr txBox="1"/>
          <p:nvPr/>
        </p:nvSpPr>
        <p:spPr>
          <a:xfrm>
            <a:off x="2739020" y="4363904"/>
            <a:ext cx="65104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1A</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91"/>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742" name="Google Shape;742;p91"/>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743" name="Google Shape;743;p91"/>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744" name="Google Shape;744;p91"/>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745" name="Google Shape;745;p91"/>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746" name="Google Shape;746;p91"/>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747" name="Google Shape;747;p91"/>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2 (Solution)</a:t>
            </a:r>
            <a:endParaRPr/>
          </a:p>
        </p:txBody>
      </p:sp>
      <p:grpSp>
        <p:nvGrpSpPr>
          <p:cNvPr id="748" name="Google Shape;748;p91"/>
          <p:cNvGrpSpPr/>
          <p:nvPr/>
        </p:nvGrpSpPr>
        <p:grpSpPr>
          <a:xfrm>
            <a:off x="1963566" y="1291995"/>
            <a:ext cx="3539591" cy="3302868"/>
            <a:chOff x="7141622" y="1450135"/>
            <a:chExt cx="3539591" cy="3302868"/>
          </a:xfrm>
        </p:grpSpPr>
        <p:pic>
          <p:nvPicPr>
            <p:cNvPr id="749" name="Google Shape;749;p91"/>
            <p:cNvPicPr preferRelativeResize="0"/>
            <p:nvPr/>
          </p:nvPicPr>
          <p:blipFill rotWithShape="1">
            <a:blip r:embed="rId4">
              <a:alphaModFix/>
            </a:blip>
            <a:srcRect b="0" l="0" r="0" t="0"/>
            <a:stretch/>
          </p:blipFill>
          <p:spPr>
            <a:xfrm>
              <a:off x="8659683" y="4316202"/>
              <a:ext cx="412483" cy="436801"/>
            </a:xfrm>
            <a:prstGeom prst="rect">
              <a:avLst/>
            </a:prstGeom>
            <a:noFill/>
            <a:ln cap="flat" cmpd="sng" w="9525">
              <a:solidFill>
                <a:schemeClr val="lt1"/>
              </a:solidFill>
              <a:prstDash val="solid"/>
              <a:round/>
              <a:headEnd len="sm" w="sm" type="none"/>
              <a:tailEnd len="sm" w="sm" type="none"/>
            </a:ln>
          </p:spPr>
        </p:pic>
        <p:pic>
          <p:nvPicPr>
            <p:cNvPr id="750" name="Google Shape;750;p91"/>
            <p:cNvPicPr preferRelativeResize="0"/>
            <p:nvPr/>
          </p:nvPicPr>
          <p:blipFill rotWithShape="1">
            <a:blip r:embed="rId5">
              <a:alphaModFix/>
            </a:blip>
            <a:srcRect b="0" l="0" r="0" t="0"/>
            <a:stretch/>
          </p:blipFill>
          <p:spPr>
            <a:xfrm>
              <a:off x="8739029" y="2098160"/>
              <a:ext cx="274916" cy="915853"/>
            </a:xfrm>
            <a:prstGeom prst="rect">
              <a:avLst/>
            </a:prstGeom>
            <a:noFill/>
            <a:ln cap="flat" cmpd="sng" w="9525">
              <a:solidFill>
                <a:schemeClr val="lt1"/>
              </a:solidFill>
              <a:prstDash val="solid"/>
              <a:round/>
              <a:headEnd len="sm" w="sm" type="none"/>
              <a:tailEnd len="sm" w="sm" type="none"/>
            </a:ln>
          </p:spPr>
        </p:pic>
        <p:pic>
          <p:nvPicPr>
            <p:cNvPr id="751" name="Google Shape;751;p91"/>
            <p:cNvPicPr preferRelativeResize="0"/>
            <p:nvPr/>
          </p:nvPicPr>
          <p:blipFill rotWithShape="1">
            <a:blip r:embed="rId6">
              <a:alphaModFix/>
            </a:blip>
            <a:srcRect b="0" l="0" r="0" t="0"/>
            <a:stretch/>
          </p:blipFill>
          <p:spPr>
            <a:xfrm>
              <a:off x="9572481" y="1451659"/>
              <a:ext cx="1108732" cy="227208"/>
            </a:xfrm>
            <a:prstGeom prst="rect">
              <a:avLst/>
            </a:prstGeom>
            <a:noFill/>
            <a:ln cap="flat" cmpd="sng" w="9525">
              <a:solidFill>
                <a:schemeClr val="lt1"/>
              </a:solidFill>
              <a:prstDash val="solid"/>
              <a:round/>
              <a:headEnd len="sm" w="sm" type="none"/>
              <a:tailEnd len="sm" w="sm" type="none"/>
            </a:ln>
          </p:spPr>
        </p:pic>
        <p:pic>
          <p:nvPicPr>
            <p:cNvPr id="752" name="Google Shape;752;p91"/>
            <p:cNvPicPr preferRelativeResize="0"/>
            <p:nvPr/>
          </p:nvPicPr>
          <p:blipFill rotWithShape="1">
            <a:blip r:embed="rId6">
              <a:alphaModFix/>
            </a:blip>
            <a:srcRect b="0" l="0" r="0" t="0"/>
            <a:stretch/>
          </p:blipFill>
          <p:spPr>
            <a:xfrm>
              <a:off x="7141622" y="1450135"/>
              <a:ext cx="1107454" cy="227208"/>
            </a:xfrm>
            <a:prstGeom prst="rect">
              <a:avLst/>
            </a:prstGeom>
            <a:noFill/>
            <a:ln cap="flat" cmpd="sng" w="9525">
              <a:solidFill>
                <a:schemeClr val="lt1"/>
              </a:solidFill>
              <a:prstDash val="solid"/>
              <a:round/>
              <a:headEnd len="sm" w="sm" type="none"/>
              <a:tailEnd len="sm" w="sm" type="none"/>
            </a:ln>
          </p:spPr>
        </p:pic>
        <p:sp>
          <p:nvSpPr>
            <p:cNvPr id="753" name="Google Shape;753;p91"/>
            <p:cNvSpPr/>
            <p:nvPr/>
          </p:nvSpPr>
          <p:spPr>
            <a:xfrm>
              <a:off x="8199881" y="1561338"/>
              <a:ext cx="1535430" cy="650240"/>
            </a:xfrm>
            <a:custGeom>
              <a:rect b="b" l="l" r="r" t="t"/>
              <a:pathLst>
                <a:path extrusionOk="0" h="650239" w="1535429">
                  <a:moveTo>
                    <a:pt x="1535049" y="0"/>
                  </a:moveTo>
                  <a:lnTo>
                    <a:pt x="0" y="0"/>
                  </a:lnTo>
                </a:path>
                <a:path extrusionOk="0" h="650239" w="1535429">
                  <a:moveTo>
                    <a:pt x="670560" y="650113"/>
                  </a:moveTo>
                  <a:lnTo>
                    <a:pt x="670560" y="0"/>
                  </a:lnTo>
                </a:path>
              </a:pathLst>
            </a:custGeom>
            <a:noFill/>
            <a:ln cap="flat" cmpd="sng" w="3810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grpSp>
      <p:grpSp>
        <p:nvGrpSpPr>
          <p:cNvPr id="754" name="Google Shape;754;p91"/>
          <p:cNvGrpSpPr/>
          <p:nvPr/>
        </p:nvGrpSpPr>
        <p:grpSpPr>
          <a:xfrm>
            <a:off x="1587614" y="1311523"/>
            <a:ext cx="4488104" cy="3374914"/>
            <a:chOff x="6765670" y="1469663"/>
            <a:chExt cx="4488104" cy="3374914"/>
          </a:xfrm>
        </p:grpSpPr>
        <p:sp>
          <p:nvSpPr>
            <p:cNvPr id="755" name="Google Shape;755;p91"/>
            <p:cNvSpPr/>
            <p:nvPr/>
          </p:nvSpPr>
          <p:spPr>
            <a:xfrm>
              <a:off x="6765670" y="1469663"/>
              <a:ext cx="452120" cy="171450"/>
            </a:xfrm>
            <a:custGeom>
              <a:rect b="b" l="l" r="r" t="t"/>
              <a:pathLst>
                <a:path extrusionOk="0" h="171450" w="452120">
                  <a:moveTo>
                    <a:pt x="149689" y="0"/>
                  </a:moveTo>
                  <a:lnTo>
                    <a:pt x="142493" y="2393"/>
                  </a:lnTo>
                  <a:lnTo>
                    <a:pt x="0" y="85578"/>
                  </a:lnTo>
                  <a:lnTo>
                    <a:pt x="142493" y="168763"/>
                  </a:lnTo>
                  <a:lnTo>
                    <a:pt x="149689" y="171156"/>
                  </a:lnTo>
                  <a:lnTo>
                    <a:pt x="157003" y="170668"/>
                  </a:lnTo>
                  <a:lnTo>
                    <a:pt x="163603" y="167513"/>
                  </a:lnTo>
                  <a:lnTo>
                    <a:pt x="168655" y="161905"/>
                  </a:lnTo>
                  <a:lnTo>
                    <a:pt x="171049" y="154709"/>
                  </a:lnTo>
                  <a:lnTo>
                    <a:pt x="170560" y="147395"/>
                  </a:lnTo>
                  <a:lnTo>
                    <a:pt x="167405" y="140795"/>
                  </a:lnTo>
                  <a:lnTo>
                    <a:pt x="161797" y="135743"/>
                  </a:lnTo>
                  <a:lnTo>
                    <a:pt x="108457" y="104628"/>
                  </a:lnTo>
                  <a:lnTo>
                    <a:pt x="37845" y="104628"/>
                  </a:lnTo>
                  <a:lnTo>
                    <a:pt x="37845" y="66528"/>
                  </a:lnTo>
                  <a:lnTo>
                    <a:pt x="108457" y="66528"/>
                  </a:lnTo>
                  <a:lnTo>
                    <a:pt x="161797" y="35413"/>
                  </a:lnTo>
                  <a:lnTo>
                    <a:pt x="167405" y="30360"/>
                  </a:lnTo>
                  <a:lnTo>
                    <a:pt x="170560" y="23760"/>
                  </a:lnTo>
                  <a:lnTo>
                    <a:pt x="171049" y="16446"/>
                  </a:lnTo>
                  <a:lnTo>
                    <a:pt x="168655" y="9251"/>
                  </a:lnTo>
                  <a:lnTo>
                    <a:pt x="163603" y="3643"/>
                  </a:lnTo>
                  <a:lnTo>
                    <a:pt x="157003" y="488"/>
                  </a:lnTo>
                  <a:lnTo>
                    <a:pt x="149689" y="0"/>
                  </a:lnTo>
                  <a:close/>
                </a:path>
                <a:path extrusionOk="0" h="171450" w="452120">
                  <a:moveTo>
                    <a:pt x="108457" y="66528"/>
                  </a:moveTo>
                  <a:lnTo>
                    <a:pt x="37845" y="66528"/>
                  </a:lnTo>
                  <a:lnTo>
                    <a:pt x="37845" y="104628"/>
                  </a:lnTo>
                  <a:lnTo>
                    <a:pt x="108457" y="104628"/>
                  </a:lnTo>
                  <a:lnTo>
                    <a:pt x="104103" y="102088"/>
                  </a:lnTo>
                  <a:lnTo>
                    <a:pt x="47497" y="102088"/>
                  </a:lnTo>
                  <a:lnTo>
                    <a:pt x="47497" y="69068"/>
                  </a:lnTo>
                  <a:lnTo>
                    <a:pt x="104103" y="69068"/>
                  </a:lnTo>
                  <a:lnTo>
                    <a:pt x="108457" y="66528"/>
                  </a:lnTo>
                  <a:close/>
                </a:path>
                <a:path extrusionOk="0" h="171450" w="452120">
                  <a:moveTo>
                    <a:pt x="451992" y="66528"/>
                  </a:moveTo>
                  <a:lnTo>
                    <a:pt x="108457" y="66528"/>
                  </a:lnTo>
                  <a:lnTo>
                    <a:pt x="75800" y="85578"/>
                  </a:lnTo>
                  <a:lnTo>
                    <a:pt x="108457" y="104628"/>
                  </a:lnTo>
                  <a:lnTo>
                    <a:pt x="451992" y="104628"/>
                  </a:lnTo>
                  <a:lnTo>
                    <a:pt x="451992" y="66528"/>
                  </a:lnTo>
                  <a:close/>
                </a:path>
                <a:path extrusionOk="0" h="171450" w="452120">
                  <a:moveTo>
                    <a:pt x="47497" y="69068"/>
                  </a:moveTo>
                  <a:lnTo>
                    <a:pt x="47497" y="102088"/>
                  </a:lnTo>
                  <a:lnTo>
                    <a:pt x="75800" y="85578"/>
                  </a:lnTo>
                  <a:lnTo>
                    <a:pt x="47497" y="69068"/>
                  </a:lnTo>
                  <a:close/>
                </a:path>
                <a:path extrusionOk="0" h="171450" w="452120">
                  <a:moveTo>
                    <a:pt x="75800" y="85578"/>
                  </a:moveTo>
                  <a:lnTo>
                    <a:pt x="47497" y="102088"/>
                  </a:lnTo>
                  <a:lnTo>
                    <a:pt x="104103" y="102088"/>
                  </a:lnTo>
                  <a:lnTo>
                    <a:pt x="75800" y="85578"/>
                  </a:lnTo>
                  <a:close/>
                </a:path>
                <a:path extrusionOk="0" h="171450" w="452120">
                  <a:moveTo>
                    <a:pt x="104103" y="69068"/>
                  </a:moveTo>
                  <a:lnTo>
                    <a:pt x="47497" y="69068"/>
                  </a:lnTo>
                  <a:lnTo>
                    <a:pt x="75800" y="85578"/>
                  </a:lnTo>
                  <a:lnTo>
                    <a:pt x="104103" y="69068"/>
                  </a:lnTo>
                  <a:close/>
                </a:path>
              </a:pathLst>
            </a:custGeom>
            <a:solidFill>
              <a:srgbClr val="0000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756" name="Google Shape;756;p91"/>
            <p:cNvPicPr preferRelativeResize="0"/>
            <p:nvPr/>
          </p:nvPicPr>
          <p:blipFill rotWithShape="1">
            <a:blip r:embed="rId7">
              <a:alphaModFix/>
            </a:blip>
            <a:srcRect b="0" l="0" r="0" t="0"/>
            <a:stretch/>
          </p:blipFill>
          <p:spPr>
            <a:xfrm>
              <a:off x="8851391" y="2788920"/>
              <a:ext cx="1048511" cy="766571"/>
            </a:xfrm>
            <a:prstGeom prst="rect">
              <a:avLst/>
            </a:prstGeom>
            <a:noFill/>
            <a:ln cap="flat" cmpd="sng" w="9525">
              <a:solidFill>
                <a:schemeClr val="lt1"/>
              </a:solidFill>
              <a:prstDash val="solid"/>
              <a:round/>
              <a:headEnd len="sm" w="sm" type="none"/>
              <a:tailEnd len="sm" w="sm" type="none"/>
            </a:ln>
          </p:spPr>
        </p:pic>
        <p:sp>
          <p:nvSpPr>
            <p:cNvPr id="757" name="Google Shape;757;p91"/>
            <p:cNvSpPr/>
            <p:nvPr/>
          </p:nvSpPr>
          <p:spPr>
            <a:xfrm>
              <a:off x="10685525" y="1544574"/>
              <a:ext cx="0" cy="1691639"/>
            </a:xfrm>
            <a:custGeom>
              <a:rect b="b" l="l" r="r" t="t"/>
              <a:pathLst>
                <a:path extrusionOk="0" h="1691639" w="120000">
                  <a:moveTo>
                    <a:pt x="0" y="1691639"/>
                  </a:moveTo>
                  <a:lnTo>
                    <a:pt x="0" y="0"/>
                  </a:lnTo>
                </a:path>
              </a:pathLst>
            </a:custGeom>
            <a:noFill/>
            <a:ln cap="flat" cmpd="sng" w="3810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758" name="Google Shape;758;p91"/>
            <p:cNvPicPr preferRelativeResize="0"/>
            <p:nvPr/>
          </p:nvPicPr>
          <p:blipFill rotWithShape="1">
            <a:blip r:embed="rId8">
              <a:alphaModFix/>
            </a:blip>
            <a:srcRect b="0" l="0" r="0" t="0"/>
            <a:stretch/>
          </p:blipFill>
          <p:spPr>
            <a:xfrm>
              <a:off x="10193071" y="1790700"/>
              <a:ext cx="1014983" cy="1092708"/>
            </a:xfrm>
            <a:prstGeom prst="rect">
              <a:avLst/>
            </a:prstGeom>
            <a:noFill/>
            <a:ln cap="flat" cmpd="sng" w="9525">
              <a:solidFill>
                <a:schemeClr val="lt1"/>
              </a:solidFill>
              <a:prstDash val="solid"/>
              <a:round/>
              <a:headEnd len="sm" w="sm" type="none"/>
              <a:tailEnd len="sm" w="sm" type="none"/>
            </a:ln>
          </p:spPr>
        </p:pic>
        <p:sp>
          <p:nvSpPr>
            <p:cNvPr id="759" name="Google Shape;759;p91"/>
            <p:cNvSpPr/>
            <p:nvPr/>
          </p:nvSpPr>
          <p:spPr>
            <a:xfrm>
              <a:off x="9896093" y="3202686"/>
              <a:ext cx="808355" cy="3175"/>
            </a:xfrm>
            <a:custGeom>
              <a:rect b="b" l="l" r="r" t="t"/>
              <a:pathLst>
                <a:path extrusionOk="0" h="3175" w="808354">
                  <a:moveTo>
                    <a:pt x="808227" y="3048"/>
                  </a:moveTo>
                  <a:lnTo>
                    <a:pt x="0" y="0"/>
                  </a:lnTo>
                </a:path>
              </a:pathLst>
            </a:custGeom>
            <a:noFill/>
            <a:ln cap="flat" cmpd="sng" w="3810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pic>
          <p:nvPicPr>
            <p:cNvPr id="760" name="Google Shape;760;p91"/>
            <p:cNvPicPr preferRelativeResize="0"/>
            <p:nvPr/>
          </p:nvPicPr>
          <p:blipFill rotWithShape="1">
            <a:blip r:embed="rId4">
              <a:alphaModFix/>
            </a:blip>
            <a:srcRect b="0" l="0" r="0" t="0"/>
            <a:stretch/>
          </p:blipFill>
          <p:spPr>
            <a:xfrm>
              <a:off x="10483911" y="4408931"/>
              <a:ext cx="412483" cy="435646"/>
            </a:xfrm>
            <a:prstGeom prst="rect">
              <a:avLst/>
            </a:prstGeom>
            <a:solidFill>
              <a:schemeClr val="lt1"/>
            </a:solidFill>
            <a:ln cap="flat" cmpd="sng" w="9525">
              <a:solidFill>
                <a:schemeClr val="lt1"/>
              </a:solidFill>
              <a:prstDash val="solid"/>
              <a:round/>
              <a:headEnd len="sm" w="sm" type="none"/>
              <a:tailEnd len="sm" w="sm" type="none"/>
            </a:ln>
          </p:spPr>
        </p:pic>
        <p:pic>
          <p:nvPicPr>
            <p:cNvPr id="761" name="Google Shape;761;p91"/>
            <p:cNvPicPr preferRelativeResize="0"/>
            <p:nvPr/>
          </p:nvPicPr>
          <p:blipFill rotWithShape="1">
            <a:blip r:embed="rId9">
              <a:alphaModFix/>
            </a:blip>
            <a:srcRect b="0" l="0" r="0" t="0"/>
            <a:stretch/>
          </p:blipFill>
          <p:spPr>
            <a:xfrm>
              <a:off x="10170211" y="3230880"/>
              <a:ext cx="1083563" cy="1185672"/>
            </a:xfrm>
            <a:prstGeom prst="rect">
              <a:avLst/>
            </a:prstGeom>
            <a:noFill/>
            <a:ln cap="flat" cmpd="sng" w="9525">
              <a:solidFill>
                <a:schemeClr val="lt1"/>
              </a:solidFill>
              <a:prstDash val="solid"/>
              <a:round/>
              <a:headEnd len="sm" w="sm" type="none"/>
              <a:tailEnd len="sm" w="sm" type="none"/>
            </a:ln>
          </p:spPr>
        </p:pic>
        <p:pic>
          <p:nvPicPr>
            <p:cNvPr id="762" name="Google Shape;762;p91"/>
            <p:cNvPicPr preferRelativeResize="0"/>
            <p:nvPr/>
          </p:nvPicPr>
          <p:blipFill rotWithShape="1">
            <a:blip r:embed="rId10">
              <a:alphaModFix/>
            </a:blip>
            <a:srcRect b="0" l="0" r="0" t="0"/>
            <a:stretch/>
          </p:blipFill>
          <p:spPr>
            <a:xfrm>
              <a:off x="8538971" y="3514344"/>
              <a:ext cx="704087" cy="810767"/>
            </a:xfrm>
            <a:prstGeom prst="rect">
              <a:avLst/>
            </a:prstGeom>
            <a:noFill/>
            <a:ln cap="flat" cmpd="sng" w="9525">
              <a:solidFill>
                <a:schemeClr val="lt1"/>
              </a:solidFill>
              <a:prstDash val="solid"/>
              <a:round/>
              <a:headEnd len="sm" w="sm" type="none"/>
              <a:tailEnd len="sm" w="sm" type="none"/>
            </a:ln>
          </p:spPr>
        </p:pic>
      </p:grpSp>
      <p:sp>
        <p:nvSpPr>
          <p:cNvPr id="763" name="Google Shape;763;p91"/>
          <p:cNvSpPr txBox="1"/>
          <p:nvPr/>
        </p:nvSpPr>
        <p:spPr>
          <a:xfrm>
            <a:off x="1078452" y="1203682"/>
            <a:ext cx="397629" cy="38713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5V</a:t>
            </a:r>
            <a:endParaRPr b="0" i="0" sz="2400" u="none" cap="none" strike="noStrike">
              <a:solidFill>
                <a:schemeClr val="dk1"/>
              </a:solidFill>
              <a:latin typeface="Cambria"/>
              <a:ea typeface="Cambria"/>
              <a:cs typeface="Cambria"/>
              <a:sym typeface="Cambria"/>
            </a:endParaRPr>
          </a:p>
        </p:txBody>
      </p:sp>
      <p:sp>
        <p:nvSpPr>
          <p:cNvPr id="764" name="Google Shape;764;p91"/>
          <p:cNvSpPr txBox="1"/>
          <p:nvPr/>
        </p:nvSpPr>
        <p:spPr>
          <a:xfrm>
            <a:off x="6177736" y="2053438"/>
            <a:ext cx="65104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10V</a:t>
            </a:r>
            <a:endParaRPr b="0" i="0" sz="2400" u="none" cap="none" strike="noStrike">
              <a:solidFill>
                <a:schemeClr val="dk1"/>
              </a:solidFill>
              <a:latin typeface="Cambria"/>
              <a:ea typeface="Cambria"/>
              <a:cs typeface="Cambria"/>
              <a:sym typeface="Cambria"/>
            </a:endParaRPr>
          </a:p>
        </p:txBody>
      </p:sp>
      <p:sp>
        <p:nvSpPr>
          <p:cNvPr id="765" name="Google Shape;765;p91"/>
          <p:cNvSpPr txBox="1"/>
          <p:nvPr/>
        </p:nvSpPr>
        <p:spPr>
          <a:xfrm>
            <a:off x="6102180" y="3480764"/>
            <a:ext cx="65104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1A</a:t>
            </a:r>
            <a:endParaRPr b="0" i="0" sz="2400" u="none" cap="none" strike="noStrike">
              <a:solidFill>
                <a:schemeClr val="dk1"/>
              </a:solidFill>
              <a:latin typeface="Cambria"/>
              <a:ea typeface="Cambria"/>
              <a:cs typeface="Cambria"/>
              <a:sym typeface="Cambria"/>
            </a:endParaRPr>
          </a:p>
        </p:txBody>
      </p:sp>
      <p:sp>
        <p:nvSpPr>
          <p:cNvPr id="766" name="Google Shape;766;p91"/>
          <p:cNvSpPr txBox="1"/>
          <p:nvPr/>
        </p:nvSpPr>
        <p:spPr>
          <a:xfrm>
            <a:off x="212651" y="2211572"/>
            <a:ext cx="3041997" cy="19464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2000" u="none" cap="none" strike="noStrike">
                <a:solidFill>
                  <a:schemeClr val="dk1"/>
                </a:solidFill>
                <a:latin typeface="Times New Roman"/>
                <a:ea typeface="Times New Roman"/>
                <a:cs typeface="Times New Roman"/>
                <a:sym typeface="Times New Roman"/>
              </a:rPr>
              <a:t>Floating voltage sources: </a:t>
            </a:r>
            <a:r>
              <a:rPr b="0" i="0" lang="en-US" sz="2000" u="none" cap="none" strike="noStrike">
                <a:solidFill>
                  <a:schemeClr val="dk1"/>
                </a:solidFill>
                <a:latin typeface="Times New Roman"/>
                <a:ea typeface="Times New Roman"/>
                <a:cs typeface="Times New Roman"/>
                <a:sym typeface="Times New Roman"/>
              </a:rPr>
              <a:t>None of the terminals of the 10 V voltage source is connected to the reference i.e. ground node terminals.</a:t>
            </a:r>
            <a:endParaRPr b="0" i="0" sz="2000" u="none" cap="small"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92"/>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772" name="Google Shape;772;p92"/>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773" name="Google Shape;773;p92"/>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774" name="Google Shape;774;p92"/>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775" name="Google Shape;775;p92"/>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776" name="Google Shape;776;p92"/>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777" name="Google Shape;777;p92"/>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a:t>
            </a:r>
            <a:endParaRPr/>
          </a:p>
        </p:txBody>
      </p:sp>
      <p:grpSp>
        <p:nvGrpSpPr>
          <p:cNvPr id="778" name="Google Shape;778;p92"/>
          <p:cNvGrpSpPr/>
          <p:nvPr/>
        </p:nvGrpSpPr>
        <p:grpSpPr>
          <a:xfrm>
            <a:off x="1363382" y="1192260"/>
            <a:ext cx="5537148" cy="3515357"/>
            <a:chOff x="1363382" y="1192260"/>
            <a:chExt cx="5077534" cy="3448531"/>
          </a:xfrm>
        </p:grpSpPr>
        <p:pic>
          <p:nvPicPr>
            <p:cNvPr id="779" name="Google Shape;779;p92"/>
            <p:cNvPicPr preferRelativeResize="0"/>
            <p:nvPr/>
          </p:nvPicPr>
          <p:blipFill rotWithShape="1">
            <a:blip r:embed="rId4">
              <a:alphaModFix/>
            </a:blip>
            <a:srcRect b="0" l="0" r="0" t="0"/>
            <a:stretch/>
          </p:blipFill>
          <p:spPr>
            <a:xfrm>
              <a:off x="1363382" y="1192260"/>
              <a:ext cx="5077534" cy="3448531"/>
            </a:xfrm>
            <a:prstGeom prst="rect">
              <a:avLst/>
            </a:prstGeom>
            <a:noFill/>
            <a:ln>
              <a:noFill/>
            </a:ln>
          </p:spPr>
        </p:pic>
        <p:sp>
          <p:nvSpPr>
            <p:cNvPr id="780" name="Google Shape;780;p92"/>
            <p:cNvSpPr/>
            <p:nvPr/>
          </p:nvSpPr>
          <p:spPr>
            <a:xfrm>
              <a:off x="2392326" y="4146698"/>
              <a:ext cx="3444948" cy="27644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781" name="Google Shape;781;p92"/>
          <p:cNvSpPr txBox="1"/>
          <p:nvPr/>
        </p:nvSpPr>
        <p:spPr>
          <a:xfrm>
            <a:off x="946298" y="4203949"/>
            <a:ext cx="6379535" cy="4368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2000" u="none" cap="none" strike="noStrike">
                <a:solidFill>
                  <a:srgbClr val="000000"/>
                </a:solidFill>
                <a:latin typeface="Times New Roman"/>
                <a:ea typeface="Times New Roman"/>
                <a:cs typeface="Times New Roman"/>
                <a:sym typeface="Times New Roman"/>
              </a:rPr>
              <a:t>Can you write a KVL equation along this line?</a:t>
            </a:r>
            <a:endParaRPr b="0" i="0" sz="2000" u="none" cap="small"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93"/>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787" name="Google Shape;787;p93"/>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788" name="Google Shape;788;p93"/>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789" name="Google Shape;789;p93"/>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790" name="Google Shape;790;p93"/>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791" name="Google Shape;791;p93"/>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792" name="Google Shape;792;p93"/>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Practice Problems</a:t>
            </a:r>
            <a:endParaRPr/>
          </a:p>
        </p:txBody>
      </p:sp>
      <p:sp>
        <p:nvSpPr>
          <p:cNvPr id="793" name="Google Shape;793;p93"/>
          <p:cNvSpPr txBox="1"/>
          <p:nvPr/>
        </p:nvSpPr>
        <p:spPr>
          <a:xfrm>
            <a:off x="170204" y="1055371"/>
            <a:ext cx="8887450" cy="7737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800" u="none" cap="none" strike="noStrike">
                <a:solidFill>
                  <a:srgbClr val="000000"/>
                </a:solidFill>
                <a:latin typeface="Times New Roman"/>
                <a:ea typeface="Times New Roman"/>
                <a:cs typeface="Times New Roman"/>
                <a:sym typeface="Times New Roman"/>
              </a:rPr>
              <a:t>Questions:  i) Draw Alternative Circuit  Diagrams, ii) Write down KCL equations, iii) Write down KVL equations, and iv) Nodal equation</a:t>
            </a:r>
            <a:endParaRPr b="0" i="0" sz="1400" u="none" cap="none" strike="noStrike">
              <a:solidFill>
                <a:srgbClr val="000000"/>
              </a:solidFill>
              <a:latin typeface="Arial"/>
              <a:ea typeface="Arial"/>
              <a:cs typeface="Arial"/>
              <a:sym typeface="Arial"/>
            </a:endParaRPr>
          </a:p>
        </p:txBody>
      </p:sp>
      <p:pic>
        <p:nvPicPr>
          <p:cNvPr id="794" name="Google Shape;794;p93"/>
          <p:cNvPicPr preferRelativeResize="0"/>
          <p:nvPr/>
        </p:nvPicPr>
        <p:blipFill rotWithShape="1">
          <a:blip r:embed="rId4">
            <a:alphaModFix/>
          </a:blip>
          <a:srcRect b="0" l="0" r="0" t="0"/>
          <a:stretch/>
        </p:blipFill>
        <p:spPr>
          <a:xfrm>
            <a:off x="814999" y="1999327"/>
            <a:ext cx="3572374" cy="2687431"/>
          </a:xfrm>
          <a:prstGeom prst="rect">
            <a:avLst/>
          </a:prstGeom>
          <a:noFill/>
          <a:ln>
            <a:noFill/>
          </a:ln>
        </p:spPr>
      </p:pic>
      <p:pic>
        <p:nvPicPr>
          <p:cNvPr id="795" name="Google Shape;795;p93"/>
          <p:cNvPicPr preferRelativeResize="0"/>
          <p:nvPr/>
        </p:nvPicPr>
        <p:blipFill rotWithShape="1">
          <a:blip r:embed="rId5">
            <a:alphaModFix/>
          </a:blip>
          <a:srcRect b="0" l="0" r="0" t="0"/>
          <a:stretch/>
        </p:blipFill>
        <p:spPr>
          <a:xfrm>
            <a:off x="4827296" y="1992949"/>
            <a:ext cx="2948042" cy="266495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9" name="Shape 799"/>
        <p:cNvGrpSpPr/>
        <p:nvPr/>
      </p:nvGrpSpPr>
      <p:grpSpPr>
        <a:xfrm>
          <a:off x="0" y="0"/>
          <a:ext cx="0" cy="0"/>
          <a:chOff x="0" y="0"/>
          <a:chExt cx="0" cy="0"/>
        </a:xfrm>
      </p:grpSpPr>
      <p:sp>
        <p:nvSpPr>
          <p:cNvPr id="800" name="Google Shape;800;p94"/>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801" name="Google Shape;801;p94"/>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802" name="Google Shape;802;p94"/>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803" name="Google Shape;803;p94"/>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04" name="Google Shape;804;p94"/>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805" name="Google Shape;805;p94"/>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806" name="Google Shape;806;p94"/>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3</a:t>
            </a:r>
            <a:endParaRPr/>
          </a:p>
        </p:txBody>
      </p:sp>
      <p:sp>
        <p:nvSpPr>
          <p:cNvPr id="807" name="Google Shape;807;p94"/>
          <p:cNvSpPr txBox="1"/>
          <p:nvPr/>
        </p:nvSpPr>
        <p:spPr>
          <a:xfrm>
            <a:off x="170204" y="1055371"/>
            <a:ext cx="8887450" cy="1266746"/>
          </a:xfrm>
          <a:prstGeom prst="rect">
            <a:avLst/>
          </a:prstGeom>
          <a:blipFill rotWithShape="1">
            <a:blip r:embed="rId4">
              <a:alphaModFix/>
            </a:blip>
            <a:stretch>
              <a:fillRect b="-5766" l="-751" r="0" t="-240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808" name="Google Shape;808;p94"/>
          <p:cNvPicPr preferRelativeResize="0"/>
          <p:nvPr/>
        </p:nvPicPr>
        <p:blipFill rotWithShape="1">
          <a:blip r:embed="rId5">
            <a:alphaModFix/>
          </a:blip>
          <a:srcRect b="0" l="0" r="0" t="0"/>
          <a:stretch/>
        </p:blipFill>
        <p:spPr>
          <a:xfrm>
            <a:off x="267776" y="3078696"/>
            <a:ext cx="4975743" cy="162997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2" name="Shape 812"/>
        <p:cNvGrpSpPr/>
        <p:nvPr/>
      </p:nvGrpSpPr>
      <p:grpSpPr>
        <a:xfrm>
          <a:off x="0" y="0"/>
          <a:ext cx="0" cy="0"/>
          <a:chOff x="0" y="0"/>
          <a:chExt cx="0" cy="0"/>
        </a:xfrm>
      </p:grpSpPr>
      <p:sp>
        <p:nvSpPr>
          <p:cNvPr id="813" name="Google Shape;813;p95"/>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814" name="Google Shape;814;p95"/>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815" name="Google Shape;815;p95"/>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816" name="Google Shape;816;p95"/>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17" name="Google Shape;817;p95"/>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818" name="Google Shape;818;p95"/>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819" name="Google Shape;819;p95"/>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Example 3 (Solution)</a:t>
            </a:r>
            <a:endParaRPr/>
          </a:p>
        </p:txBody>
      </p:sp>
      <p:sp>
        <p:nvSpPr>
          <p:cNvPr id="820" name="Google Shape;820;p95"/>
          <p:cNvSpPr txBox="1"/>
          <p:nvPr/>
        </p:nvSpPr>
        <p:spPr>
          <a:xfrm>
            <a:off x="252413" y="943686"/>
            <a:ext cx="4867275" cy="3160481"/>
          </a:xfrm>
          <a:prstGeom prst="rect">
            <a:avLst/>
          </a:prstGeom>
          <a:blipFill rotWithShape="1">
            <a:blip r:embed="rId4">
              <a:alphaModFix/>
            </a:blip>
            <a:stretch>
              <a:fillRect b="0" l="-998" r="0" t="-11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821" name="Google Shape;821;p95"/>
          <p:cNvPicPr preferRelativeResize="0"/>
          <p:nvPr/>
        </p:nvPicPr>
        <p:blipFill rotWithShape="1">
          <a:blip r:embed="rId5">
            <a:alphaModFix/>
          </a:blip>
          <a:srcRect b="0" l="0" r="0" t="0"/>
          <a:stretch/>
        </p:blipFill>
        <p:spPr>
          <a:xfrm>
            <a:off x="3455581" y="996996"/>
            <a:ext cx="3549797" cy="1496283"/>
          </a:xfrm>
          <a:prstGeom prst="rect">
            <a:avLst/>
          </a:prstGeom>
          <a:noFill/>
          <a:ln>
            <a:noFill/>
          </a:ln>
        </p:spPr>
      </p:pic>
      <p:sp>
        <p:nvSpPr>
          <p:cNvPr id="822" name="Google Shape;822;p95"/>
          <p:cNvSpPr txBox="1"/>
          <p:nvPr/>
        </p:nvSpPr>
        <p:spPr>
          <a:xfrm>
            <a:off x="4329157" y="3379780"/>
            <a:ext cx="3719513" cy="708592"/>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96"/>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828" name="Google Shape;828;p96"/>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829" name="Google Shape;829;p96"/>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830" name="Google Shape;830;p96"/>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31" name="Google Shape;831;p96"/>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832" name="Google Shape;832;p96"/>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833" name="Google Shape;833;p96"/>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Practice Problem</a:t>
            </a:r>
            <a:endParaRPr/>
          </a:p>
        </p:txBody>
      </p:sp>
      <p:sp>
        <p:nvSpPr>
          <p:cNvPr id="834" name="Google Shape;834;p96"/>
          <p:cNvSpPr txBox="1"/>
          <p:nvPr/>
        </p:nvSpPr>
        <p:spPr>
          <a:xfrm>
            <a:off x="2115635" y="4373520"/>
            <a:ext cx="1320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mbria"/>
                <a:ea typeface="Cambria"/>
                <a:cs typeface="Cambria"/>
                <a:sym typeface="Cambria"/>
              </a:rPr>
              <a:t>I</a:t>
            </a:r>
            <a:endParaRPr b="0" i="0" sz="2400" u="none" cap="none" strike="noStrike">
              <a:solidFill>
                <a:schemeClr val="lt1"/>
              </a:solidFill>
              <a:latin typeface="Cambria"/>
              <a:ea typeface="Cambria"/>
              <a:cs typeface="Cambria"/>
              <a:sym typeface="Cambria"/>
            </a:endParaRPr>
          </a:p>
        </p:txBody>
      </p:sp>
      <p:pic>
        <p:nvPicPr>
          <p:cNvPr id="835" name="Google Shape;835;p96"/>
          <p:cNvPicPr preferRelativeResize="0"/>
          <p:nvPr/>
        </p:nvPicPr>
        <p:blipFill rotWithShape="1">
          <a:blip r:embed="rId4">
            <a:alphaModFix/>
          </a:blip>
          <a:srcRect b="0" l="0" r="0" t="0"/>
          <a:stretch/>
        </p:blipFill>
        <p:spPr>
          <a:xfrm>
            <a:off x="2819445" y="2028991"/>
            <a:ext cx="2203374" cy="2493993"/>
          </a:xfrm>
          <a:prstGeom prst="rect">
            <a:avLst/>
          </a:prstGeom>
          <a:noFill/>
          <a:ln>
            <a:noFill/>
          </a:ln>
        </p:spPr>
      </p:pic>
      <p:sp>
        <p:nvSpPr>
          <p:cNvPr id="836" name="Google Shape;836;p96"/>
          <p:cNvSpPr txBox="1"/>
          <p:nvPr/>
        </p:nvSpPr>
        <p:spPr>
          <a:xfrm>
            <a:off x="188205" y="1205435"/>
            <a:ext cx="7322710" cy="707886"/>
          </a:xfrm>
          <a:prstGeom prst="rect">
            <a:avLst/>
          </a:prstGeom>
          <a:blipFill rotWithShape="1">
            <a:blip r:embed="rId5">
              <a:alphaModFix/>
            </a:blip>
            <a:stretch>
              <a:fillRect b="-14650" l="-913" r="0" t="-51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3"/>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u="none" cap="none" strike="noStrike">
                <a:solidFill>
                  <a:srgbClr val="FFFFFF"/>
                </a:solidFill>
                <a:latin typeface="Calibri"/>
                <a:ea typeface="Calibri"/>
                <a:cs typeface="Calibri"/>
                <a:sym typeface="Calibri"/>
              </a:rPr>
              <a:t>‹#›</a:t>
            </a:fld>
            <a:endParaRPr b="1" i="0" u="none" cap="none" strike="noStrike">
              <a:solidFill>
                <a:srgbClr val="FFFFFF"/>
              </a:solidFill>
              <a:latin typeface="Calibri"/>
              <a:ea typeface="Calibri"/>
              <a:cs typeface="Calibri"/>
              <a:sym typeface="Calibri"/>
            </a:endParaRPr>
          </a:p>
        </p:txBody>
      </p:sp>
      <p:sp>
        <p:nvSpPr>
          <p:cNvPr id="842" name="Google Shape;842;p3"/>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843" name="Google Shape;843;p3"/>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844" name="Google Shape;844;p3"/>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45" name="Google Shape;845;p3"/>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846" name="Google Shape;846;p3"/>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847" name="Google Shape;847;p3"/>
          <p:cNvSpPr txBox="1"/>
          <p:nvPr>
            <p:ph type="ctrTitle"/>
          </p:nvPr>
        </p:nvSpPr>
        <p:spPr>
          <a:xfrm>
            <a:off x="81938" y="255587"/>
            <a:ext cx="8796248" cy="637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8161B"/>
              </a:buClr>
              <a:buSzPts val="4000"/>
              <a:buNone/>
            </a:pPr>
            <a:r>
              <a:rPr b="0" lang="en-US" sz="3500">
                <a:solidFill>
                  <a:srgbClr val="548135"/>
                </a:solidFill>
                <a:latin typeface="Comic Sans MS"/>
                <a:ea typeface="Comic Sans MS"/>
                <a:cs typeface="Comic Sans MS"/>
                <a:sym typeface="Comic Sans MS"/>
              </a:rPr>
              <a:t>Line diagrams: Practice Problem</a:t>
            </a:r>
            <a:endParaRPr/>
          </a:p>
        </p:txBody>
      </p:sp>
      <p:sp>
        <p:nvSpPr>
          <p:cNvPr id="848" name="Google Shape;848;p3"/>
          <p:cNvSpPr txBox="1"/>
          <p:nvPr/>
        </p:nvSpPr>
        <p:spPr>
          <a:xfrm>
            <a:off x="2115635" y="4373520"/>
            <a:ext cx="1320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mbria"/>
                <a:ea typeface="Cambria"/>
                <a:cs typeface="Cambria"/>
                <a:sym typeface="Cambria"/>
              </a:rPr>
              <a:t>I</a:t>
            </a:r>
            <a:endParaRPr b="0" i="0" sz="2400" u="none" cap="none" strike="noStrike">
              <a:solidFill>
                <a:schemeClr val="lt1"/>
              </a:solidFill>
              <a:latin typeface="Cambria"/>
              <a:ea typeface="Cambria"/>
              <a:cs typeface="Cambria"/>
              <a:sym typeface="Cambria"/>
            </a:endParaRPr>
          </a:p>
        </p:txBody>
      </p:sp>
      <p:sp>
        <p:nvSpPr>
          <p:cNvPr id="849" name="Google Shape;849;p3"/>
          <p:cNvSpPr txBox="1"/>
          <p:nvPr/>
        </p:nvSpPr>
        <p:spPr>
          <a:xfrm>
            <a:off x="293165" y="1242467"/>
            <a:ext cx="836201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For more problems, please refer to the given link:  </a:t>
            </a:r>
            <a:r>
              <a:rPr b="0" i="0" lang="en-US" sz="18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Test Your Understanding</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97"/>
          <p:cNvSpPr txBox="1"/>
          <p:nvPr>
            <p:ph idx="10" type="dt"/>
          </p:nvPr>
        </p:nvSpPr>
        <p:spPr>
          <a:xfrm>
            <a:off x="628650" y="4836713"/>
            <a:ext cx="2057400"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10/10/2023</a:t>
            </a:r>
            <a:endParaRPr b="0" i="0" sz="1500" u="none" cap="none" strike="noStrike">
              <a:solidFill>
                <a:srgbClr val="FFFFFF"/>
              </a:solidFill>
            </a:endParaRPr>
          </a:p>
        </p:txBody>
      </p:sp>
      <p:sp>
        <p:nvSpPr>
          <p:cNvPr id="855" name="Google Shape;855;p97"/>
          <p:cNvSpPr txBox="1"/>
          <p:nvPr>
            <p:ph idx="12" type="sldNum"/>
          </p:nvPr>
        </p:nvSpPr>
        <p:spPr>
          <a:xfrm>
            <a:off x="8626860" y="4836710"/>
            <a:ext cx="501650" cy="27463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600"/>
              <a:buFont typeface="Calibri"/>
              <a:buNone/>
            </a:pPr>
            <a:fld id="{00000000-1234-1234-1234-123412341234}" type="slidenum">
              <a:rPr b="1" i="0" lang="en-US" sz="1600" u="none" cap="none" strike="noStrike">
                <a:solidFill>
                  <a:srgbClr val="FFFFFF"/>
                </a:solidFill>
                <a:latin typeface="Calibri"/>
                <a:ea typeface="Calibri"/>
                <a:cs typeface="Calibri"/>
                <a:sym typeface="Calibri"/>
              </a:rPr>
              <a:t>‹#›</a:t>
            </a:fld>
            <a:endParaRPr b="1" i="0" sz="1600" u="none" cap="none" strike="noStrike">
              <a:solidFill>
                <a:srgbClr val="FFFFFF"/>
              </a:solidFill>
              <a:latin typeface="Calibri"/>
              <a:ea typeface="Calibri"/>
              <a:cs typeface="Calibri"/>
              <a:sym typeface="Calibri"/>
            </a:endParaRPr>
          </a:p>
        </p:txBody>
      </p:sp>
      <p:sp>
        <p:nvSpPr>
          <p:cNvPr id="856" name="Google Shape;856;p97"/>
          <p:cNvSpPr txBox="1"/>
          <p:nvPr>
            <p:ph idx="11" type="ftr"/>
          </p:nvPr>
        </p:nvSpPr>
        <p:spPr>
          <a:xfrm>
            <a:off x="3064540" y="4836709"/>
            <a:ext cx="1958279" cy="274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rPr>
              <a:t>[PDS] Purbayan Das</a:t>
            </a:r>
            <a:endParaRPr/>
          </a:p>
        </p:txBody>
      </p:sp>
      <p:pic>
        <p:nvPicPr>
          <p:cNvPr id="857" name="Google Shape;857;p97"/>
          <p:cNvPicPr preferRelativeResize="0"/>
          <p:nvPr/>
        </p:nvPicPr>
        <p:blipFill rotWithShape="1">
          <a:blip r:embed="rId3">
            <a:alphaModFix/>
          </a:blip>
          <a:srcRect b="0" l="0" r="0" t="0"/>
          <a:stretch/>
        </p:blipFill>
        <p:spPr>
          <a:xfrm>
            <a:off x="8655185" y="4338352"/>
            <a:ext cx="402469" cy="369265"/>
          </a:xfrm>
          <a:prstGeom prst="rect">
            <a:avLst/>
          </a:prstGeom>
          <a:noFill/>
          <a:ln>
            <a:noFill/>
          </a:ln>
        </p:spPr>
      </p:pic>
      <p:sp>
        <p:nvSpPr>
          <p:cNvPr id="858" name="Google Shape;858;p97"/>
          <p:cNvSpPr/>
          <p:nvPr/>
        </p:nvSpPr>
        <p:spPr>
          <a:xfrm>
            <a:off x="0" y="4821743"/>
            <a:ext cx="9144000" cy="320317"/>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59" name="Google Shape;859;p97"/>
          <p:cNvSpPr txBox="1"/>
          <p:nvPr/>
        </p:nvSpPr>
        <p:spPr>
          <a:xfrm>
            <a:off x="8626860" y="4836710"/>
            <a:ext cx="501650" cy="27463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1" i="0" lang="en-US" sz="1300" u="none" cap="none" strike="noStrike">
                <a:solidFill>
                  <a:srgbClr val="FFFFFF"/>
                </a:solidFill>
                <a:latin typeface="Comic Sans MS"/>
                <a:ea typeface="Comic Sans MS"/>
                <a:cs typeface="Comic Sans MS"/>
                <a:sym typeface="Comic Sans MS"/>
              </a:rPr>
              <a:t>‹#›</a:t>
            </a:fld>
            <a:endParaRPr b="1" i="0" sz="1300" u="none" cap="none" strike="noStrike">
              <a:solidFill>
                <a:srgbClr val="FFFFFF"/>
              </a:solidFill>
              <a:latin typeface="Comic Sans MS"/>
              <a:ea typeface="Comic Sans MS"/>
              <a:cs typeface="Comic Sans MS"/>
              <a:sym typeface="Comic Sans MS"/>
            </a:endParaRPr>
          </a:p>
        </p:txBody>
      </p:sp>
      <p:sp>
        <p:nvSpPr>
          <p:cNvPr id="860" name="Google Shape;860;p97"/>
          <p:cNvSpPr txBox="1"/>
          <p:nvPr/>
        </p:nvSpPr>
        <p:spPr>
          <a:xfrm>
            <a:off x="2686051" y="4820139"/>
            <a:ext cx="3615266"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small" strike="noStrike">
                <a:solidFill>
                  <a:srgbClr val="FFFFFF"/>
                </a:solidFill>
                <a:latin typeface="Comic Sans MS"/>
                <a:ea typeface="Comic Sans MS"/>
                <a:cs typeface="Comic Sans MS"/>
                <a:sym typeface="Comic Sans MS"/>
              </a:rPr>
              <a:t>CSE251 – Electronic Devices and Circuits</a:t>
            </a:r>
            <a:endParaRPr b="0" i="0" sz="1200" u="none" cap="none" strike="noStrike">
              <a:solidFill>
                <a:srgbClr val="000000"/>
              </a:solidFill>
              <a:latin typeface="Arial"/>
              <a:ea typeface="Arial"/>
              <a:cs typeface="Arial"/>
              <a:sym typeface="Arial"/>
            </a:endParaRPr>
          </a:p>
        </p:txBody>
      </p:sp>
      <p:sp>
        <p:nvSpPr>
          <p:cNvPr id="861" name="Google Shape;861;p97"/>
          <p:cNvSpPr/>
          <p:nvPr/>
        </p:nvSpPr>
        <p:spPr>
          <a:xfrm>
            <a:off x="3224531" y="271145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62" name="Google Shape;862;p97"/>
          <p:cNvSpPr/>
          <p:nvPr/>
        </p:nvSpPr>
        <p:spPr>
          <a:xfrm>
            <a:off x="7239319" y="2755900"/>
            <a:ext cx="45719" cy="1079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63" name="Google Shape;863;p97"/>
          <p:cNvSpPr txBox="1"/>
          <p:nvPr/>
        </p:nvSpPr>
        <p:spPr>
          <a:xfrm>
            <a:off x="1250731" y="1925419"/>
            <a:ext cx="664253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accent6"/>
                </a:solidFill>
                <a:latin typeface="Comic Sans MS"/>
                <a:ea typeface="Comic Sans MS"/>
                <a:cs typeface="Comic Sans MS"/>
                <a:sym typeface="Comic Sans MS"/>
              </a:rPr>
              <a:t>Thank you for your attention</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ontent Slide 4">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2017-05-23T17:12:40Z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0x0101002ACB519D023003448E9617098D86EDC5</vt:lpwstr>
  </property>
</Properties>
</file>